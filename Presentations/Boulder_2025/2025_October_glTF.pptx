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79" r:id="rId5"/>
    <p:sldId id="432" r:id="rId6"/>
    <p:sldId id="464" r:id="rId7"/>
    <p:sldId id="466" r:id="rId8"/>
    <p:sldId id="467" r:id="rId9"/>
    <p:sldId id="462" r:id="rId10"/>
    <p:sldId id="348" r:id="rId11"/>
  </p:sldIdLst>
  <p:sldSz cx="18288000" cy="10287000"/>
  <p:notesSz cx="6858000" cy="9144000"/>
  <p:embeddedFontLst>
    <p:embeddedFont>
      <p:font typeface="Aptos SemiBold" panose="020B000402020202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/>
            <a:t>Khronos </a:t>
          </a:r>
          <a:r>
            <a:rPr lang="en-US" dirty="0" err="1"/>
            <a:t>glTF</a:t>
          </a:r>
          <a:r>
            <a:rPr lang="en-US" dirty="0"/>
            <a:t> lives in its own space.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links the space to the planet.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That’s the extension.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Khronos </a:t>
          </a:r>
          <a:r>
            <a:rPr lang="en-US" sz="4800" kern="1200" dirty="0" err="1"/>
            <a:t>glTF</a:t>
          </a:r>
          <a:r>
            <a:rPr lang="en-US" sz="4800" kern="1200" dirty="0"/>
            <a:t> lives in its own space.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 err="1"/>
            <a:t>GeoPose</a:t>
          </a:r>
          <a:r>
            <a:rPr lang="en-US" sz="4800" kern="1200" dirty="0"/>
            <a:t> links the space to the planet.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5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That’s the extension.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ucfsjmg@ucl.ac.u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geospatial/GeoPose/blob/Version-1.x-editors-/glTF%20Extensions/OGC_bog/OGC_bog_example.json" TargetMode="External"/><Relationship Id="rId2" Type="http://schemas.openxmlformats.org/officeDocument/2006/relationships/hyperlink" Target="https://github.com/opengeospatial/GeoPose/blob/Version-1.x-editors-/glTF%20Extensions/OGC_bog/OGC_bog_schema.jso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Steve Smyth</a:t>
            </a:r>
            <a:br>
              <a:rPr lang="en-US" dirty="0"/>
            </a:br>
            <a:r>
              <a:rPr lang="en-US" dirty="0" err="1"/>
              <a:t>CityGML</a:t>
            </a:r>
            <a:r>
              <a:rPr lang="en-US" dirty="0"/>
              <a:t> SWG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/>
              <a:t>A Khronos </a:t>
            </a:r>
            <a:r>
              <a:rPr lang="en-US" sz="5400" dirty="0" err="1"/>
              <a:t>glTF</a:t>
            </a:r>
            <a:r>
              <a:rPr lang="en-US" sz="5400" dirty="0"/>
              <a:t> 2 Extension:</a:t>
            </a:r>
          </a:p>
          <a:p>
            <a:pPr algn="ctr"/>
            <a:r>
              <a:rPr lang="en-US" sz="5400" i="1" dirty="0"/>
              <a:t>(Geo)Locate, Orient, Bound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74638"/>
            <a:ext cx="15011400" cy="1143000"/>
          </a:xfrm>
        </p:spPr>
        <p:txBody>
          <a:bodyPr anchor="ctr">
            <a:normAutofit fontScale="90000"/>
          </a:bodyPr>
          <a:lstStyle/>
          <a:p>
            <a:r>
              <a:rPr lang="en-US" sz="6900" dirty="0"/>
              <a:t>Extension to Locate, Orient, and Bound </a:t>
            </a:r>
            <a:r>
              <a:rPr lang="en-US" sz="6900" dirty="0" err="1"/>
              <a:t>glTF</a:t>
            </a:r>
            <a:endParaRPr lang="en-US" sz="6900" dirty="0"/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7494196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471A-E937-050A-D7BA-AE55834D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39E65A-3D6E-2EE5-CD8B-462BBEDA0CB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Description</a:t>
            </a:r>
          </a:p>
          <a:p>
            <a:pPr marL="857250" lvl="2" indent="0">
              <a:buNone/>
            </a:pPr>
            <a:r>
              <a:rPr lang="en-US" sz="2600" dirty="0">
                <a:latin typeface="+mn-lt"/>
              </a:rPr>
              <a:t>An Extension to Support </a:t>
            </a:r>
            <a:r>
              <a:rPr lang="en-US" sz="2600" dirty="0" err="1">
                <a:latin typeface="+mn-lt"/>
              </a:rPr>
              <a:t>GeoSpatial</a:t>
            </a:r>
            <a:r>
              <a:rPr lang="en-US" sz="2600" dirty="0">
                <a:latin typeface="+mn-lt"/>
              </a:rPr>
              <a:t> Content in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Contributors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Christine Perey, PEREY Research &amp; Consulting, cperey@perey.com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Steve Smyth, co-Chair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SWG, steve@opensiteplan.org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Jeremy Morley, University College London, </a:t>
            </a:r>
            <a:r>
              <a:rPr lang="en-US" dirty="0">
                <a:latin typeface="+mn-lt"/>
                <a:hlinkClick r:id="rId2"/>
              </a:rPr>
              <a:t>ucfsjmg@ucl.ac.uk</a:t>
            </a:r>
            <a:endParaRPr lang="en-US" dirty="0">
              <a:latin typeface="+mn-lt"/>
            </a:endParaRP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Josh Lieberman, Tumbling Walls, </a:t>
            </a:r>
            <a:r>
              <a:rPr lang="de-DE" dirty="0">
                <a:latin typeface="+mn-lt"/>
              </a:rPr>
              <a:t>jlieberman@tumblingwalls.com&gt;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Status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</a:t>
            </a:r>
            <a:r>
              <a:rPr lang="en-US" dirty="0" err="1">
                <a:latin typeface="+mn-lt"/>
              </a:rPr>
              <a:t>Khonos</a:t>
            </a:r>
            <a:r>
              <a:rPr lang="en-US" dirty="0">
                <a:latin typeface="+mn-lt"/>
              </a:rPr>
              <a:t> “Idea” = Draft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Dependencies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Written against the Khronos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2.0 specification and the Open Geospatial Consortium (OGC)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1.0 standard.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A0D718-B565-48E1-700A-EFBBBE487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7424920" cy="916056"/>
          </a:xfrm>
        </p:spPr>
        <p:txBody>
          <a:bodyPr/>
          <a:lstStyle/>
          <a:p>
            <a:r>
              <a:rPr lang="en-US" dirty="0"/>
              <a:t>Khronos </a:t>
            </a:r>
            <a:r>
              <a:rPr lang="en-US" dirty="0" err="1"/>
              <a:t>glTF</a:t>
            </a:r>
            <a:r>
              <a:rPr lang="en-US" dirty="0"/>
              <a:t> 2 Extension Proposal from OGC: </a:t>
            </a:r>
            <a:r>
              <a:rPr lang="en-US" u="sng" dirty="0" err="1"/>
              <a:t>EXT_geolocate_orient_bound</a:t>
            </a:r>
            <a:endParaRPr lang="en-US" u="sng" dirty="0"/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42E0C97C-0FB5-46F5-D229-E61E057ABF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848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B7F5-920F-A212-2E98-F5BC6C4FE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0D3BB2-4DAA-832A-A367-F92F750B8ED9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Summary</a:t>
            </a: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proposed extension geolocates, orients, and bounds a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Scene in space and time.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Geolocates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links the "floating" 3D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 to a position in geographically located three-dimensional space. The extension also identifies the proper time, measured by a clock at the origin, and well-defined even with very high velocities between unaccelerated reference frames.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Orients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provides the 3D rotational relationship between that 3D Cartesian coordinate system and coordinates in an East(X), North(Y), Up(Z) plane tangent to the earth at the origin, using a JSON-encoded Basic-YPR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v1.0.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Bounds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specifies spatial bounds as a maximum distance in meters from the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system. This defines the valid extent of a model. It may represent a real-world property such as a cell-tower service radius or a collision volume.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3F7C1B-30EE-38A5-02DD-4901964B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56CFFF68-57F5-DAFB-C6CE-0051D90FE0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97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AE736-967C-11A0-840C-C53433F4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B642D0-2BD3-465A-44E5-EF220CECB0A8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+mn-lt"/>
              </a:rPr>
              <a:t>Use cases</a:t>
            </a:r>
            <a:endParaRPr lang="en-US" sz="2800" dirty="0">
              <a:latin typeface="+mn-lt"/>
            </a:endParaRPr>
          </a:p>
          <a:p>
            <a:pPr lvl="2"/>
            <a:r>
              <a:rPr lang="en-US" sz="2600" dirty="0">
                <a:latin typeface="+mn-lt"/>
              </a:rPr>
              <a:t>Publication of </a:t>
            </a:r>
            <a:r>
              <a:rPr lang="en-US" sz="2600" dirty="0" err="1">
                <a:latin typeface="+mn-lt"/>
              </a:rPr>
              <a:t>CityGML</a:t>
            </a:r>
            <a:r>
              <a:rPr lang="en-US" sz="2600" dirty="0">
                <a:latin typeface="+mn-lt"/>
              </a:rPr>
              <a:t> models in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2.</a:t>
            </a:r>
          </a:p>
          <a:p>
            <a:pPr lvl="2"/>
            <a:r>
              <a:rPr lang="en-US" sz="2600" dirty="0">
                <a:latin typeface="+mn-lt"/>
              </a:rPr>
              <a:t>Preloading of visual perception systems.</a:t>
            </a:r>
          </a:p>
          <a:p>
            <a:pPr lvl="2"/>
            <a:r>
              <a:rPr lang="en-US" sz="2600" dirty="0">
                <a:latin typeface="+mn-lt"/>
              </a:rPr>
              <a:t>Exchange of visual perception fragments from vehicle mounted mobile </a:t>
            </a:r>
            <a:r>
              <a:rPr lang="en-US" sz="2600" dirty="0" err="1">
                <a:latin typeface="+mn-lt"/>
              </a:rPr>
              <a:t>platfforms</a:t>
            </a:r>
            <a:r>
              <a:rPr lang="en-US" sz="2600" dirty="0">
                <a:latin typeface="+mn-lt"/>
              </a:rPr>
              <a:t>.</a:t>
            </a:r>
          </a:p>
          <a:p>
            <a:pPr lvl="2"/>
            <a:r>
              <a:rPr lang="en-US" sz="2600" dirty="0">
                <a:latin typeface="+mn-lt"/>
              </a:rPr>
              <a:t>Archive of geolocated surveillance video, including video with </a:t>
            </a:r>
            <a:r>
              <a:rPr lang="en-US" sz="2600" dirty="0" err="1">
                <a:latin typeface="+mn-lt"/>
              </a:rPr>
              <a:t>WebVMT</a:t>
            </a:r>
            <a:r>
              <a:rPr lang="en-US" sz="2600" dirty="0">
                <a:latin typeface="+mn-lt"/>
              </a:rPr>
              <a:t> tracks.</a:t>
            </a:r>
          </a:p>
          <a:p>
            <a:pPr marL="0" indent="0">
              <a:buNone/>
            </a:pPr>
            <a:r>
              <a:rPr lang="en-US" sz="2800" b="1" dirty="0" err="1">
                <a:latin typeface="+mn-lt"/>
              </a:rPr>
              <a:t>glTF</a:t>
            </a:r>
            <a:r>
              <a:rPr lang="en-US" sz="2800" b="1" dirty="0">
                <a:latin typeface="+mn-lt"/>
              </a:rPr>
              <a:t> Schema Updates</a:t>
            </a:r>
            <a:endParaRPr lang="en-US" sz="2800" dirty="0">
              <a:latin typeface="+mn-lt"/>
            </a:endParaRPr>
          </a:p>
          <a:p>
            <a:pPr marL="857250" lvl="2" indent="0">
              <a:buNone/>
            </a:pPr>
            <a:r>
              <a:rPr lang="en-US" sz="2600" dirty="0" err="1">
                <a:latin typeface="+mn-lt"/>
              </a:rPr>
              <a:t>EXT_geolocate_orient_bound</a:t>
            </a:r>
            <a:r>
              <a:rPr lang="en-US" sz="2600" dirty="0">
                <a:latin typeface="+mn-lt"/>
              </a:rPr>
              <a:t> is implemented as a JSON object carrying the bounds, orientation, and geolocation parameters of a </a:t>
            </a:r>
            <a:r>
              <a:rPr lang="en-US" sz="2600" dirty="0" err="1">
                <a:latin typeface="+mn-lt"/>
              </a:rPr>
              <a:t>scenegraph</a:t>
            </a:r>
            <a:r>
              <a:rPr lang="en-US" sz="2600" dirty="0">
                <a:latin typeface="+mn-lt"/>
              </a:rPr>
              <a:t>. It becomes an additional property of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 object. If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model contains multiple Scenes, it may contain multiple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properties. A Scene shall </a:t>
            </a:r>
            <a:r>
              <a:rPr lang="en-US" sz="2600" b="1" dirty="0">
                <a:latin typeface="+mn-lt"/>
              </a:rPr>
              <a:t>**not**</a:t>
            </a:r>
            <a:r>
              <a:rPr lang="en-US" sz="2600" dirty="0">
                <a:latin typeface="+mn-lt"/>
              </a:rPr>
              <a:t> have more than one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property.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u="sng" dirty="0">
                <a:latin typeface="+mn-lt"/>
                <a:hlinkClick r:id="rId2"/>
              </a:rPr>
              <a:t>	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Known Implementations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</a:t>
            </a:r>
            <a:r>
              <a:rPr lang="en-US" sz="2800" dirty="0" err="1">
                <a:latin typeface="+mn-lt"/>
              </a:rPr>
              <a:t>GeoPoseIt</a:t>
            </a:r>
            <a:r>
              <a:rPr lang="en-US" sz="2800" dirty="0">
                <a:latin typeface="+mn-lt"/>
              </a:rPr>
              <a:t> service under development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	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example </a:t>
            </a:r>
            <a:r>
              <a:rPr lang="en-US" dirty="0">
                <a:latin typeface="+mn-lt"/>
                <a:hlinkClick r:id="rId3"/>
              </a:rPr>
              <a:t>here.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&lt;</a:t>
            </a:r>
            <a:r>
              <a:rPr lang="en-US" dirty="0" err="1">
                <a:latin typeface="+mn-lt"/>
              </a:rPr>
              <a:t>img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src</a:t>
            </a:r>
            <a:r>
              <a:rPr lang="en-US" dirty="0">
                <a:latin typeface="+mn-lt"/>
              </a:rPr>
              <a:t>="2025-10-02-224001.png" alt="</a:t>
            </a:r>
            <a:r>
              <a:rPr lang="en-US" dirty="0" err="1">
                <a:latin typeface="+mn-lt"/>
              </a:rPr>
              <a:t>hfb</a:t>
            </a:r>
            <a:r>
              <a:rPr lang="en-US" dirty="0">
                <a:latin typeface="+mn-lt"/>
              </a:rPr>
              <a:t>" width="200"&gt;</a:t>
            </a: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1E3BB1-EC81-C967-3CC6-D4306701B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361ECD4B-E590-FDAF-CFC5-D517911451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1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r>
              <a:rPr lang="en-US" dirty="0"/>
              <a:t>Convert (“render”) hundreds of million </a:t>
            </a:r>
            <a:r>
              <a:rPr lang="en-US" dirty="0" err="1"/>
              <a:t>CityGML</a:t>
            </a:r>
            <a:r>
              <a:rPr lang="en-US" dirty="0"/>
              <a:t> buildings to </a:t>
            </a:r>
            <a:r>
              <a:rPr lang="en-US" dirty="0" err="1"/>
              <a:t>glTF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Immediately makes the individual buildings integrable into custom-made models.</a:t>
            </a:r>
          </a:p>
          <a:p>
            <a:pPr lvl="1"/>
            <a:r>
              <a:rPr lang="en-US" dirty="0"/>
              <a:t>Automated annotation of ML training imagery.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Questions/comments?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Thank you.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Cruss</a:t>
            </a:r>
            <a:r>
              <a:rPr lang="en-US" dirty="0"/>
              <a:t>-SWG Application of the Extension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9494</TotalTime>
  <Words>543</Words>
  <Application>Microsoft Office PowerPoint</Application>
  <PresentationFormat>Custom</PresentationFormat>
  <Paragraphs>56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 SemiBold</vt:lpstr>
      <vt:lpstr>Aptos Display</vt:lpstr>
      <vt:lpstr>Calibri</vt:lpstr>
      <vt:lpstr>Aptos</vt:lpstr>
      <vt:lpstr>Arial</vt:lpstr>
      <vt:lpstr>Office Theme</vt:lpstr>
      <vt:lpstr>Steve Smyth CityGML SWG 27 October 2025</vt:lpstr>
      <vt:lpstr>Extension to Locate, Orient, and Bound glTF</vt:lpstr>
      <vt:lpstr>Khronos glTF 2 Extension Proposal from OGC: EXT_geolocate_orient_bound</vt:lpstr>
      <vt:lpstr>Overview</vt:lpstr>
      <vt:lpstr>Details</vt:lpstr>
      <vt:lpstr>A Cruss-SWG Application of the Extension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62</cp:revision>
  <dcterms:created xsi:type="dcterms:W3CDTF">2025-04-29T18:14:43Z</dcterms:created>
  <dcterms:modified xsi:type="dcterms:W3CDTF">2025-10-28T03:53:40Z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