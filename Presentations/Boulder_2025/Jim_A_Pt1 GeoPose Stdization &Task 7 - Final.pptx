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8"/>
  </p:notesMasterIdLst>
  <p:handoutMasterIdLst>
    <p:handoutMasterId r:id="rId29"/>
  </p:handoutMasterIdLst>
  <p:sldIdLst>
    <p:sldId id="379" r:id="rId5"/>
    <p:sldId id="6584" r:id="rId6"/>
    <p:sldId id="6585" r:id="rId7"/>
    <p:sldId id="362" r:id="rId8"/>
    <p:sldId id="6577" r:id="rId9"/>
    <p:sldId id="6547" r:id="rId10"/>
    <p:sldId id="6622" r:id="rId11"/>
    <p:sldId id="6615" r:id="rId12"/>
    <p:sldId id="6554" r:id="rId13"/>
    <p:sldId id="6578" r:id="rId14"/>
    <p:sldId id="6565" r:id="rId15"/>
    <p:sldId id="6587" r:id="rId16"/>
    <p:sldId id="6617" r:id="rId17"/>
    <p:sldId id="6619" r:id="rId18"/>
    <p:sldId id="6618" r:id="rId19"/>
    <p:sldId id="6620" r:id="rId20"/>
    <p:sldId id="6621" r:id="rId21"/>
    <p:sldId id="6624" r:id="rId22"/>
    <p:sldId id="6616" r:id="rId23"/>
    <p:sldId id="6570" r:id="rId24"/>
    <p:sldId id="6583" r:id="rId25"/>
    <p:sldId id="348" r:id="rId26"/>
    <p:sldId id="273" r:id="rId27"/>
  </p:sldIdLst>
  <p:sldSz cx="18288000" cy="10287000"/>
  <p:notesSz cx="6858000" cy="9144000"/>
  <p:embeddedFontLst>
    <p:embeddedFont>
      <p:font typeface="Aptos SemiBold" panose="020B0004020202020204" pitchFamily="3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3D8A3E-2763-BBE8-2B15-E74F1DB7656D}" name="Simon Chester" initials="SC" userId="S::schester@ogc.org::fefb1974-f0e7-428b-b44e-2b26a8de5167" providerId="AD"/>
  <p188:author id="{0933B96F-A88B-F1B0-C2BF-5C1F50CDD902}" name="Deepti Kala" initials="DK" userId="2b002ef7cfccb82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63BD3"/>
    <a:srgbClr val="EDF786"/>
    <a:srgbClr val="ECF456"/>
    <a:srgbClr val="1A31A0"/>
    <a:srgbClr val="1A2584"/>
    <a:srgbClr val="191CB5"/>
    <a:srgbClr val="191C71"/>
    <a:srgbClr val="261AEA"/>
    <a:srgbClr val="CAD3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66" autoAdjust="0"/>
    <p:restoredTop sz="89149" autoAdjust="0"/>
  </p:normalViewPr>
  <p:slideViewPr>
    <p:cSldViewPr>
      <p:cViewPr varScale="1">
        <p:scale>
          <a:sx n="81" d="100"/>
          <a:sy n="81" d="100"/>
        </p:scale>
        <p:origin x="336"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p:cViewPr varScale="1">
        <p:scale>
          <a:sx n="93" d="100"/>
          <a:sy n="93" d="100"/>
        </p:scale>
        <p:origin x="3784"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50"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2EF98C-C3F1-EA29-7B47-8E3A0A8702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78AF560-0EC2-50D5-DE42-C7440E2430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28D1E4-4BBA-6F41-9D9B-7C498DFA1119}" type="datetimeFigureOut">
              <a:rPr lang="en-US" smtClean="0"/>
              <a:t>10/27/25</a:t>
            </a:fld>
            <a:endParaRPr lang="en-US"/>
          </a:p>
        </p:txBody>
      </p:sp>
      <p:sp>
        <p:nvSpPr>
          <p:cNvPr id="4" name="Footer Placeholder 3">
            <a:extLst>
              <a:ext uri="{FF2B5EF4-FFF2-40B4-BE49-F238E27FC236}">
                <a16:creationId xmlns:a16="http://schemas.microsoft.com/office/drawing/2014/main" id="{29B18C8C-72F6-C0BC-D6B9-F9F0ACDBDC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3F2DF8-0D80-D9E8-E1BF-F78D65111D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DD2C68-F934-1540-BB6F-D78EF71B2103}" type="slidenum">
              <a:rPr lang="en-US" smtClean="0"/>
              <a:t>‹#›</a:t>
            </a:fld>
            <a:endParaRPr lang="en-US"/>
          </a:p>
        </p:txBody>
      </p:sp>
    </p:spTree>
    <p:extLst>
      <p:ext uri="{BB962C8B-B14F-4D97-AF65-F5344CB8AC3E}">
        <p14:creationId xmlns:p14="http://schemas.microsoft.com/office/powerpoint/2010/main" val="12634946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1ABE01-8AD2-744F-9651-CCC9DC857332}" type="datetimeFigureOut">
              <a:rPr lang="en-US" smtClean="0"/>
              <a:t>10/27/25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3575CF-62AD-8041-932F-56D977C8CDA1}" type="slidenum">
              <a:rPr lang="en-US" smtClean="0"/>
              <a:t>‹#›</a:t>
            </a:fld>
            <a:endParaRPr lang="en-US"/>
          </a:p>
        </p:txBody>
      </p:sp>
    </p:spTree>
    <p:extLst>
      <p:ext uri="{BB962C8B-B14F-4D97-AF65-F5344CB8AC3E}">
        <p14:creationId xmlns:p14="http://schemas.microsoft.com/office/powerpoint/2010/main" val="3886400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r>
              <a:rPr lang="en-US" sz="2400" dirty="0"/>
              <a:t>This includes many and diverse applications, e.g., defense, disaster relief, support to first responders…</a:t>
            </a:r>
          </a:p>
          <a:p>
            <a:pPr lvl="2"/>
            <a:r>
              <a:rPr lang="en-US" sz="2400" dirty="0"/>
              <a:t>And requires many and diverse services, e.g., Mapping, Safety of Navigation, Positioning Navigation and Timing (PNT)…</a:t>
            </a:r>
          </a:p>
          <a:p>
            <a:endParaRPr lang="en-US" dirty="0"/>
          </a:p>
        </p:txBody>
      </p:sp>
      <p:sp>
        <p:nvSpPr>
          <p:cNvPr id="4" name="Slide Number Placeholder 3"/>
          <p:cNvSpPr>
            <a:spLocks noGrp="1"/>
          </p:cNvSpPr>
          <p:nvPr>
            <p:ph type="sldNum" sz="quarter" idx="5"/>
          </p:nvPr>
        </p:nvSpPr>
        <p:spPr/>
        <p:txBody>
          <a:bodyPr/>
          <a:lstStyle/>
          <a:p>
            <a:fld id="{9B3575CF-62AD-8041-932F-56D977C8CDA1}" type="slidenum">
              <a:rPr lang="en-US" smtClean="0"/>
              <a:t>2</a:t>
            </a:fld>
            <a:endParaRPr lang="en-US"/>
          </a:p>
        </p:txBody>
      </p:sp>
    </p:spTree>
    <p:extLst>
      <p:ext uri="{BB962C8B-B14F-4D97-AF65-F5344CB8AC3E}">
        <p14:creationId xmlns:p14="http://schemas.microsoft.com/office/powerpoint/2010/main" val="1364039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 of scope of this investigation, and perhaps of </a:t>
            </a:r>
            <a:r>
              <a:rPr lang="en-US" dirty="0" err="1"/>
              <a:t>GeoPose</a:t>
            </a:r>
            <a:r>
              <a:rPr lang="en-US" dirty="0"/>
              <a:t> standardization in general</a:t>
            </a:r>
          </a:p>
          <a:p>
            <a:endParaRPr lang="en-US" dirty="0"/>
          </a:p>
          <a:p>
            <a:pPr lvl="0"/>
            <a:r>
              <a:rPr lang="en-US" sz="1200" dirty="0"/>
              <a:t>Google: would data markups that indicate the probability bounds of an observation be considered data of metadata?</a:t>
            </a:r>
          </a:p>
          <a:p>
            <a:pPr lvl="0"/>
            <a:endParaRPr kumimoji="0" lang="en-US" altLang="en-US" sz="1200" b="0" i="0" u="none" strike="noStrike" cap="none" normalizeH="0" baseline="0" dirty="0">
              <a:ln>
                <a:noFill/>
              </a:ln>
              <a:solidFill>
                <a:srgbClr val="000000"/>
              </a:solidFill>
              <a:effectLst/>
              <a:latin typeface="Arial" panose="020B0604020202020204" pitchFamily="34" charset="0"/>
            </a:endParaRPr>
          </a:p>
          <a:p>
            <a:pPr lvl="0"/>
            <a:r>
              <a:rPr kumimoji="0" lang="en-US" altLang="en-US" sz="1200" b="0" i="0" u="none" strike="noStrike" cap="none" normalizeH="0" baseline="0" dirty="0">
                <a:ln>
                  <a:noFill/>
                </a:ln>
                <a:solidFill>
                  <a:srgbClr val="000000"/>
                </a:solidFill>
                <a:effectLst/>
                <a:latin typeface="Arial" panose="020B0604020202020204" pitchFamily="34" charset="0"/>
              </a:rPr>
              <a:t>Data markups that indicate the probability bounds of an observation would be considered </a:t>
            </a:r>
            <a:r>
              <a:rPr kumimoji="0" lang="en-US" altLang="en-US" sz="1200" b="1" i="0" u="none" strike="noStrike" cap="none" normalizeH="0" baseline="0" dirty="0">
                <a:ln>
                  <a:noFill/>
                </a:ln>
                <a:solidFill>
                  <a:srgbClr val="000000"/>
                </a:solidFill>
                <a:effectLst/>
                <a:latin typeface="Arial" panose="020B0604020202020204" pitchFamily="34" charset="0"/>
              </a:rPr>
              <a:t>metadata</a:t>
            </a:r>
            <a:r>
              <a:rPr kumimoji="0" lang="en-US" altLang="en-US" sz="1200" b="0" i="0" u="none" strike="noStrike" cap="none" normalizeH="0" baseline="0" dirty="0">
                <a:ln>
                  <a:noFill/>
                </a:ln>
                <a:solidFill>
                  <a:srgbClr val="000000"/>
                </a:solidFill>
                <a:effectLst/>
                <a:latin typeface="Arial" panose="020B0604020202020204" pitchFamily="34" charset="0"/>
              </a:rPr>
              <a:t>. While it is a type of data itself, its primary function is to describe and provide context for the core data it is associated with.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rPr>
              <a:t>Here is a breakdown of why probability bounds are classified as metadata: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rPr>
              <a:t>Function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0000"/>
                </a:solidFill>
                <a:effectLst/>
                <a:latin typeface="Arial" panose="020B0604020202020204" pitchFamily="34" charset="0"/>
              </a:rPr>
              <a:t>Data is content, metadata is context.</a:t>
            </a:r>
            <a:r>
              <a:rPr kumimoji="0" lang="en-US" altLang="en-US" sz="1200" b="0" i="0" u="none" strike="noStrike" cap="none" normalizeH="0" baseline="0" dirty="0">
                <a:ln>
                  <a:noFill/>
                </a:ln>
                <a:solidFill>
                  <a:srgbClr val="000000"/>
                </a:solidFill>
                <a:effectLst/>
                <a:latin typeface="Arial" panose="020B0604020202020204" pitchFamily="34" charset="0"/>
              </a:rPr>
              <a:t> The core "data" is the observed value itself, such as a sensor reading or a measured variable. The probability bounds are not the observation but rather a description of its reliability or uncertainty.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0000"/>
                </a:solidFill>
                <a:effectLst/>
                <a:latin typeface="Arial" panose="020B0604020202020204" pitchFamily="34" charset="0"/>
              </a:rPr>
              <a:t>It enables understanding.</a:t>
            </a:r>
            <a:r>
              <a:rPr kumimoji="0" lang="en-US" altLang="en-US" sz="1200" b="0" i="0" u="none" strike="noStrike" cap="none" normalizeH="0" baseline="0" dirty="0">
                <a:ln>
                  <a:noFill/>
                </a:ln>
                <a:solidFill>
                  <a:srgbClr val="000000"/>
                </a:solidFill>
                <a:effectLst/>
                <a:latin typeface="Arial" panose="020B0604020202020204" pitchFamily="34" charset="0"/>
              </a:rPr>
              <a:t> Metadata, like probability bounds, provides crucial information that helps users understand and interpret the primary data. Knowing the bounds helps a user determine the confidence level and potential error in the observation.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rPr>
              <a:t>Analogy: A book in a library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0000"/>
                </a:solidFill>
                <a:effectLst/>
                <a:latin typeface="Arial" panose="020B0604020202020204" pitchFamily="34" charset="0"/>
              </a:rPr>
              <a:t>The book is the data.</a:t>
            </a:r>
            <a:r>
              <a:rPr kumimoji="0" lang="en-US" altLang="en-US" sz="1200" b="0" i="0" u="none" strike="noStrike" cap="none" normalizeH="0" baseline="0" dirty="0">
                <a:ln>
                  <a:noFill/>
                </a:ln>
                <a:solidFill>
                  <a:srgbClr val="000000"/>
                </a:solidFill>
                <a:effectLst/>
                <a:latin typeface="Arial" panose="020B0604020202020204" pitchFamily="34" charset="0"/>
              </a:rPr>
              <a:t> The actual text, illustrations, and content inside the book are the primary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0000"/>
                </a:solidFill>
                <a:effectLst/>
                <a:latin typeface="Arial" panose="020B0604020202020204" pitchFamily="34" charset="0"/>
              </a:rPr>
              <a:t>The catalog card is the metadata.</a:t>
            </a:r>
            <a:r>
              <a:rPr kumimoji="0" lang="en-US" altLang="en-US" sz="1200" b="0" i="0" u="none" strike="noStrike" cap="none" normalizeH="0" baseline="0" dirty="0">
                <a:ln>
                  <a:noFill/>
                </a:ln>
                <a:solidFill>
                  <a:srgbClr val="000000"/>
                </a:solidFill>
                <a:effectLst/>
                <a:latin typeface="Arial" panose="020B0604020202020204" pitchFamily="34" charset="0"/>
              </a:rPr>
              <a:t> The card that describes the book's title, author, and genre is the metadata. It doesn't tell you the story, but it provides the information needed to find, understand, and use the book.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0000"/>
                </a:solidFill>
                <a:effectLst/>
                <a:latin typeface="Arial" panose="020B0604020202020204" pitchFamily="34" charset="0"/>
              </a:rPr>
              <a:t>Probability bounds are a note on the catalog card.</a:t>
            </a:r>
            <a:r>
              <a:rPr kumimoji="0" lang="en-US" altLang="en-US" sz="1200" b="0" i="0" u="none" strike="noStrike" cap="none" normalizeH="0" baseline="0" dirty="0">
                <a:ln>
                  <a:noFill/>
                </a:ln>
                <a:solidFill>
                  <a:srgbClr val="000000"/>
                </a:solidFill>
                <a:effectLst/>
                <a:latin typeface="Arial" panose="020B0604020202020204" pitchFamily="34" charset="0"/>
              </a:rPr>
              <a:t> A markup indicating the probability bounds would be like a note on the catalog card saying, "This book's facts are 95% certain." It describes the reliability of the core content without being the content itself.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rPr>
              <a:t>Example: A sensor reading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rPr>
              <a:t>Imagine a temperature sensor in a climate-controlled room that records a reading of 21∘C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0000"/>
                </a:solidFill>
                <a:effectLst/>
                <a:latin typeface="Arial" panose="020B0604020202020204" pitchFamily="34" charset="0"/>
              </a:rPr>
              <a:t>The data:</a:t>
            </a:r>
            <a:r>
              <a:rPr kumimoji="0" lang="en-US" altLang="en-US" sz="1200" b="0" i="0" u="none" strike="noStrike" cap="none" normalizeH="0" baseline="0" dirty="0">
                <a:ln>
                  <a:noFill/>
                </a:ln>
                <a:solidFill>
                  <a:srgbClr val="000000"/>
                </a:solidFill>
                <a:effectLst/>
                <a:latin typeface="Arial" panose="020B0604020202020204" pitchFamily="34" charset="0"/>
              </a:rPr>
              <a:t> The core observation is the value 21∘C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0000"/>
                </a:solidFill>
                <a:effectLst/>
                <a:latin typeface="Arial" panose="020B0604020202020204" pitchFamily="34" charset="0"/>
              </a:rPr>
              <a:t>The metadata:</a:t>
            </a:r>
            <a:r>
              <a:rPr kumimoji="0" lang="en-US" altLang="en-US" sz="1200" b="0" i="0" u="none" strike="noStrike" cap="none" normalizeH="0" baseline="0" dirty="0">
                <a:ln>
                  <a:noFill/>
                </a:ln>
                <a:solidFill>
                  <a:srgbClr val="000000"/>
                </a:solidFill>
                <a:effectLst/>
                <a:latin typeface="Arial" panose="020B0604020202020204" pitchFamily="34" charset="0"/>
              </a:rPr>
              <a:t> Markups indicate that, based on the sensor's calibration and recent performance, the observation is  21±0.5∘C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rPr>
              <a:t> with 99% probability. This range and probability are metadata. They describe the measurement itself, providing essential context for any analysis of the temperature data. </a:t>
            </a:r>
          </a:p>
          <a:p>
            <a:endParaRPr lang="en-US" dirty="0"/>
          </a:p>
        </p:txBody>
      </p:sp>
      <p:sp>
        <p:nvSpPr>
          <p:cNvPr id="4" name="Slide Number Placeholder 3"/>
          <p:cNvSpPr>
            <a:spLocks noGrp="1"/>
          </p:cNvSpPr>
          <p:nvPr>
            <p:ph type="sldNum" sz="quarter" idx="5"/>
          </p:nvPr>
        </p:nvSpPr>
        <p:spPr/>
        <p:txBody>
          <a:bodyPr/>
          <a:lstStyle/>
          <a:p>
            <a:fld id="{9B3575CF-62AD-8041-932F-56D977C8CDA1}" type="slidenum">
              <a:rPr lang="en-US" smtClean="0"/>
              <a:t>5</a:t>
            </a:fld>
            <a:endParaRPr lang="en-US"/>
          </a:p>
        </p:txBody>
      </p:sp>
    </p:spTree>
    <p:extLst>
      <p:ext uri="{BB962C8B-B14F-4D97-AF65-F5344CB8AC3E}">
        <p14:creationId xmlns:p14="http://schemas.microsoft.com/office/powerpoint/2010/main" val="1466575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825" b="1" dirty="0" err="1"/>
              <a:t>GeoPose</a:t>
            </a:r>
            <a:r>
              <a:rPr lang="en-US" sz="3825" b="1" dirty="0"/>
              <a:t> Entered as an Emerging Standard for NGA/NSG/ASG Community</a:t>
            </a:r>
          </a:p>
          <a:p>
            <a:r>
              <a:rPr lang="en-US" sz="3825" b="1" dirty="0"/>
              <a:t>But</a:t>
            </a:r>
          </a:p>
          <a:p>
            <a:pPr lvl="1"/>
            <a:r>
              <a:rPr lang="en-US" sz="3625" b="1" dirty="0" err="1"/>
              <a:t>GeoPose</a:t>
            </a:r>
            <a:r>
              <a:rPr lang="en-US" sz="3625" b="1" dirty="0"/>
              <a:t> does not include any way to express certainty/confidence of </a:t>
            </a:r>
            <a:r>
              <a:rPr lang="en-US" sz="3625" b="1" dirty="0" err="1"/>
              <a:t>geopose</a:t>
            </a:r>
            <a:r>
              <a:rPr lang="en-US" sz="3625" b="1" dirty="0"/>
              <a:t> attributes</a:t>
            </a:r>
          </a:p>
          <a:p>
            <a:pPr lvl="2"/>
            <a:r>
              <a:rPr lang="en-US" sz="3425" b="1" dirty="0" err="1"/>
              <a:t>Xyz</a:t>
            </a:r>
            <a:r>
              <a:rPr lang="en-US" sz="3425" b="1" dirty="0"/>
              <a:t> (</a:t>
            </a:r>
            <a:r>
              <a:rPr lang="en-US" sz="3425" b="1" dirty="0" err="1"/>
              <a:t>LatLonElev</a:t>
            </a:r>
            <a:r>
              <a:rPr lang="en-US" sz="3425" b="1" dirty="0"/>
              <a:t>)</a:t>
            </a:r>
          </a:p>
          <a:p>
            <a:pPr lvl="2"/>
            <a:r>
              <a:rPr lang="en-US" sz="3425" b="1" dirty="0" err="1"/>
              <a:t>ptr</a:t>
            </a:r>
            <a:endParaRPr lang="en-US" sz="3425" b="1" dirty="0"/>
          </a:p>
          <a:p>
            <a:pPr lvl="2"/>
            <a:r>
              <a:rPr lang="en-US" sz="3425" b="1" dirty="0"/>
              <a:t>T</a:t>
            </a:r>
          </a:p>
          <a:p>
            <a:r>
              <a:rPr lang="en-US" sz="3625" b="1" dirty="0"/>
              <a:t>(Note – there is currently an effort also, from an AI perspective, to lock down NGA’s ways of exchanging Uncertainty/Confidence measures associates with location, orientation, and timing in the new AI systems)</a:t>
            </a:r>
          </a:p>
          <a:p>
            <a:endParaRPr lang="en-US" dirty="0"/>
          </a:p>
        </p:txBody>
      </p:sp>
      <p:sp>
        <p:nvSpPr>
          <p:cNvPr id="4" name="Slide Number Placeholder 3"/>
          <p:cNvSpPr>
            <a:spLocks noGrp="1"/>
          </p:cNvSpPr>
          <p:nvPr>
            <p:ph type="sldNum" sz="quarter" idx="5"/>
          </p:nvPr>
        </p:nvSpPr>
        <p:spPr/>
        <p:txBody>
          <a:bodyPr/>
          <a:lstStyle/>
          <a:p>
            <a:fld id="{9B3575CF-62AD-8041-932F-56D977C8CDA1}" type="slidenum">
              <a:rPr lang="en-US" smtClean="0"/>
              <a:t>7</a:t>
            </a:fld>
            <a:endParaRPr lang="en-US"/>
          </a:p>
        </p:txBody>
      </p:sp>
    </p:spTree>
    <p:extLst>
      <p:ext uri="{BB962C8B-B14F-4D97-AF65-F5344CB8AC3E}">
        <p14:creationId xmlns:p14="http://schemas.microsoft.com/office/powerpoint/2010/main" val="2236480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eaLnBrk="0" fontAlgn="base" hangingPunct="0">
              <a:spcBef>
                <a:spcPct val="0"/>
              </a:spcBef>
              <a:spcAft>
                <a:spcPct val="0"/>
              </a:spcAft>
              <a:buNone/>
            </a:pPr>
            <a:r>
              <a:rPr lang="en-US" altLang="en-US" sz="2000" dirty="0">
                <a:solidFill>
                  <a:srgbClr val="0A0A0A"/>
                </a:solidFill>
                <a:latin typeface="Google Sans"/>
              </a:rPr>
              <a:t>David Marr's "three levels of analysis" offer a framework for understanding complex information-processing systems, such as the brain</a:t>
            </a:r>
          </a:p>
          <a:p>
            <a:pPr marL="0" lvl="0" indent="0" eaLnBrk="0" fontAlgn="base" hangingPunct="0">
              <a:spcBef>
                <a:spcPct val="0"/>
              </a:spcBef>
              <a:spcAft>
                <a:spcPct val="0"/>
              </a:spcAft>
              <a:buNone/>
            </a:pPr>
            <a:r>
              <a:rPr lang="en-US" altLang="en-US" sz="2000" dirty="0">
                <a:solidFill>
                  <a:srgbClr val="0A0A0A"/>
                </a:solidFill>
                <a:latin typeface="Google Sans"/>
              </a:rPr>
              <a:t>. The philosopher Ronald </a:t>
            </a:r>
            <a:r>
              <a:rPr lang="en-US" altLang="en-US" sz="2000" dirty="0" err="1">
                <a:solidFill>
                  <a:srgbClr val="0A0A0A"/>
                </a:solidFill>
                <a:latin typeface="Google Sans"/>
              </a:rPr>
              <a:t>McClamrock</a:t>
            </a:r>
            <a:r>
              <a:rPr lang="en-US" altLang="en-US" sz="2000" dirty="0">
                <a:solidFill>
                  <a:srgbClr val="0A0A0A"/>
                </a:solidFill>
                <a:latin typeface="Google Sans"/>
              </a:rPr>
              <a:t> reviewed and critiqued this framework in a 1991 paper, highlighting both its promise and its shortcomings. </a:t>
            </a:r>
            <a:endParaRPr lang="en-US" altLang="en-US" sz="1400" dirty="0">
              <a:solidFill>
                <a:srgbClr val="0A0A0A"/>
              </a:solidFill>
              <a:latin typeface="Google Sans"/>
            </a:endParaRPr>
          </a:p>
          <a:p>
            <a:pPr marL="0" lvl="0" indent="0" eaLnBrk="0" fontAlgn="base" hangingPunct="0">
              <a:spcBef>
                <a:spcPct val="0"/>
              </a:spcBef>
              <a:spcAft>
                <a:spcPct val="0"/>
              </a:spcAft>
              <a:buNone/>
            </a:pPr>
            <a:endParaRPr lang="en-US" altLang="en-US" sz="2000" b="1" dirty="0">
              <a:solidFill>
                <a:srgbClr val="0A0A0A"/>
              </a:solidFill>
              <a:latin typeface="Google Sans"/>
            </a:endParaRPr>
          </a:p>
          <a:p>
            <a:pPr marL="0" lvl="0" indent="0" eaLnBrk="0" fontAlgn="base" hangingPunct="0">
              <a:spcBef>
                <a:spcPct val="0"/>
              </a:spcBef>
              <a:spcAft>
                <a:spcPct val="0"/>
              </a:spcAft>
              <a:buNone/>
            </a:pPr>
            <a:r>
              <a:rPr lang="en-US" altLang="en-US" sz="2000" b="1" dirty="0">
                <a:solidFill>
                  <a:srgbClr val="0A0A0A"/>
                </a:solidFill>
                <a:latin typeface="Google Sans"/>
              </a:rPr>
              <a:t>Alternative three-level models in cognitive science</a:t>
            </a:r>
            <a:endParaRPr lang="en-US" altLang="en-US" sz="1200" dirty="0">
              <a:solidFill>
                <a:srgbClr val="0A0A0A"/>
              </a:solidFill>
              <a:latin typeface="Google Sans"/>
            </a:endParaRPr>
          </a:p>
          <a:p>
            <a:pPr lvl="0" eaLnBrk="0" fontAlgn="base" hangingPunct="0">
              <a:spcBef>
                <a:spcPct val="0"/>
              </a:spcBef>
              <a:spcAft>
                <a:spcPct val="0"/>
              </a:spcAft>
            </a:pPr>
            <a:r>
              <a:rPr lang="en-US" altLang="en-US" sz="1800" dirty="0">
                <a:solidFill>
                  <a:srgbClr val="0A0A0A"/>
                </a:solidFill>
                <a:latin typeface="Google Sans"/>
              </a:rPr>
              <a:t>Other cognitive scientists proposed three-level frameworks that were contemporaneous with Marr's and explored similar ideas using different terminology. </a:t>
            </a:r>
            <a:endParaRPr lang="en-US" altLang="en-US" sz="1200" dirty="0">
              <a:solidFill>
                <a:srgbClr val="0A0A0A"/>
              </a:solidFill>
              <a:latin typeface="Google Sans"/>
            </a:endParaRPr>
          </a:p>
          <a:p>
            <a:pPr marL="0" lvl="0" indent="0" eaLnBrk="0" fontAlgn="base" hangingPunct="0">
              <a:spcBef>
                <a:spcPct val="0"/>
              </a:spcBef>
              <a:spcAft>
                <a:spcPct val="0"/>
              </a:spcAft>
              <a:buNone/>
            </a:pPr>
            <a:r>
              <a:rPr lang="en-US" altLang="en-US" sz="1800" b="1" dirty="0" err="1">
                <a:solidFill>
                  <a:srgbClr val="0A0A0A"/>
                </a:solidFill>
                <a:latin typeface="Google Sans"/>
              </a:rPr>
              <a:t>Pylyshyn's</a:t>
            </a:r>
            <a:r>
              <a:rPr lang="en-US" altLang="en-US" sz="1800" b="1" dirty="0">
                <a:solidFill>
                  <a:srgbClr val="0A0A0A"/>
                </a:solidFill>
                <a:latin typeface="Google Sans"/>
              </a:rPr>
              <a:t> semantic, syntactic, and physical levels:</a:t>
            </a:r>
            <a:r>
              <a:rPr lang="en-US" altLang="en-US" sz="1800" dirty="0">
                <a:solidFill>
                  <a:srgbClr val="0A0A0A"/>
                </a:solidFill>
                <a:latin typeface="Google Sans"/>
              </a:rPr>
              <a:t> Philosopher and cognitive scientist Zenon </a:t>
            </a:r>
            <a:r>
              <a:rPr lang="en-US" altLang="en-US" sz="1800" dirty="0" err="1">
                <a:solidFill>
                  <a:srgbClr val="0A0A0A"/>
                </a:solidFill>
                <a:latin typeface="Google Sans"/>
              </a:rPr>
              <a:t>Pylyshyn's</a:t>
            </a:r>
            <a:r>
              <a:rPr lang="en-US" altLang="en-US" sz="1800" dirty="0">
                <a:solidFill>
                  <a:srgbClr val="0A0A0A"/>
                </a:solidFill>
                <a:latin typeface="Google Sans"/>
              </a:rPr>
              <a:t> framework distinguished three levels of organization for information-processing systems, drawing parallels to Marr's approach.</a:t>
            </a:r>
          </a:p>
          <a:p>
            <a:pPr lvl="1" eaLnBrk="0" fontAlgn="base" hangingPunct="0">
              <a:spcBef>
                <a:spcPct val="0"/>
              </a:spcBef>
              <a:spcAft>
                <a:spcPct val="0"/>
              </a:spcAft>
              <a:buFontTx/>
              <a:buChar char="•"/>
            </a:pPr>
            <a:r>
              <a:rPr lang="en-US" altLang="en-US" sz="1800" b="1" dirty="0">
                <a:solidFill>
                  <a:srgbClr val="0A0A0A"/>
                </a:solidFill>
                <a:latin typeface="Google Sans"/>
              </a:rPr>
              <a:t>Semantic (Computational):</a:t>
            </a:r>
            <a:r>
              <a:rPr lang="en-US" altLang="en-US" sz="1800" dirty="0">
                <a:solidFill>
                  <a:srgbClr val="0A0A0A"/>
                </a:solidFill>
                <a:latin typeface="Google Sans"/>
              </a:rPr>
              <a:t> The knowledge level, focusing on the meaning and function of the information being processed.</a:t>
            </a:r>
          </a:p>
          <a:p>
            <a:pPr lvl="1" eaLnBrk="0" fontAlgn="base" hangingPunct="0">
              <a:spcBef>
                <a:spcPct val="0"/>
              </a:spcBef>
              <a:spcAft>
                <a:spcPct val="0"/>
              </a:spcAft>
              <a:buFontTx/>
              <a:buChar char="•"/>
            </a:pPr>
            <a:r>
              <a:rPr lang="en-US" altLang="en-US" sz="1800" b="1" dirty="0">
                <a:solidFill>
                  <a:srgbClr val="0A0A0A"/>
                </a:solidFill>
                <a:latin typeface="Google Sans"/>
              </a:rPr>
              <a:t>Syntactic (Algorithmic):</a:t>
            </a:r>
            <a:r>
              <a:rPr lang="en-US" altLang="en-US" sz="1800" dirty="0">
                <a:solidFill>
                  <a:srgbClr val="0A0A0A"/>
                </a:solidFill>
                <a:latin typeface="Google Sans"/>
              </a:rPr>
              <a:t> The symbolic level, concerned with the specific rules and representations used to process information.</a:t>
            </a:r>
          </a:p>
          <a:p>
            <a:pPr lvl="1" eaLnBrk="0" fontAlgn="base" hangingPunct="0">
              <a:spcBef>
                <a:spcPct val="0"/>
              </a:spcBef>
              <a:spcAft>
                <a:spcPct val="0"/>
              </a:spcAft>
              <a:buFontTx/>
              <a:buChar char="•"/>
            </a:pPr>
            <a:r>
              <a:rPr lang="en-US" altLang="en-US" sz="1800" b="1" dirty="0">
                <a:solidFill>
                  <a:srgbClr val="0A0A0A"/>
                </a:solidFill>
                <a:latin typeface="Google Sans"/>
              </a:rPr>
              <a:t>Physical (Implementational):</a:t>
            </a:r>
            <a:r>
              <a:rPr lang="en-US" altLang="en-US" sz="1800" dirty="0">
                <a:solidFill>
                  <a:srgbClr val="0A0A0A"/>
                </a:solidFill>
                <a:latin typeface="Google Sans"/>
              </a:rPr>
              <a:t> The physical or biological level, dealing with the hardware that carries out the computation.</a:t>
            </a:r>
          </a:p>
          <a:p>
            <a:pPr marL="0" lvl="0" indent="0" eaLnBrk="0" fontAlgn="base" hangingPunct="0">
              <a:spcBef>
                <a:spcPct val="0"/>
              </a:spcBef>
              <a:spcAft>
                <a:spcPct val="0"/>
              </a:spcAft>
              <a:buNone/>
            </a:pPr>
            <a:r>
              <a:rPr lang="en-US" altLang="en-US" sz="1800" b="1" dirty="0">
                <a:solidFill>
                  <a:srgbClr val="0A0A0A"/>
                </a:solidFill>
                <a:latin typeface="Google Sans"/>
              </a:rPr>
              <a:t>Craik and Lockhart's levels of processing:</a:t>
            </a:r>
            <a:r>
              <a:rPr lang="en-US" altLang="en-US" sz="1800" dirty="0">
                <a:solidFill>
                  <a:srgbClr val="0A0A0A"/>
                </a:solidFill>
                <a:latin typeface="Google Sans"/>
              </a:rPr>
              <a:t> Psychologists Fergus Craik and Robert Lockhart proposed that memory is not defined by discrete storage locations (like short-term or long-term memory), but rather by the "depth" of mental processing. Information that is more deeply processed is more likely to be remembered. The three levels they identified are:</a:t>
            </a:r>
          </a:p>
          <a:p>
            <a:pPr lvl="1" eaLnBrk="0" fontAlgn="base" hangingPunct="0">
              <a:spcBef>
                <a:spcPct val="0"/>
              </a:spcBef>
              <a:spcAft>
                <a:spcPct val="0"/>
              </a:spcAft>
              <a:buFontTx/>
              <a:buChar char="•"/>
            </a:pPr>
            <a:r>
              <a:rPr lang="en-US" altLang="en-US" sz="1800" b="1" dirty="0">
                <a:solidFill>
                  <a:srgbClr val="0A0A0A"/>
                </a:solidFill>
                <a:latin typeface="Google Sans"/>
              </a:rPr>
              <a:t>Structural:</a:t>
            </a:r>
            <a:r>
              <a:rPr lang="en-US" altLang="en-US" sz="1800" dirty="0">
                <a:solidFill>
                  <a:srgbClr val="0A0A0A"/>
                </a:solidFill>
                <a:latin typeface="Google Sans"/>
              </a:rPr>
              <a:t> Shallow processing based on the physical appearance of a word or image.</a:t>
            </a:r>
          </a:p>
          <a:p>
            <a:pPr lvl="1" eaLnBrk="0" fontAlgn="base" hangingPunct="0">
              <a:spcBef>
                <a:spcPct val="0"/>
              </a:spcBef>
              <a:spcAft>
                <a:spcPct val="0"/>
              </a:spcAft>
              <a:buFontTx/>
              <a:buChar char="•"/>
            </a:pPr>
            <a:r>
              <a:rPr lang="en-US" altLang="en-US" sz="1800" b="1" dirty="0">
                <a:solidFill>
                  <a:srgbClr val="0A0A0A"/>
                </a:solidFill>
                <a:latin typeface="Google Sans"/>
              </a:rPr>
              <a:t>Phonetic:</a:t>
            </a:r>
            <a:r>
              <a:rPr lang="en-US" altLang="en-US" sz="1800" dirty="0">
                <a:solidFill>
                  <a:srgbClr val="0A0A0A"/>
                </a:solidFill>
                <a:latin typeface="Google Sans"/>
              </a:rPr>
              <a:t> Deeper processing involving the sound of a word.</a:t>
            </a:r>
          </a:p>
          <a:p>
            <a:pPr lvl="1" eaLnBrk="0" fontAlgn="base" hangingPunct="0">
              <a:spcBef>
                <a:spcPct val="0"/>
              </a:spcBef>
              <a:spcAft>
                <a:spcPct val="0"/>
              </a:spcAft>
              <a:buFontTx/>
              <a:buChar char="•"/>
            </a:pPr>
            <a:r>
              <a:rPr lang="en-US" altLang="en-US" sz="1800" b="1" dirty="0">
                <a:solidFill>
                  <a:srgbClr val="0A0A0A"/>
                </a:solidFill>
                <a:latin typeface="Google Sans"/>
              </a:rPr>
              <a:t>Semantic:</a:t>
            </a:r>
            <a:r>
              <a:rPr lang="en-US" altLang="en-US" sz="1800" dirty="0">
                <a:solidFill>
                  <a:srgbClr val="0A0A0A"/>
                </a:solidFill>
                <a:latin typeface="Google Sans"/>
              </a:rPr>
              <a:t> The deepest processing, focusing on the meaning of a word. </a:t>
            </a:r>
          </a:p>
          <a:p>
            <a:pPr marL="0" lvl="0" indent="0" eaLnBrk="0" fontAlgn="base" hangingPunct="0">
              <a:spcBef>
                <a:spcPct val="0"/>
              </a:spcBef>
              <a:spcAft>
                <a:spcPct val="0"/>
              </a:spcAft>
              <a:buNone/>
            </a:pPr>
            <a:r>
              <a:rPr lang="en-US" altLang="en-US" sz="2000" b="1" dirty="0">
                <a:solidFill>
                  <a:srgbClr val="0A0A0A"/>
                </a:solidFill>
                <a:latin typeface="Google Sans"/>
              </a:rPr>
              <a:t>Daniel Dennett's three "stances"</a:t>
            </a:r>
            <a:endParaRPr lang="en-US" altLang="en-US" sz="1200" dirty="0">
              <a:solidFill>
                <a:srgbClr val="0A0A0A"/>
              </a:solidFill>
              <a:latin typeface="Google Sans"/>
            </a:endParaRPr>
          </a:p>
          <a:p>
            <a:pPr lvl="0" eaLnBrk="0" fontAlgn="base" hangingPunct="0">
              <a:spcBef>
                <a:spcPct val="0"/>
              </a:spcBef>
              <a:spcAft>
                <a:spcPct val="0"/>
              </a:spcAft>
            </a:pPr>
            <a:r>
              <a:rPr lang="en-US" altLang="en-US" sz="1800" dirty="0">
                <a:solidFill>
                  <a:srgbClr val="0A0A0A"/>
                </a:solidFill>
                <a:latin typeface="Google Sans"/>
              </a:rPr>
              <a:t>Philosopher Daniel Dennett proposed a three-level framework, or "stances," for predicting and explaining the behavior of systems, which relates to the analysis of complex cognitive systems. </a:t>
            </a:r>
            <a:endParaRPr lang="en-US" altLang="en-US" sz="1200" dirty="0">
              <a:solidFill>
                <a:srgbClr val="0A0A0A"/>
              </a:solidFill>
              <a:latin typeface="Google Sans"/>
            </a:endParaRPr>
          </a:p>
          <a:p>
            <a:pPr lvl="0" eaLnBrk="0" fontAlgn="base" hangingPunct="0">
              <a:spcBef>
                <a:spcPct val="0"/>
              </a:spcBef>
              <a:spcAft>
                <a:spcPct val="0"/>
              </a:spcAft>
              <a:buFontTx/>
              <a:buChar char="•"/>
            </a:pPr>
            <a:r>
              <a:rPr lang="en-US" altLang="en-US" sz="1800" b="1" dirty="0">
                <a:solidFill>
                  <a:srgbClr val="0A0A0A"/>
                </a:solidFill>
                <a:latin typeface="Google Sans"/>
              </a:rPr>
              <a:t>Physical stance:</a:t>
            </a:r>
            <a:r>
              <a:rPr lang="en-US" altLang="en-US" sz="1800" dirty="0">
                <a:solidFill>
                  <a:srgbClr val="0A0A0A"/>
                </a:solidFill>
                <a:latin typeface="Google Sans"/>
              </a:rPr>
              <a:t> Explains a system's behavior based on its physical makeup and the laws of physics. It is a precise but often impractical method for complex systems.</a:t>
            </a:r>
          </a:p>
          <a:p>
            <a:pPr lvl="0" eaLnBrk="0" fontAlgn="base" hangingPunct="0">
              <a:spcBef>
                <a:spcPct val="0"/>
              </a:spcBef>
              <a:spcAft>
                <a:spcPct val="0"/>
              </a:spcAft>
              <a:buFontTx/>
              <a:buChar char="•"/>
            </a:pPr>
            <a:r>
              <a:rPr lang="en-US" altLang="en-US" sz="1800" b="1" dirty="0">
                <a:solidFill>
                  <a:srgbClr val="0A0A0A"/>
                </a:solidFill>
                <a:latin typeface="Google Sans"/>
              </a:rPr>
              <a:t>Design stance:</a:t>
            </a:r>
            <a:r>
              <a:rPr lang="en-US" altLang="en-US" sz="1800" dirty="0">
                <a:solidFill>
                  <a:srgbClr val="0A0A0A"/>
                </a:solidFill>
                <a:latin typeface="Google Sans"/>
              </a:rPr>
              <a:t> Explains a system's behavior based on how it was designed to function. It ignores the physical details and assumes the system will behave as intended.</a:t>
            </a:r>
          </a:p>
          <a:p>
            <a:pPr lvl="0" eaLnBrk="0" fontAlgn="base" hangingPunct="0">
              <a:spcBef>
                <a:spcPct val="0"/>
              </a:spcBef>
              <a:spcAft>
                <a:spcPct val="0"/>
              </a:spcAft>
              <a:buFontTx/>
              <a:buChar char="•"/>
            </a:pPr>
            <a:r>
              <a:rPr lang="en-US" altLang="en-US" sz="1800" b="1" dirty="0">
                <a:solidFill>
                  <a:srgbClr val="0A0A0A"/>
                </a:solidFill>
                <a:latin typeface="Google Sans"/>
              </a:rPr>
              <a:t>Intentional stance:</a:t>
            </a:r>
            <a:r>
              <a:rPr lang="en-US" altLang="en-US" sz="1800" dirty="0">
                <a:solidFill>
                  <a:srgbClr val="0A0A0A"/>
                </a:solidFill>
                <a:latin typeface="Google Sans"/>
              </a:rPr>
              <a:t> Explains a system's behavior by treating it as a rational agent with beliefs and desires. This is a common method for understanding human and animal behavior. </a:t>
            </a:r>
          </a:p>
          <a:p>
            <a:endParaRPr lang="en-US" dirty="0"/>
          </a:p>
        </p:txBody>
      </p:sp>
      <p:sp>
        <p:nvSpPr>
          <p:cNvPr id="4" name="Slide Number Placeholder 3"/>
          <p:cNvSpPr>
            <a:spLocks noGrp="1"/>
          </p:cNvSpPr>
          <p:nvPr>
            <p:ph type="sldNum" sz="quarter" idx="5"/>
          </p:nvPr>
        </p:nvSpPr>
        <p:spPr/>
        <p:txBody>
          <a:bodyPr/>
          <a:lstStyle/>
          <a:p>
            <a:fld id="{9B3575CF-62AD-8041-932F-56D977C8CDA1}" type="slidenum">
              <a:rPr lang="en-US" smtClean="0"/>
              <a:t>8</a:t>
            </a:fld>
            <a:endParaRPr lang="en-US"/>
          </a:p>
        </p:txBody>
      </p:sp>
    </p:spTree>
    <p:extLst>
      <p:ext uri="{BB962C8B-B14F-4D97-AF65-F5344CB8AC3E}">
        <p14:creationId xmlns:p14="http://schemas.microsoft.com/office/powerpoint/2010/main" val="1610254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Characterizing what code needs to be added to bring to conformance with </a:t>
            </a:r>
            <a:r>
              <a:rPr lang="en-US" dirty="0" err="1"/>
              <a:t>GeoPose</a:t>
            </a:r>
            <a:endParaRPr lang="en-US" dirty="0"/>
          </a:p>
          <a:p>
            <a:pPr lvl="1"/>
            <a:r>
              <a:rPr lang="en-US" dirty="0"/>
              <a:t>Estimating what kind of positive and negative impact the integration would have</a:t>
            </a:r>
          </a:p>
          <a:p>
            <a:endParaRPr lang="en-US" dirty="0"/>
          </a:p>
        </p:txBody>
      </p:sp>
      <p:sp>
        <p:nvSpPr>
          <p:cNvPr id="4" name="Slide Number Placeholder 3"/>
          <p:cNvSpPr>
            <a:spLocks noGrp="1"/>
          </p:cNvSpPr>
          <p:nvPr>
            <p:ph type="sldNum" sz="quarter" idx="5"/>
          </p:nvPr>
        </p:nvSpPr>
        <p:spPr/>
        <p:txBody>
          <a:bodyPr/>
          <a:lstStyle/>
          <a:p>
            <a:fld id="{9B3575CF-62AD-8041-932F-56D977C8CDA1}" type="slidenum">
              <a:rPr lang="en-US" smtClean="0"/>
              <a:t>12</a:t>
            </a:fld>
            <a:endParaRPr lang="en-US"/>
          </a:p>
        </p:txBody>
      </p:sp>
    </p:spTree>
    <p:extLst>
      <p:ext uri="{BB962C8B-B14F-4D97-AF65-F5344CB8AC3E}">
        <p14:creationId xmlns:p14="http://schemas.microsoft.com/office/powerpoint/2010/main" val="1571562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27440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7.png"/><Relationship Id="rId7" Type="http://schemas.openxmlformats.org/officeDocument/2006/relationships/image" Target="../media/image10.svg"/><Relationship Id="rId2" Type="http://schemas.openxmlformats.org/officeDocument/2006/relationships/hyperlink" Target="https://www.linkedin.com/company/open-geospatial-consortium/" TargetMode="External"/><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hyperlink" Target="https://www.youtube.com/@opengeospatial" TargetMode="External"/><Relationship Id="rId4" Type="http://schemas.openxmlformats.org/officeDocument/2006/relationships/image" Target="../media/image8.svg"/><Relationship Id="rId9" Type="http://schemas.openxmlformats.org/officeDocument/2006/relationships/image" Target="../media/image11.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2">
    <p:bg>
      <p:bgPr>
        <a:solidFill>
          <a:srgbClr val="1A2584"/>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31DD0F2-3B07-4CD9-C9D4-BD975901978F}"/>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73024" y="0"/>
            <a:ext cx="18361023" cy="10287000"/>
          </a:xfrm>
          <a:prstGeom prst="rect">
            <a:avLst/>
          </a:prstGeom>
        </p:spPr>
      </p:pic>
      <p:sp>
        <p:nvSpPr>
          <p:cNvPr id="11" name="Rectangle 10">
            <a:extLst>
              <a:ext uri="{FF2B5EF4-FFF2-40B4-BE49-F238E27FC236}">
                <a16:creationId xmlns:a16="http://schemas.microsoft.com/office/drawing/2014/main" id="{19309EC5-8A84-9079-0A32-DD694DDB84E2}"/>
              </a:ext>
            </a:extLst>
          </p:cNvPr>
          <p:cNvSpPr/>
          <p:nvPr userDrawn="1"/>
        </p:nvSpPr>
        <p:spPr>
          <a:xfrm>
            <a:off x="762000" y="8343900"/>
            <a:ext cx="152400" cy="1219200"/>
          </a:xfrm>
          <a:prstGeom prst="rect">
            <a:avLst/>
          </a:prstGeom>
          <a:solidFill>
            <a:srgbClr val="D6E8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6">
            <a:extLst>
              <a:ext uri="{FF2B5EF4-FFF2-40B4-BE49-F238E27FC236}">
                <a16:creationId xmlns:a16="http://schemas.microsoft.com/office/drawing/2014/main" id="{70D2371B-9266-15FA-FC2A-1708C7327F22}"/>
              </a:ext>
            </a:extLst>
          </p:cNvPr>
          <p:cNvSpPr>
            <a:spLocks noGrp="1"/>
          </p:cNvSpPr>
          <p:nvPr>
            <p:ph type="body" sz="quarter" idx="11" hasCustomPrompt="1"/>
          </p:nvPr>
        </p:nvSpPr>
        <p:spPr>
          <a:xfrm>
            <a:off x="781878" y="4229100"/>
            <a:ext cx="9525000" cy="2209800"/>
          </a:xfrm>
        </p:spPr>
        <p:txBody>
          <a:bodyPr anchor="ctr">
            <a:noAutofit/>
          </a:bodyPr>
          <a:lstStyle>
            <a:lvl1pPr marL="0" indent="0">
              <a:lnSpc>
                <a:spcPts val="7340"/>
              </a:lnSpc>
              <a:buNone/>
              <a:defRPr sz="7500" b="0" i="0">
                <a:solidFill>
                  <a:schemeClr val="bg1"/>
                </a:solidFill>
                <a:latin typeface="Aptos" panose="020B0004020202020204" pitchFamily="34" charset="0"/>
              </a:defRPr>
            </a:lvl1pPr>
          </a:lstStyle>
          <a:p>
            <a:pPr lvl="0"/>
            <a:r>
              <a:rPr lang="en-GB" dirty="0"/>
              <a:t>OPEN GEOSPATIAL CONSORTIUM</a:t>
            </a:r>
            <a:endParaRPr lang="en-US" dirty="0"/>
          </a:p>
        </p:txBody>
      </p:sp>
      <p:sp>
        <p:nvSpPr>
          <p:cNvPr id="10" name="Text Placeholder 6">
            <a:extLst>
              <a:ext uri="{FF2B5EF4-FFF2-40B4-BE49-F238E27FC236}">
                <a16:creationId xmlns:a16="http://schemas.microsoft.com/office/drawing/2014/main" id="{1BD5B0C9-DE43-2451-ECE2-D1E27B88CECC}"/>
              </a:ext>
            </a:extLst>
          </p:cNvPr>
          <p:cNvSpPr>
            <a:spLocks noGrp="1"/>
          </p:cNvSpPr>
          <p:nvPr>
            <p:ph type="body" sz="quarter" idx="12" hasCustomPrompt="1"/>
          </p:nvPr>
        </p:nvSpPr>
        <p:spPr>
          <a:xfrm>
            <a:off x="781878" y="3253711"/>
            <a:ext cx="4533901" cy="955104"/>
          </a:xfrm>
        </p:spPr>
        <p:txBody>
          <a:bodyPr anchor="t">
            <a:noAutofit/>
          </a:bodyPr>
          <a:lstStyle>
            <a:lvl1pPr marL="0" indent="0">
              <a:lnSpc>
                <a:spcPts val="7340"/>
              </a:lnSpc>
              <a:buNone/>
              <a:defRPr sz="13300" b="1" i="0">
                <a:solidFill>
                  <a:schemeClr val="bg1"/>
                </a:solidFill>
                <a:latin typeface="Aptos" panose="020B0004020202020204" pitchFamily="34" charset="0"/>
              </a:defRPr>
            </a:lvl1pPr>
          </a:lstStyle>
          <a:p>
            <a:pPr lvl="0"/>
            <a:r>
              <a:rPr lang="en-GB" dirty="0"/>
              <a:t>OGC</a:t>
            </a:r>
            <a:endParaRPr lang="en-US" dirty="0"/>
          </a:p>
        </p:txBody>
      </p:sp>
      <p:sp>
        <p:nvSpPr>
          <p:cNvPr id="2" name="Title 1">
            <a:extLst>
              <a:ext uri="{FF2B5EF4-FFF2-40B4-BE49-F238E27FC236}">
                <a16:creationId xmlns:a16="http://schemas.microsoft.com/office/drawing/2014/main" id="{68D9D9D9-ACF1-FDFC-9EA3-26D0F3C2214A}"/>
              </a:ext>
            </a:extLst>
          </p:cNvPr>
          <p:cNvSpPr>
            <a:spLocks noGrp="1"/>
          </p:cNvSpPr>
          <p:nvPr>
            <p:ph type="title" hasCustomPrompt="1"/>
          </p:nvPr>
        </p:nvSpPr>
        <p:spPr>
          <a:xfrm>
            <a:off x="990600" y="8479631"/>
            <a:ext cx="5486400" cy="947738"/>
          </a:xfrm>
        </p:spPr>
        <p:txBody>
          <a:bodyPr anchor="b"/>
          <a:lstStyle>
            <a:lvl1pPr algn="l">
              <a:lnSpc>
                <a:spcPts val="3700"/>
              </a:lnSpc>
              <a:defRPr sz="2500" b="0">
                <a:solidFill>
                  <a:schemeClr val="bg1"/>
                </a:solidFill>
              </a:defRPr>
            </a:lvl1pPr>
          </a:lstStyle>
          <a:p>
            <a:r>
              <a:rPr lang="en-US" dirty="0"/>
              <a:t>NAME OF PERSON</a:t>
            </a:r>
            <a:br>
              <a:rPr lang="en-US" dirty="0"/>
            </a:br>
            <a:r>
              <a:rPr lang="en-US" dirty="0"/>
              <a:t>YYYY/MM/DD</a:t>
            </a:r>
          </a:p>
        </p:txBody>
      </p:sp>
      <p:pic>
        <p:nvPicPr>
          <p:cNvPr id="3" name="Graphic 2">
            <a:extLst>
              <a:ext uri="{FF2B5EF4-FFF2-40B4-BE49-F238E27FC236}">
                <a16:creationId xmlns:a16="http://schemas.microsoft.com/office/drawing/2014/main" id="{ED6684FE-59EA-B16B-2A79-6A7F5F5A7ACE}"/>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6328" y="547189"/>
            <a:ext cx="1154872" cy="1154872"/>
          </a:xfrm>
          <a:prstGeom prst="rect">
            <a:avLst/>
          </a:prstGeom>
        </p:spPr>
      </p:pic>
    </p:spTree>
    <p:extLst>
      <p:ext uri="{BB962C8B-B14F-4D97-AF65-F5344CB8AC3E}">
        <p14:creationId xmlns:p14="http://schemas.microsoft.com/office/powerpoint/2010/main" val="194541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Bullets">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4324800-CFC8-4CF1-B297-52EC07618FB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
        <p:nvSpPr>
          <p:cNvPr id="2" name="Text Placeholder 2">
            <a:extLst>
              <a:ext uri="{FF2B5EF4-FFF2-40B4-BE49-F238E27FC236}">
                <a16:creationId xmlns:a16="http://schemas.microsoft.com/office/drawing/2014/main" id="{50E63C18-4494-429D-C7BD-8F1E6789EF1E}"/>
              </a:ext>
            </a:extLst>
          </p:cNvPr>
          <p:cNvSpPr>
            <a:spLocks noGrp="1"/>
          </p:cNvSpPr>
          <p:nvPr>
            <p:ph type="body" idx="16"/>
          </p:nvPr>
        </p:nvSpPr>
        <p:spPr>
          <a:xfrm>
            <a:off x="838200" y="2322444"/>
            <a:ext cx="16598236" cy="6853503"/>
          </a:xfrm>
        </p:spPr>
        <p:txBody>
          <a:bodyPr anchor="t">
            <a:noAutofit/>
          </a:bodyPr>
          <a:lstStyle>
            <a:lvl1pPr marL="342900" indent="-342900">
              <a:buFont typeface="Arial" panose="020B0604020202020204" pitchFamily="34" charset="0"/>
              <a:buChar char="•"/>
              <a:defRPr sz="3000" b="0" i="0">
                <a:solidFill>
                  <a:schemeClr val="tx1"/>
                </a:solidFill>
                <a:latin typeface="Aptos" panose="020B0004020202020204" pitchFamily="34" charset="0"/>
              </a:defRPr>
            </a:lvl1pPr>
            <a:lvl2pPr marL="742950" indent="-285750">
              <a:buFont typeface="Arial" panose="020B0604020202020204" pitchFamily="34" charset="0"/>
              <a:buChar char="•"/>
              <a:defRPr sz="2800">
                <a:solidFill>
                  <a:schemeClr val="tx1"/>
                </a:solidFill>
              </a:defRPr>
            </a:lvl2pPr>
            <a:lvl3pPr marL="1200150" indent="-285750">
              <a:buFont typeface="Arial" panose="020B0604020202020204" pitchFamily="34" charset="0"/>
              <a:buChar char="•"/>
              <a:defRPr sz="2800">
                <a:solidFill>
                  <a:schemeClr val="tx1"/>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4" name="Title 1">
            <a:extLst>
              <a:ext uri="{FF2B5EF4-FFF2-40B4-BE49-F238E27FC236}">
                <a16:creationId xmlns:a16="http://schemas.microsoft.com/office/drawing/2014/main" id="{CC4D061A-9182-0E47-58BB-1394889710DD}"/>
              </a:ext>
            </a:extLst>
          </p:cNvPr>
          <p:cNvSpPr>
            <a:spLocks noGrp="1"/>
          </p:cNvSpPr>
          <p:nvPr>
            <p:ph type="title"/>
          </p:nvPr>
        </p:nvSpPr>
        <p:spPr>
          <a:xfrm>
            <a:off x="863080" y="555036"/>
            <a:ext cx="16573356" cy="916056"/>
          </a:xfrm>
        </p:spPr>
        <p:txBody>
          <a:bodyPr anchor="ctr"/>
          <a:lstStyle>
            <a:lvl1pPr>
              <a:lnSpc>
                <a:spcPts val="4100"/>
              </a:lnSpc>
              <a:defRPr sz="4200">
                <a:solidFill>
                  <a:srgbClr val="263BD3"/>
                </a:solidFill>
              </a:defRPr>
            </a:lvl1pPr>
          </a:lstStyle>
          <a:p>
            <a:endParaRPr lang="en-US" dirty="0"/>
          </a:p>
        </p:txBody>
      </p:sp>
      <p:sp>
        <p:nvSpPr>
          <p:cNvPr id="6" name="Rectangle 5">
            <a:extLst>
              <a:ext uri="{FF2B5EF4-FFF2-40B4-BE49-F238E27FC236}">
                <a16:creationId xmlns:a16="http://schemas.microsoft.com/office/drawing/2014/main" id="{BDB5ECD6-ECF9-90A5-110C-BF2E6CC263AA}"/>
              </a:ext>
            </a:extLst>
          </p:cNvPr>
          <p:cNvSpPr/>
          <p:nvPr userDrawn="1"/>
        </p:nvSpPr>
        <p:spPr>
          <a:xfrm rot="16200000">
            <a:off x="-178533" y="572374"/>
            <a:ext cx="1149261"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2794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075991E-3D80-1093-0B9E-40DD452E6206}"/>
              </a:ext>
            </a:extLst>
          </p:cNvPr>
          <p:cNvSpPr/>
          <p:nvPr userDrawn="1"/>
        </p:nvSpPr>
        <p:spPr>
          <a:xfrm>
            <a:off x="0" y="-4313"/>
            <a:ext cx="18288000" cy="10286999"/>
          </a:xfrm>
          <a:prstGeom prst="rect">
            <a:avLst/>
          </a:prstGeom>
          <a:gradFill flip="none" rotWithShape="1">
            <a:gsLst>
              <a:gs pos="8000">
                <a:srgbClr val="263BD3"/>
              </a:gs>
              <a:gs pos="80000">
                <a:srgbClr val="1A2584"/>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74B08F70-9A8A-1BA7-803F-99BBD0A32D84}"/>
              </a:ext>
            </a:extLst>
          </p:cNvPr>
          <p:cNvSpPr>
            <a:spLocks noGrp="1"/>
          </p:cNvSpPr>
          <p:nvPr>
            <p:ph type="title" hasCustomPrompt="1"/>
          </p:nvPr>
        </p:nvSpPr>
        <p:spPr>
          <a:xfrm>
            <a:off x="705169" y="5981700"/>
            <a:ext cx="10867292" cy="3301612"/>
          </a:xfrm>
        </p:spPr>
        <p:txBody>
          <a:bodyPr anchor="t"/>
          <a:lstStyle>
            <a:lvl1pPr algn="l">
              <a:lnSpc>
                <a:spcPts val="8420"/>
              </a:lnSpc>
              <a:defRPr sz="9800" b="0" i="0" cap="none">
                <a:solidFill>
                  <a:srgbClr val="FFFFFF"/>
                </a:solidFill>
                <a:latin typeface="Aptos" panose="020B0004020202020204" pitchFamily="34" charset="0"/>
              </a:defRPr>
            </a:lvl1pPr>
          </a:lstStyle>
          <a:p>
            <a:r>
              <a:rPr lang="en-US" dirty="0"/>
              <a:t>Main Subject Headline Click To Add Content</a:t>
            </a:r>
          </a:p>
        </p:txBody>
      </p:sp>
      <p:pic>
        <p:nvPicPr>
          <p:cNvPr id="9" name="Picture 8" descr="A green globe with blue and yellow lines&#10;&#10;Description automatically generated">
            <a:extLst>
              <a:ext uri="{FF2B5EF4-FFF2-40B4-BE49-F238E27FC236}">
                <a16:creationId xmlns:a16="http://schemas.microsoft.com/office/drawing/2014/main" id="{3ACEB540-D319-D15F-94E4-6EB8FA97CA5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713672" y="3225248"/>
            <a:ext cx="11601450" cy="7061752"/>
          </a:xfrm>
          <a:prstGeom prst="rect">
            <a:avLst/>
          </a:prstGeom>
        </p:spPr>
      </p:pic>
      <p:pic>
        <p:nvPicPr>
          <p:cNvPr id="2" name="Graphic 1">
            <a:extLst>
              <a:ext uri="{FF2B5EF4-FFF2-40B4-BE49-F238E27FC236}">
                <a16:creationId xmlns:a16="http://schemas.microsoft.com/office/drawing/2014/main" id="{3DC18C82-B48C-86A4-AE95-988D03A9D1BF}"/>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743736" y="482666"/>
            <a:ext cx="1010864" cy="1010864"/>
          </a:xfrm>
          <a:prstGeom prst="rect">
            <a:avLst/>
          </a:prstGeom>
        </p:spPr>
      </p:pic>
    </p:spTree>
    <p:extLst>
      <p:ext uri="{BB962C8B-B14F-4D97-AF65-F5344CB8AC3E}">
        <p14:creationId xmlns:p14="http://schemas.microsoft.com/office/powerpoint/2010/main" val="800220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act Us">
    <p:bg>
      <p:bgPr>
        <a:solidFill>
          <a:srgbClr val="E1F0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A0BC1B-E121-22F6-EA4F-315A21DADD34}"/>
              </a:ext>
            </a:extLst>
          </p:cNvPr>
          <p:cNvSpPr/>
          <p:nvPr userDrawn="1"/>
        </p:nvSpPr>
        <p:spPr>
          <a:xfrm>
            <a:off x="0" y="-4313"/>
            <a:ext cx="18266434" cy="10286999"/>
          </a:xfrm>
          <a:prstGeom prst="rect">
            <a:avLst/>
          </a:prstGeom>
          <a:gradFill flip="none" rotWithShape="1">
            <a:gsLst>
              <a:gs pos="24000">
                <a:schemeClr val="bg1"/>
              </a:gs>
              <a:gs pos="100000">
                <a:srgbClr val="A3C3FF"/>
              </a:gs>
              <a:gs pos="77000">
                <a:srgbClr val="D3E4FF"/>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EF978E1-8A8E-5738-7509-37BA651F49E3}"/>
              </a:ext>
            </a:extLst>
          </p:cNvPr>
          <p:cNvSpPr/>
          <p:nvPr userDrawn="1"/>
        </p:nvSpPr>
        <p:spPr>
          <a:xfrm>
            <a:off x="17527150" y="8420100"/>
            <a:ext cx="739284" cy="1862584"/>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CBAD72-8B13-ACB0-75FF-44382C60299A}"/>
              </a:ext>
            </a:extLst>
          </p:cNvPr>
          <p:cNvSpPr/>
          <p:nvPr userDrawn="1"/>
        </p:nvSpPr>
        <p:spPr>
          <a:xfrm>
            <a:off x="21566" y="8420100"/>
            <a:ext cx="9122434" cy="192189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3">
            <a:extLst>
              <a:ext uri="{FF2B5EF4-FFF2-40B4-BE49-F238E27FC236}">
                <a16:creationId xmlns:a16="http://schemas.microsoft.com/office/drawing/2014/main" id="{F7C539DE-7351-F083-BA2A-B4218EFAE00D}"/>
              </a:ext>
            </a:extLst>
          </p:cNvPr>
          <p:cNvSpPr>
            <a:spLocks noGrp="1"/>
          </p:cNvSpPr>
          <p:nvPr>
            <p:ph type="body" sz="half" idx="2" hasCustomPrompt="1"/>
          </p:nvPr>
        </p:nvSpPr>
        <p:spPr>
          <a:xfrm>
            <a:off x="745447" y="9105900"/>
            <a:ext cx="2593108" cy="548831"/>
          </a:xfrm>
        </p:spPr>
        <p:txBody>
          <a:bodyPr>
            <a:noAutofit/>
          </a:bodyPr>
          <a:lstStyle>
            <a:lvl1pPr marL="0" indent="0">
              <a:buNone/>
              <a:defRPr sz="2800" b="1" i="0">
                <a:solidFill>
                  <a:schemeClr val="bg1"/>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err="1"/>
              <a:t>www.ogc.org</a:t>
            </a:r>
            <a:endParaRPr lang="en-US" dirty="0"/>
          </a:p>
        </p:txBody>
      </p:sp>
      <p:sp>
        <p:nvSpPr>
          <p:cNvPr id="6" name="Title 1">
            <a:extLst>
              <a:ext uri="{FF2B5EF4-FFF2-40B4-BE49-F238E27FC236}">
                <a16:creationId xmlns:a16="http://schemas.microsoft.com/office/drawing/2014/main" id="{E34B6E06-9D16-BF9D-CD4A-43497B2A63E1}"/>
              </a:ext>
            </a:extLst>
          </p:cNvPr>
          <p:cNvSpPr>
            <a:spLocks noGrp="1"/>
          </p:cNvSpPr>
          <p:nvPr>
            <p:ph type="title" hasCustomPrompt="1"/>
          </p:nvPr>
        </p:nvSpPr>
        <p:spPr>
          <a:xfrm>
            <a:off x="658314" y="3486090"/>
            <a:ext cx="7634039" cy="2495610"/>
          </a:xfrm>
        </p:spPr>
        <p:txBody>
          <a:bodyPr anchor="t"/>
          <a:lstStyle>
            <a:lvl1pPr algn="l">
              <a:lnSpc>
                <a:spcPts val="9900"/>
              </a:lnSpc>
              <a:defRPr sz="12300" b="0" i="0" cap="none">
                <a:solidFill>
                  <a:schemeClr val="accent1">
                    <a:lumMod val="75000"/>
                  </a:schemeClr>
                </a:solidFill>
                <a:latin typeface="Aptos Display" panose="020B0004020202020204" pitchFamily="34" charset="0"/>
              </a:defRPr>
            </a:lvl1pPr>
          </a:lstStyle>
          <a:p>
            <a:r>
              <a:rPr lang="en-US" dirty="0"/>
              <a:t>THANK</a:t>
            </a:r>
            <a:br>
              <a:rPr lang="en-US" dirty="0"/>
            </a:br>
            <a:r>
              <a:rPr lang="en-US" dirty="0"/>
              <a:t>YOU</a:t>
            </a:r>
          </a:p>
        </p:txBody>
      </p:sp>
      <p:pic>
        <p:nvPicPr>
          <p:cNvPr id="23" name="Graphic 22">
            <a:hlinkClick r:id="rId2"/>
            <a:extLst>
              <a:ext uri="{FF2B5EF4-FFF2-40B4-BE49-F238E27FC236}">
                <a16:creationId xmlns:a16="http://schemas.microsoft.com/office/drawing/2014/main" id="{5E80DEB9-7302-517D-D762-3B89B5331F45}"/>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463553" y="9115879"/>
            <a:ext cx="444357" cy="434969"/>
          </a:xfrm>
          <a:prstGeom prst="rect">
            <a:avLst/>
          </a:prstGeom>
        </p:spPr>
      </p:pic>
      <p:pic>
        <p:nvPicPr>
          <p:cNvPr id="25" name="Graphic 24">
            <a:hlinkClick r:id="rId5"/>
            <a:extLst>
              <a:ext uri="{FF2B5EF4-FFF2-40B4-BE49-F238E27FC236}">
                <a16:creationId xmlns:a16="http://schemas.microsoft.com/office/drawing/2014/main" id="{A4425F64-9AB7-B578-8507-9BE7A01DC9D0}"/>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682188" y="9132679"/>
            <a:ext cx="610165" cy="434969"/>
          </a:xfrm>
          <a:prstGeom prst="rect">
            <a:avLst/>
          </a:prstGeom>
        </p:spPr>
      </p:pic>
      <p:cxnSp>
        <p:nvCxnSpPr>
          <p:cNvPr id="27" name="Straight Connector 26">
            <a:extLst>
              <a:ext uri="{FF2B5EF4-FFF2-40B4-BE49-F238E27FC236}">
                <a16:creationId xmlns:a16="http://schemas.microsoft.com/office/drawing/2014/main" id="{AC3AF3DD-E3F8-963A-7CE5-12FE73E6470F}"/>
              </a:ext>
            </a:extLst>
          </p:cNvPr>
          <p:cNvCxnSpPr/>
          <p:nvPr userDrawn="1"/>
        </p:nvCxnSpPr>
        <p:spPr>
          <a:xfrm>
            <a:off x="7288658" y="9041162"/>
            <a:ext cx="0" cy="623548"/>
          </a:xfrm>
          <a:prstGeom prst="line">
            <a:avLst/>
          </a:prstGeom>
          <a:ln w="19050">
            <a:solidFill>
              <a:srgbClr val="7FAEFF"/>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B234AFB3-C66F-E10A-4295-C25CBF9E1409}"/>
              </a:ext>
            </a:extLst>
          </p:cNvPr>
          <p:cNvPicPr>
            <a:picLocks noChangeAspect="1"/>
          </p:cNvPicPr>
          <p:nvPr userDrawn="1"/>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5447" y="591482"/>
            <a:ext cx="1154872" cy="1154872"/>
          </a:xfrm>
          <a:prstGeom prst="rect">
            <a:avLst/>
          </a:prstGeom>
        </p:spPr>
      </p:pic>
      <p:sp>
        <p:nvSpPr>
          <p:cNvPr id="15" name="Picture Placeholder 14">
            <a:extLst>
              <a:ext uri="{FF2B5EF4-FFF2-40B4-BE49-F238E27FC236}">
                <a16:creationId xmlns:a16="http://schemas.microsoft.com/office/drawing/2014/main" id="{02987B79-8C56-226E-FF8F-C1A6BFA690F1}"/>
              </a:ext>
            </a:extLst>
          </p:cNvPr>
          <p:cNvSpPr>
            <a:spLocks noGrp="1"/>
          </p:cNvSpPr>
          <p:nvPr>
            <p:ph type="pic" sz="quarter" idx="10"/>
          </p:nvPr>
        </p:nvSpPr>
        <p:spPr>
          <a:xfrm>
            <a:off x="9144000" y="4763"/>
            <a:ext cx="8383588" cy="8415337"/>
          </a:xfrm>
        </p:spPr>
        <p:txBody>
          <a:bodyPr/>
          <a:lstStyle/>
          <a:p>
            <a:r>
              <a:rPr lang="en-US"/>
              <a:t>Click icon to add picture</a:t>
            </a:r>
          </a:p>
        </p:txBody>
      </p:sp>
    </p:spTree>
    <p:extLst>
      <p:ext uri="{BB962C8B-B14F-4D97-AF65-F5344CB8AC3E}">
        <p14:creationId xmlns:p14="http://schemas.microsoft.com/office/powerpoint/2010/main" val="1469830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1257300" y="271463"/>
            <a:ext cx="15773400" cy="1988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2B1FF"/>
              </a:buClr>
              <a:buSzPts val="3200"/>
              <a:buFont typeface="Lato"/>
              <a:buNone/>
              <a:defRPr sz="4800">
                <a:solidFill>
                  <a:srgbClr val="02B1FF"/>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sldNum" idx="12"/>
          </p:nvPr>
        </p:nvSpPr>
        <p:spPr>
          <a:xfrm>
            <a:off x="7086600" y="9467851"/>
            <a:ext cx="4114800" cy="547688"/>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n-US" smtClean="0"/>
              <a:pPr/>
              <a:t>‹#›</a:t>
            </a:fld>
            <a:endParaRPr lang="en-US"/>
          </a:p>
        </p:txBody>
      </p:sp>
      <p:pic>
        <p:nvPicPr>
          <p:cNvPr id="30" name="Google Shape;30;p5" descr="Logo&#10;&#10;Description automatically generated"/>
          <p:cNvPicPr preferRelativeResize="0"/>
          <p:nvPr/>
        </p:nvPicPr>
        <p:blipFill rotWithShape="1">
          <a:blip r:embed="rId2">
            <a:alphaModFix/>
          </a:blip>
          <a:srcRect/>
          <a:stretch/>
        </p:blipFill>
        <p:spPr>
          <a:xfrm>
            <a:off x="16293687" y="9271205"/>
            <a:ext cx="1994313" cy="1015796"/>
          </a:xfrm>
          <a:prstGeom prst="rect">
            <a:avLst/>
          </a:prstGeom>
          <a:noFill/>
          <a:ln>
            <a:noFill/>
          </a:ln>
        </p:spPr>
      </p:pic>
    </p:spTree>
    <p:extLst>
      <p:ext uri="{BB962C8B-B14F-4D97-AF65-F5344CB8AC3E}">
        <p14:creationId xmlns:p14="http://schemas.microsoft.com/office/powerpoint/2010/main" val="15874909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141732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b="0" i="0">
                <a:solidFill>
                  <a:schemeClr val="tx1">
                    <a:tint val="75000"/>
                  </a:schemeClr>
                </a:solidFill>
                <a:latin typeface="Aptos" panose="020B0004020202020204" pitchFamily="34" charset="0"/>
              </a:defRPr>
            </a:lvl1pPr>
          </a:lstStyle>
          <a:p>
            <a:fld id="{1D8BD707-D9CF-40AE-B4C6-C98DA3205C09}" type="datetimeFigureOut">
              <a:rPr lang="en-US" smtClean="0"/>
              <a:pPr/>
              <a:t>10/27/25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b="0" i="0">
                <a:solidFill>
                  <a:schemeClr val="tx1">
                    <a:tint val="75000"/>
                  </a:schemeClr>
                </a:solidFill>
                <a:latin typeface="Aptos" panose="020B0004020202020204" pitchFamily="34"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0" i="0">
                <a:solidFill>
                  <a:schemeClr val="tx1">
                    <a:tint val="75000"/>
                  </a:schemeClr>
                </a:solidFill>
                <a:latin typeface="Aptos" panose="020B0004020202020204" pitchFamily="34" charset="0"/>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3" r:id="rId1"/>
    <p:sldLayoutId id="2147483700" r:id="rId2"/>
    <p:sldLayoutId id="2147483667" r:id="rId3"/>
    <p:sldLayoutId id="2147483671" r:id="rId4"/>
    <p:sldLayoutId id="2147483701" r:id="rId5"/>
  </p:sldLayoutIdLst>
  <p:txStyles>
    <p:titleStyle>
      <a:lvl1pPr algn="l" defTabSz="914400" rtl="0" eaLnBrk="1" latinLnBrk="0" hangingPunct="1">
        <a:lnSpc>
          <a:spcPts val="14620"/>
        </a:lnSpc>
        <a:spcBef>
          <a:spcPct val="0"/>
        </a:spcBef>
        <a:buNone/>
        <a:defRPr sz="6600" b="0" i="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914400" indent="-45720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257300" indent="-342900" algn="l" defTabSz="914400" rtl="0" eaLnBrk="1" latinLnBrk="0" hangingPunct="1">
        <a:spcBef>
          <a:spcPct val="20000"/>
        </a:spcBef>
        <a:buFont typeface="Arial" panose="020B0604020202020204"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714500" indent="-342900" algn="l" defTabSz="914400" rtl="0" eaLnBrk="1" latinLnBrk="0" hangingPunct="1">
        <a:spcBef>
          <a:spcPct val="20000"/>
        </a:spcBef>
        <a:buFont typeface="Arial" panose="020B0604020202020204"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171700" indent="-342900" algn="l" defTabSz="914400" rtl="0" eaLnBrk="1" latinLnBrk="0" hangingPunct="1">
        <a:spcBef>
          <a:spcPct val="20000"/>
        </a:spcBef>
        <a:buFont typeface="Arial" panose="020B0604020202020204"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nsgreg.nga.mil/doc/view?i=5469&amp;month=10&amp;day=16&amp;year=2025"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www.asprs.org/a/publications/proceedings/IGTF2016/IGTF2016-000255.pdf?utm_source=chatgpt.com" TargetMode="External"/><Relationship Id="rId3" Type="http://schemas.openxmlformats.org/officeDocument/2006/relationships/hyperlink" Target="https://portal.ogc.org/files/?artifact_id=33234&amp;utm_source=chatgpt.com" TargetMode="External"/><Relationship Id="rId7" Type="http://schemas.openxmlformats.org/officeDocument/2006/relationships/hyperlink" Target="https://www.sdsfie.mil/data/SDSFIE-R-Rev1-FINAL-20240513.pdf?utm_source=chatgpt.com" TargetMode="External"/><Relationship Id="rId2" Type="http://schemas.openxmlformats.org/officeDocument/2006/relationships/hyperlink" Target="https://www.ogc.org/publications/standard/om/?utm_source=chatgpt.com" TargetMode="External"/><Relationship Id="rId1" Type="http://schemas.openxmlformats.org/officeDocument/2006/relationships/slideLayout" Target="../slideLayouts/slideLayout2.xml"/><Relationship Id="rId6" Type="http://schemas.openxmlformats.org/officeDocument/2006/relationships/hyperlink" Target="https://www.iso.org/standard/81088.html?utm_source=chatgpt.com" TargetMode="External"/><Relationship Id="rId5" Type="http://schemas.openxmlformats.org/officeDocument/2006/relationships/hyperlink" Target="https://cdn.standards.iteh.ai/samples/78900/96ad08103cea4bb7bf4cac7990c7dd38/ISO-19157-1-2023.pdf?utm_source=chatgpt.com" TargetMode="External"/><Relationship Id="rId10" Type="http://schemas.openxmlformats.org/officeDocument/2006/relationships/hyperlink" Target="https://upload.wikimedia.org/wikipedia/commons/1/19/MISB_Standard_0601.pdf?utm_source=chatgpt.com" TargetMode="External"/><Relationship Id="rId4" Type="http://schemas.openxmlformats.org/officeDocument/2006/relationships/hyperlink" Target="https://datatracker.ietf.org/doc/html/rfc7459?utm_source=chatgpt.com" TargetMode="External"/><Relationship Id="rId9" Type="http://schemas.openxmlformats.org/officeDocument/2006/relationships/hyperlink" Target="https://www.mdpi.com/2072-4292/16/4/648?utm_source=chatgpt.com"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s://upload.wikimedia.org/wikipedia/commons/1/19/MISB_Standard_0601.pdf?utm_source=chatgpt.co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asprs.org/a/publications/proceedings/IGTF2016/IGTF2016-000255.pdf?utm_source=chatgpt.co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mdpi.com/2072-4292/16/4/648?utm_source=chatgpt.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EBA7BB-BFCF-80E7-2506-1EE9332E6C45}"/>
              </a:ext>
            </a:extLst>
          </p:cNvPr>
          <p:cNvSpPr>
            <a:spLocks noGrp="1"/>
          </p:cNvSpPr>
          <p:nvPr>
            <p:ph type="title"/>
          </p:nvPr>
        </p:nvSpPr>
        <p:spPr>
          <a:xfrm>
            <a:off x="990600" y="8479631"/>
            <a:ext cx="6248400" cy="947738"/>
          </a:xfrm>
        </p:spPr>
        <p:txBody>
          <a:bodyPr/>
          <a:lstStyle/>
          <a:p>
            <a:r>
              <a:rPr lang="en-US" dirty="0"/>
              <a:t>Jim Antonisse, </a:t>
            </a:r>
            <a:r>
              <a:rPr lang="en-US" dirty="0" err="1"/>
              <a:t>WiSC</a:t>
            </a:r>
            <a:r>
              <a:rPr lang="en-US" dirty="0"/>
              <a:t>/NGA-TAEB</a:t>
            </a:r>
            <a:br>
              <a:rPr lang="en-US" dirty="0"/>
            </a:br>
            <a:r>
              <a:rPr lang="en-US" dirty="0"/>
              <a:t> Supporting </a:t>
            </a:r>
            <a:r>
              <a:rPr lang="en-US" dirty="0" err="1"/>
              <a:t>Mirsada</a:t>
            </a:r>
            <a:r>
              <a:rPr lang="en-US" dirty="0"/>
              <a:t> </a:t>
            </a:r>
            <a:r>
              <a:rPr lang="en-US" dirty="0" err="1"/>
              <a:t>Beganovic</a:t>
            </a:r>
            <a:r>
              <a:rPr lang="en-US" dirty="0"/>
              <a:t>, NGA/TAEB</a:t>
            </a:r>
            <a:br>
              <a:rPr lang="en-US" dirty="0"/>
            </a:br>
            <a:r>
              <a:rPr lang="en-US" dirty="0"/>
              <a:t>28 October 2025</a:t>
            </a:r>
          </a:p>
        </p:txBody>
      </p:sp>
      <p:sp>
        <p:nvSpPr>
          <p:cNvPr id="9" name="Text Placeholder 1">
            <a:extLst>
              <a:ext uri="{FF2B5EF4-FFF2-40B4-BE49-F238E27FC236}">
                <a16:creationId xmlns:a16="http://schemas.microsoft.com/office/drawing/2014/main" id="{FADEEFC8-FA9B-D02C-5254-F4E23F97E2A5}"/>
              </a:ext>
            </a:extLst>
          </p:cNvPr>
          <p:cNvSpPr>
            <a:spLocks noGrp="1"/>
          </p:cNvSpPr>
          <p:nvPr>
            <p:ph type="body" sz="quarter" idx="11"/>
          </p:nvPr>
        </p:nvSpPr>
        <p:spPr>
          <a:xfrm>
            <a:off x="685800" y="1409700"/>
            <a:ext cx="10929730" cy="2971800"/>
          </a:xfrm>
        </p:spPr>
        <p:txBody>
          <a:bodyPr/>
          <a:lstStyle/>
          <a:p>
            <a:r>
              <a:rPr lang="en-US" sz="7200" dirty="0"/>
              <a:t>Some comments on Task 7 </a:t>
            </a:r>
            <a:br>
              <a:rPr lang="en-US" sz="7200" dirty="0"/>
            </a:br>
            <a:r>
              <a:rPr lang="en-US" sz="7200" dirty="0"/>
              <a:t>– Uncertainty/Confidence</a:t>
            </a:r>
            <a:endParaRPr lang="en-US" dirty="0"/>
          </a:p>
        </p:txBody>
      </p:sp>
      <p:sp>
        <p:nvSpPr>
          <p:cNvPr id="10" name="Text Placeholder 3">
            <a:extLst>
              <a:ext uri="{FF2B5EF4-FFF2-40B4-BE49-F238E27FC236}">
                <a16:creationId xmlns:a16="http://schemas.microsoft.com/office/drawing/2014/main" id="{A04C5659-F089-BE9E-C7F7-FBEDD19FB92D}"/>
              </a:ext>
            </a:extLst>
          </p:cNvPr>
          <p:cNvSpPr>
            <a:spLocks noGrp="1"/>
          </p:cNvSpPr>
          <p:nvPr>
            <p:ph type="body" sz="half" idx="12"/>
          </p:nvPr>
        </p:nvSpPr>
        <p:spPr>
          <a:xfrm>
            <a:off x="722030" y="4477662"/>
            <a:ext cx="11393769" cy="1961238"/>
          </a:xfrm>
        </p:spPr>
        <p:txBody>
          <a:bodyPr>
            <a:noAutofit/>
          </a:bodyPr>
          <a:lstStyle>
            <a:lvl1pPr marL="0" indent="0">
              <a:buNone/>
              <a:defRPr sz="6500" b="0" i="0" baseline="30000">
                <a:solidFill>
                  <a:schemeClr val="bg1"/>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IN" dirty="0"/>
              <a:t>The 133rd OGC Member Meeting/</a:t>
            </a:r>
            <a:r>
              <a:rPr lang="en-IN" dirty="0" err="1"/>
              <a:t>Geopose</a:t>
            </a:r>
            <a:r>
              <a:rPr lang="en-IN" dirty="0"/>
              <a:t> SWG, Boulder, Colorado USA</a:t>
            </a:r>
            <a:endParaRPr lang="en-US" dirty="0"/>
          </a:p>
        </p:txBody>
      </p:sp>
      <p:sp>
        <p:nvSpPr>
          <p:cNvPr id="2" name="Title 1">
            <a:extLst>
              <a:ext uri="{FF2B5EF4-FFF2-40B4-BE49-F238E27FC236}">
                <a16:creationId xmlns:a16="http://schemas.microsoft.com/office/drawing/2014/main" id="{A9DFFC3A-FFC8-4C46-8824-FA674823F6AD}"/>
              </a:ext>
            </a:extLst>
          </p:cNvPr>
          <p:cNvSpPr txBox="1">
            <a:spLocks/>
          </p:cNvSpPr>
          <p:nvPr/>
        </p:nvSpPr>
        <p:spPr>
          <a:xfrm>
            <a:off x="14401800" y="8041128"/>
            <a:ext cx="2700130" cy="461259"/>
          </a:xfrm>
          <a:prstGeom prst="rect">
            <a:avLst/>
          </a:prstGeom>
        </p:spPr>
        <p:txBody>
          <a:bodyPr vert="horz" lIns="91440" tIns="45720" rIns="91440" bIns="45720" rtlCol="0" anchor="b">
            <a:noAutofit/>
          </a:bodyPr>
          <a:lstStyle>
            <a:lvl1pPr algn="l" defTabSz="914400" rtl="0" eaLnBrk="1" latinLnBrk="0" hangingPunct="1">
              <a:lnSpc>
                <a:spcPts val="14620"/>
              </a:lnSpc>
              <a:spcBef>
                <a:spcPct val="0"/>
              </a:spcBef>
              <a:buNone/>
              <a:defRPr sz="2500" b="1" i="0" kern="1200">
                <a:solidFill>
                  <a:srgbClr val="1A2584"/>
                </a:solidFill>
                <a:latin typeface="Aptos" panose="020B0004020202020204" pitchFamily="34" charset="0"/>
                <a:ea typeface="+mj-ea"/>
                <a:cs typeface="+mj-cs"/>
              </a:defRPr>
            </a:lvl1pPr>
          </a:lstStyle>
          <a:p>
            <a:r>
              <a:rPr lang="en-US" sz="2400" dirty="0">
                <a:solidFill>
                  <a:schemeClr val="bg1"/>
                </a:solidFill>
              </a:rPr>
              <a:t>Meeting Sponsor</a:t>
            </a:r>
          </a:p>
        </p:txBody>
      </p:sp>
      <p:pic>
        <p:nvPicPr>
          <p:cNvPr id="3" name="Picture 2">
            <a:extLst>
              <a:ext uri="{FF2B5EF4-FFF2-40B4-BE49-F238E27FC236}">
                <a16:creationId xmlns:a16="http://schemas.microsoft.com/office/drawing/2014/main" id="{3CC9DD1D-1CFF-7279-B8DA-B454F7516F1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953340" y="8479631"/>
            <a:ext cx="6610260" cy="1391633"/>
          </a:xfrm>
          <a:prstGeom prst="rect">
            <a:avLst/>
          </a:prstGeom>
        </p:spPr>
      </p:pic>
      <p:pic>
        <p:nvPicPr>
          <p:cNvPr id="6" name="Picture 5">
            <a:extLst>
              <a:ext uri="{FF2B5EF4-FFF2-40B4-BE49-F238E27FC236}">
                <a16:creationId xmlns:a16="http://schemas.microsoft.com/office/drawing/2014/main" id="{6B89C5E2-2771-37ED-347B-7D5EA139238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335000" y="8618500"/>
            <a:ext cx="4567985" cy="1113893"/>
          </a:xfrm>
          <a:prstGeom prst="rect">
            <a:avLst/>
          </a:prstGeom>
        </p:spPr>
      </p:pic>
      <p:sp>
        <p:nvSpPr>
          <p:cNvPr id="7" name="Title 1">
            <a:extLst>
              <a:ext uri="{FF2B5EF4-FFF2-40B4-BE49-F238E27FC236}">
                <a16:creationId xmlns:a16="http://schemas.microsoft.com/office/drawing/2014/main" id="{DFDE0403-12DD-71D3-EC38-74F2B6D65975}"/>
              </a:ext>
            </a:extLst>
          </p:cNvPr>
          <p:cNvSpPr txBox="1">
            <a:spLocks/>
          </p:cNvSpPr>
          <p:nvPr/>
        </p:nvSpPr>
        <p:spPr>
          <a:xfrm>
            <a:off x="9132405" y="7810499"/>
            <a:ext cx="2700130" cy="461259"/>
          </a:xfrm>
          <a:prstGeom prst="rect">
            <a:avLst/>
          </a:prstGeom>
        </p:spPr>
        <p:txBody>
          <a:bodyPr vert="horz" lIns="91440" tIns="45720" rIns="91440" bIns="45720" rtlCol="0" anchor="b">
            <a:noAutofit/>
          </a:bodyPr>
          <a:lstStyle>
            <a:lvl1pPr algn="l" defTabSz="914400" rtl="0" eaLnBrk="1" latinLnBrk="0" hangingPunct="1">
              <a:lnSpc>
                <a:spcPts val="14620"/>
              </a:lnSpc>
              <a:spcBef>
                <a:spcPct val="0"/>
              </a:spcBef>
              <a:buNone/>
              <a:defRPr sz="2500" b="1" i="0" kern="1200">
                <a:solidFill>
                  <a:srgbClr val="1A2584"/>
                </a:solidFill>
                <a:latin typeface="Aptos" panose="020B0004020202020204" pitchFamily="34" charset="0"/>
                <a:ea typeface="+mj-ea"/>
                <a:cs typeface="+mj-cs"/>
              </a:defRPr>
            </a:lvl1pPr>
          </a:lstStyle>
          <a:p>
            <a:r>
              <a:rPr lang="en-US" sz="2400" dirty="0">
                <a:solidFill>
                  <a:schemeClr val="bg1"/>
                </a:solidFill>
              </a:rPr>
              <a:t>Meeting Host</a:t>
            </a:r>
          </a:p>
        </p:txBody>
      </p:sp>
    </p:spTree>
    <p:extLst>
      <p:ext uri="{BB962C8B-B14F-4D97-AF65-F5344CB8AC3E}">
        <p14:creationId xmlns:p14="http://schemas.microsoft.com/office/powerpoint/2010/main" val="3761786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CCA88-BD6A-AE7C-40E5-04AD1B4B0E8D}"/>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CFC54165-2C68-8848-8B61-880546D09C29}"/>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6682" y="1693034"/>
            <a:ext cx="18288000" cy="4776576"/>
          </a:xfrm>
          <a:prstGeom prst="rect">
            <a:avLst/>
          </a:prstGeom>
        </p:spPr>
      </p:pic>
      <p:sp>
        <p:nvSpPr>
          <p:cNvPr id="2" name="Text Placeholder 1">
            <a:extLst>
              <a:ext uri="{FF2B5EF4-FFF2-40B4-BE49-F238E27FC236}">
                <a16:creationId xmlns:a16="http://schemas.microsoft.com/office/drawing/2014/main" id="{0DB277D6-12A1-0670-D6BB-E318C4012840}"/>
              </a:ext>
            </a:extLst>
          </p:cNvPr>
          <p:cNvSpPr>
            <a:spLocks noGrp="1"/>
          </p:cNvSpPr>
          <p:nvPr>
            <p:ph type="body" idx="16"/>
          </p:nvPr>
        </p:nvSpPr>
        <p:spPr>
          <a:xfrm>
            <a:off x="890789" y="6672362"/>
            <a:ext cx="16598236" cy="3041847"/>
          </a:xfrm>
        </p:spPr>
        <p:txBody>
          <a:bodyPr/>
          <a:lstStyle/>
          <a:p>
            <a:pPr indent="0">
              <a:buNone/>
            </a:pPr>
            <a:r>
              <a:rPr lang="en-US" sz="2800" dirty="0"/>
              <a:t>	Knowing the world means </a:t>
            </a:r>
          </a:p>
          <a:p>
            <a:pPr lvl="2"/>
            <a:r>
              <a:rPr lang="en-US" sz="2400" dirty="0"/>
              <a:t>Acquiring what is not yet known</a:t>
            </a:r>
          </a:p>
          <a:p>
            <a:pPr lvl="2"/>
            <a:r>
              <a:rPr lang="en-US" sz="2400" dirty="0"/>
              <a:t>Understanding how precise our knowledge is</a:t>
            </a:r>
          </a:p>
          <a:p>
            <a:pPr lvl="2"/>
            <a:r>
              <a:rPr lang="en-US" sz="2400" dirty="0"/>
              <a:t>And knowing how well we know</a:t>
            </a:r>
            <a:endParaRPr lang="en-US" sz="2400" i="1" dirty="0"/>
          </a:p>
        </p:txBody>
      </p:sp>
      <p:sp>
        <p:nvSpPr>
          <p:cNvPr id="3" name="Title 2">
            <a:extLst>
              <a:ext uri="{FF2B5EF4-FFF2-40B4-BE49-F238E27FC236}">
                <a16:creationId xmlns:a16="http://schemas.microsoft.com/office/drawing/2014/main" id="{D4ACC504-3C61-B7CF-89C2-C8B6E73A9504}"/>
              </a:ext>
            </a:extLst>
          </p:cNvPr>
          <p:cNvSpPr>
            <a:spLocks noGrp="1"/>
          </p:cNvSpPr>
          <p:nvPr>
            <p:ph type="title"/>
          </p:nvPr>
        </p:nvSpPr>
        <p:spPr/>
        <p:txBody>
          <a:bodyPr/>
          <a:lstStyle/>
          <a:p>
            <a:r>
              <a:rPr lang="en-US" sz="4400" dirty="0"/>
              <a:t>NGA Interest in </a:t>
            </a:r>
            <a:r>
              <a:rPr lang="en-US" sz="4400" dirty="0" err="1"/>
              <a:t>GeoPose</a:t>
            </a:r>
            <a:r>
              <a:rPr lang="en-US" sz="4400" dirty="0"/>
              <a:t> Uncertainty/Confidence</a:t>
            </a:r>
            <a:endParaRPr lang="en-US" dirty="0"/>
          </a:p>
        </p:txBody>
      </p:sp>
      <p:sp>
        <p:nvSpPr>
          <p:cNvPr id="5" name="TextBox 4">
            <a:extLst>
              <a:ext uri="{FF2B5EF4-FFF2-40B4-BE49-F238E27FC236}">
                <a16:creationId xmlns:a16="http://schemas.microsoft.com/office/drawing/2014/main" id="{C9E09A95-7289-8244-8737-BC38F5652DF7}"/>
              </a:ext>
            </a:extLst>
          </p:cNvPr>
          <p:cNvSpPr txBox="1"/>
          <p:nvPr/>
        </p:nvSpPr>
        <p:spPr>
          <a:xfrm>
            <a:off x="422548" y="216944"/>
            <a:ext cx="9742539"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r>
              <a:rPr lang="en-US" sz="2400" dirty="0"/>
              <a:t>Goal &lt; propose a Standard way to express uncertainty/confidence in </a:t>
            </a:r>
            <a:r>
              <a:rPr lang="en-US" sz="2400" dirty="0" err="1"/>
              <a:t>GeoPose</a:t>
            </a:r>
            <a:endParaRPr lang="en-US" sz="2400" dirty="0"/>
          </a:p>
        </p:txBody>
      </p:sp>
      <p:pic>
        <p:nvPicPr>
          <p:cNvPr id="19" name="Picture 18">
            <a:extLst>
              <a:ext uri="{FF2B5EF4-FFF2-40B4-BE49-F238E27FC236}">
                <a16:creationId xmlns:a16="http://schemas.microsoft.com/office/drawing/2014/main" id="{4E44717B-E255-8D42-89B0-1A80D32BE7B6}"/>
              </a:ext>
            </a:extLst>
          </p:cNvPr>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8146718" y="7711177"/>
            <a:ext cx="1888368" cy="1928123"/>
          </a:xfrm>
          <a:prstGeom prst="rect">
            <a:avLst/>
          </a:prstGeom>
        </p:spPr>
      </p:pic>
      <p:sp>
        <p:nvSpPr>
          <p:cNvPr id="10" name="Text Placeholder 1">
            <a:extLst>
              <a:ext uri="{FF2B5EF4-FFF2-40B4-BE49-F238E27FC236}">
                <a16:creationId xmlns:a16="http://schemas.microsoft.com/office/drawing/2014/main" id="{C2B8141F-04AC-2745-B7AB-AD94CA84B63F}"/>
              </a:ext>
            </a:extLst>
          </p:cNvPr>
          <p:cNvSpPr txBox="1">
            <a:spLocks/>
          </p:cNvSpPr>
          <p:nvPr/>
        </p:nvSpPr>
        <p:spPr>
          <a:xfrm>
            <a:off x="-62836" y="4684123"/>
            <a:ext cx="16598236" cy="1563545"/>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anose="020B0604020202020204" pitchFamily="34" charset="0"/>
              <a:buChar char="•"/>
              <a:defRPr sz="3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200150" indent="-28575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371600" indent="0" algn="l" defTabSz="914400" rtl="0" eaLnBrk="1" latinLnBrk="0" hangingPunct="1">
              <a:spcBef>
                <a:spcPct val="20000"/>
              </a:spcBef>
              <a:buFont typeface="Arial" panose="020B0604020202020204"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4pPr>
            <a:lvl5pPr marL="1828800" indent="0" algn="l" defTabSz="914400" rtl="0" eaLnBrk="1" latinLnBrk="0" hangingPunct="1">
              <a:spcBef>
                <a:spcPct val="20000"/>
              </a:spcBef>
              <a:buFont typeface="Arial" panose="020B0604020202020204"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indent="0">
              <a:buFont typeface="Arial" panose="020B0604020202020204" pitchFamily="34" charset="0"/>
              <a:buNone/>
            </a:pPr>
            <a:r>
              <a:rPr lang="en-US" sz="3600" dirty="0">
                <a:solidFill>
                  <a:schemeClr val="bg1"/>
                </a:solidFill>
              </a:rPr>
              <a:t>NGA’s Mission:  </a:t>
            </a:r>
          </a:p>
          <a:p>
            <a:pPr indent="0">
              <a:buFont typeface="Arial" panose="020B0604020202020204" pitchFamily="34" charset="0"/>
              <a:buNone/>
            </a:pPr>
            <a:r>
              <a:rPr lang="en-US" sz="3600" dirty="0">
                <a:solidFill>
                  <a:schemeClr val="bg1"/>
                </a:solidFill>
              </a:rPr>
              <a:t>	“Know the World, Show the Way…from Seabed to Space”</a:t>
            </a:r>
            <a:endParaRPr lang="en-US" sz="2400" i="1" dirty="0"/>
          </a:p>
        </p:txBody>
      </p:sp>
      <p:sp>
        <p:nvSpPr>
          <p:cNvPr id="11" name="Text Placeholder 1">
            <a:extLst>
              <a:ext uri="{FF2B5EF4-FFF2-40B4-BE49-F238E27FC236}">
                <a16:creationId xmlns:a16="http://schemas.microsoft.com/office/drawing/2014/main" id="{DD9033D6-37CA-7F4B-A607-9243C8DEA475}"/>
              </a:ext>
            </a:extLst>
          </p:cNvPr>
          <p:cNvSpPr txBox="1">
            <a:spLocks/>
          </p:cNvSpPr>
          <p:nvPr/>
        </p:nvSpPr>
        <p:spPr>
          <a:xfrm>
            <a:off x="-152400" y="1895786"/>
            <a:ext cx="16598236" cy="1096229"/>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anose="020B0604020202020204" pitchFamily="34" charset="0"/>
              <a:buChar char="•"/>
              <a:defRPr sz="3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200150" indent="-28575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371600" indent="0" algn="l" defTabSz="914400" rtl="0" eaLnBrk="1" latinLnBrk="0" hangingPunct="1">
              <a:spcBef>
                <a:spcPct val="20000"/>
              </a:spcBef>
              <a:buFont typeface="Arial" panose="020B0604020202020204"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4pPr>
            <a:lvl5pPr marL="1828800" indent="0" algn="l" defTabSz="914400" rtl="0" eaLnBrk="1" latinLnBrk="0" hangingPunct="1">
              <a:spcBef>
                <a:spcPct val="20000"/>
              </a:spcBef>
              <a:buFont typeface="Arial" panose="020B0604020202020204"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indent="0">
              <a:buNone/>
            </a:pPr>
            <a:r>
              <a:rPr lang="en-US" sz="4400" b="1" dirty="0">
                <a:solidFill>
                  <a:schemeClr val="bg1"/>
                </a:solidFill>
              </a:rPr>
              <a:t>National Geospatial-Intelligence Agency (NGA)</a:t>
            </a:r>
            <a:endParaRPr lang="en-US" sz="3200" b="1" i="1" dirty="0">
              <a:solidFill>
                <a:schemeClr val="bg1"/>
              </a:solidFill>
            </a:endParaRPr>
          </a:p>
        </p:txBody>
      </p:sp>
      <p:sp>
        <p:nvSpPr>
          <p:cNvPr id="4" name="TextBox 3">
            <a:extLst>
              <a:ext uri="{FF2B5EF4-FFF2-40B4-BE49-F238E27FC236}">
                <a16:creationId xmlns:a16="http://schemas.microsoft.com/office/drawing/2014/main" id="{1FB2C76F-FCF1-7F4B-A5F1-1C10804D7327}"/>
              </a:ext>
            </a:extLst>
          </p:cNvPr>
          <p:cNvSpPr txBox="1"/>
          <p:nvPr/>
        </p:nvSpPr>
        <p:spPr>
          <a:xfrm>
            <a:off x="8915400" y="9301851"/>
            <a:ext cx="5555047" cy="923330"/>
          </a:xfrm>
          <a:prstGeom prst="rect">
            <a:avLst/>
          </a:prstGeom>
          <a:noFill/>
        </p:spPr>
        <p:txBody>
          <a:bodyPr wrap="none" rtlCol="0">
            <a:spAutoFit/>
          </a:bodyPr>
          <a:lstStyle/>
          <a:p>
            <a:pPr algn="r"/>
            <a:r>
              <a:rPr lang="en-US" i="1" dirty="0"/>
              <a:t>Views and opinions expressed here are my own </a:t>
            </a:r>
          </a:p>
          <a:p>
            <a:pPr algn="r"/>
            <a:r>
              <a:rPr lang="en-US" i="1" dirty="0"/>
              <a:t>and do not necessarily represent official views of the NGA</a:t>
            </a:r>
          </a:p>
          <a:p>
            <a:pPr algn="r"/>
            <a:r>
              <a:rPr lang="en-US" i="1" dirty="0"/>
              <a:t>-- Jim.</a:t>
            </a:r>
          </a:p>
        </p:txBody>
      </p:sp>
    </p:spTree>
    <p:extLst>
      <p:ext uri="{BB962C8B-B14F-4D97-AF65-F5344CB8AC3E}">
        <p14:creationId xmlns:p14="http://schemas.microsoft.com/office/powerpoint/2010/main" val="4013371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D95E8B-46FB-DAED-3980-A4115267D575}"/>
              </a:ext>
            </a:extLst>
          </p:cNvPr>
          <p:cNvSpPr>
            <a:spLocks noGrp="1"/>
          </p:cNvSpPr>
          <p:nvPr>
            <p:ph type="body" idx="16"/>
          </p:nvPr>
        </p:nvSpPr>
        <p:spPr/>
        <p:txBody>
          <a:bodyPr/>
          <a:lstStyle/>
          <a:p>
            <a:r>
              <a:rPr lang="en-US" dirty="0"/>
              <a:t>Status: Apps seldom expose uncertainty</a:t>
            </a:r>
          </a:p>
          <a:p>
            <a:r>
              <a:rPr lang="en-US" dirty="0"/>
              <a:t>Goal: </a:t>
            </a:r>
            <a:r>
              <a:rPr lang="en-US" sz="2800" dirty="0"/>
              <a:t>Syntactically share levels of confidence</a:t>
            </a:r>
            <a:endParaRPr lang="en-US" dirty="0"/>
          </a:p>
          <a:p>
            <a:r>
              <a:rPr lang="en-US" dirty="0"/>
              <a:t>Approach: </a:t>
            </a:r>
            <a:r>
              <a:rPr lang="en-US" sz="2800" dirty="0"/>
              <a:t>Recover Previous Work</a:t>
            </a:r>
            <a:endParaRPr lang="en-US" dirty="0"/>
          </a:p>
          <a:p>
            <a:r>
              <a:rPr lang="en-US" dirty="0"/>
              <a:t>Progress: </a:t>
            </a:r>
            <a:r>
              <a:rPr lang="en-US" sz="2800" dirty="0"/>
              <a:t>Some possible solutions found</a:t>
            </a:r>
            <a:endParaRPr lang="en-US" dirty="0"/>
          </a:p>
          <a:p>
            <a:r>
              <a:rPr lang="en-US" dirty="0"/>
              <a:t>Next: </a:t>
            </a:r>
            <a:r>
              <a:rPr lang="en-US" sz="2800" dirty="0"/>
              <a:t>Socialize the question, recruit the answer</a:t>
            </a:r>
            <a:endParaRPr lang="en-US" dirty="0"/>
          </a:p>
          <a:p>
            <a:endParaRPr lang="en-US" dirty="0"/>
          </a:p>
        </p:txBody>
      </p:sp>
      <p:sp>
        <p:nvSpPr>
          <p:cNvPr id="3" name="Title 2">
            <a:extLst>
              <a:ext uri="{FF2B5EF4-FFF2-40B4-BE49-F238E27FC236}">
                <a16:creationId xmlns:a16="http://schemas.microsoft.com/office/drawing/2014/main" id="{91F395F5-0DF7-5C8D-7692-B319211B553F}"/>
              </a:ext>
            </a:extLst>
          </p:cNvPr>
          <p:cNvSpPr>
            <a:spLocks noGrp="1"/>
          </p:cNvSpPr>
          <p:nvPr>
            <p:ph type="title"/>
          </p:nvPr>
        </p:nvSpPr>
        <p:spPr/>
        <p:txBody>
          <a:bodyPr/>
          <a:lstStyle/>
          <a:p>
            <a:r>
              <a:rPr lang="en-US" dirty="0">
                <a:latin typeface="Aptos"/>
              </a:rPr>
              <a:t>Agenda</a:t>
            </a:r>
            <a:endParaRPr lang="en-US" dirty="0"/>
          </a:p>
        </p:txBody>
      </p:sp>
    </p:spTree>
    <p:extLst>
      <p:ext uri="{BB962C8B-B14F-4D97-AF65-F5344CB8AC3E}">
        <p14:creationId xmlns:p14="http://schemas.microsoft.com/office/powerpoint/2010/main" val="1162538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8A4395-19E6-60A6-03CF-8026CD2CBE5B}"/>
              </a:ext>
            </a:extLst>
          </p:cNvPr>
          <p:cNvSpPr>
            <a:spLocks noGrp="1"/>
          </p:cNvSpPr>
          <p:nvPr>
            <p:ph type="title"/>
          </p:nvPr>
        </p:nvSpPr>
        <p:spPr>
          <a:xfrm>
            <a:off x="705168" y="5981700"/>
            <a:ext cx="14839631" cy="3301612"/>
          </a:xfrm>
        </p:spPr>
        <p:txBody>
          <a:bodyPr/>
          <a:lstStyle/>
          <a:p>
            <a:r>
              <a:rPr lang="en-US" sz="8800" dirty="0"/>
              <a:t>Status: </a:t>
            </a:r>
            <a:r>
              <a:rPr lang="en-US" sz="9600" dirty="0"/>
              <a:t>Apps seldom expose uncertainty</a:t>
            </a:r>
            <a:br>
              <a:rPr lang="en-US" sz="9600" dirty="0"/>
            </a:br>
            <a:endParaRPr lang="en-US" sz="8800" dirty="0"/>
          </a:p>
        </p:txBody>
      </p:sp>
    </p:spTree>
    <p:extLst>
      <p:ext uri="{BB962C8B-B14F-4D97-AF65-F5344CB8AC3E}">
        <p14:creationId xmlns:p14="http://schemas.microsoft.com/office/powerpoint/2010/main" val="3448002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F4CD70-87FC-5646-BD16-8116243A55EE}"/>
              </a:ext>
            </a:extLst>
          </p:cNvPr>
          <p:cNvSpPr>
            <a:spLocks noGrp="1"/>
          </p:cNvSpPr>
          <p:nvPr>
            <p:ph type="body" idx="16"/>
          </p:nvPr>
        </p:nvSpPr>
        <p:spPr>
          <a:xfrm>
            <a:off x="6155766" y="2834642"/>
            <a:ext cx="11658600" cy="6853503"/>
          </a:xfrm>
        </p:spPr>
        <p:txBody>
          <a:bodyPr/>
          <a:lstStyle/>
          <a:p>
            <a:r>
              <a:rPr lang="en-US" dirty="0"/>
              <a:t>We desire a way to describe levels of accuracy – based on the foundations of probability - for the elements of </a:t>
            </a:r>
            <a:r>
              <a:rPr lang="en-US" dirty="0" err="1"/>
              <a:t>GeoPose</a:t>
            </a:r>
            <a:endParaRPr lang="en-US" dirty="0"/>
          </a:p>
          <a:p>
            <a:r>
              <a:rPr lang="en-US" dirty="0"/>
              <a:t>Application is intended to be across the 7 </a:t>
            </a:r>
            <a:r>
              <a:rPr lang="en-US" dirty="0" err="1"/>
              <a:t>DoF</a:t>
            </a:r>
            <a:r>
              <a:rPr lang="en-US" dirty="0"/>
              <a:t> of a </a:t>
            </a:r>
            <a:r>
              <a:rPr lang="en-US" dirty="0" err="1"/>
              <a:t>GeoPose</a:t>
            </a:r>
            <a:r>
              <a:rPr lang="en-US" dirty="0"/>
              <a:t> record</a:t>
            </a:r>
          </a:p>
          <a:p>
            <a:pPr lvl="1"/>
            <a:r>
              <a:rPr lang="en-US" dirty="0"/>
              <a:t>These may sometimes be assumed independent</a:t>
            </a:r>
          </a:p>
          <a:p>
            <a:pPr lvl="2"/>
            <a:r>
              <a:rPr lang="en-US" dirty="0"/>
              <a:t>Allowing standard probability intervals to be used to express confidence.  </a:t>
            </a:r>
            <a:r>
              <a:rPr lang="en-US" dirty="0" err="1"/>
              <a:t>E.g</a:t>
            </a:r>
            <a:r>
              <a:rPr lang="en-US" dirty="0"/>
              <a:t>, “Linear Error 90” - 90% </a:t>
            </a:r>
            <a:r>
              <a:rPr lang="en-US" dirty="0" err="1"/>
              <a:t>prob</a:t>
            </a:r>
            <a:r>
              <a:rPr lang="en-US" dirty="0"/>
              <a:t> X is between .4 and .6</a:t>
            </a:r>
          </a:p>
          <a:p>
            <a:pPr lvl="1"/>
            <a:r>
              <a:rPr lang="en-US" dirty="0"/>
              <a:t>But the 7 </a:t>
            </a:r>
            <a:r>
              <a:rPr lang="en-US" dirty="0" err="1"/>
              <a:t>DoF</a:t>
            </a:r>
            <a:r>
              <a:rPr lang="en-US" dirty="0"/>
              <a:t> might be co-dependent</a:t>
            </a:r>
          </a:p>
          <a:p>
            <a:pPr lvl="2"/>
            <a:r>
              <a:rPr lang="en-US" dirty="0"/>
              <a:t>Requiring either some kind </a:t>
            </a:r>
            <a:r>
              <a:rPr lang="en-US" dirty="0" err="1"/>
              <a:t>os</a:t>
            </a:r>
            <a:r>
              <a:rPr lang="en-US" dirty="0"/>
              <a:t> covariance statistics to be expressed, or some kind of “representation trick” to be used</a:t>
            </a:r>
          </a:p>
          <a:p>
            <a:pPr lvl="2"/>
            <a:r>
              <a:rPr lang="en-US" dirty="0" err="1"/>
              <a:t>E.g</a:t>
            </a:r>
            <a:r>
              <a:rPr lang="en-US" dirty="0"/>
              <a:t>, “Circular Error 90” - it is 90% certain that (X,Y) is between .4 and .6</a:t>
            </a:r>
          </a:p>
          <a:p>
            <a:r>
              <a:rPr lang="en-US" dirty="0"/>
              <a:t>NOTE – this presentation is taking the </a:t>
            </a:r>
            <a:r>
              <a:rPr lang="en-US" i="1" dirty="0"/>
              <a:t>categorical</a:t>
            </a:r>
            <a:r>
              <a:rPr lang="en-US" dirty="0"/>
              <a:t> uncertainty of the object whose pose is being described to be out of scope of this investigation</a:t>
            </a:r>
          </a:p>
        </p:txBody>
      </p:sp>
      <p:sp>
        <p:nvSpPr>
          <p:cNvPr id="3" name="Title 2">
            <a:extLst>
              <a:ext uri="{FF2B5EF4-FFF2-40B4-BE49-F238E27FC236}">
                <a16:creationId xmlns:a16="http://schemas.microsoft.com/office/drawing/2014/main" id="{05BD4597-5A51-0342-A9CD-9D5E53AB785C}"/>
              </a:ext>
            </a:extLst>
          </p:cNvPr>
          <p:cNvSpPr>
            <a:spLocks noGrp="1"/>
          </p:cNvSpPr>
          <p:nvPr>
            <p:ph type="title"/>
          </p:nvPr>
        </p:nvSpPr>
        <p:spPr/>
        <p:txBody>
          <a:bodyPr/>
          <a:lstStyle/>
          <a:p>
            <a:r>
              <a:rPr lang="en-US" dirty="0"/>
              <a:t>OGC </a:t>
            </a:r>
            <a:r>
              <a:rPr lang="en-US" dirty="0" err="1"/>
              <a:t>GeoPose</a:t>
            </a:r>
            <a:r>
              <a:rPr lang="en-US" dirty="0"/>
              <a:t> SWG: v.2 Work Package item #7</a:t>
            </a:r>
          </a:p>
        </p:txBody>
      </p:sp>
      <p:graphicFrame>
        <p:nvGraphicFramePr>
          <p:cNvPr id="4" name="Table 3">
            <a:extLst>
              <a:ext uri="{FF2B5EF4-FFF2-40B4-BE49-F238E27FC236}">
                <a16:creationId xmlns:a16="http://schemas.microsoft.com/office/drawing/2014/main" id="{0D63D773-2F75-A241-985A-68DC0676E998}"/>
              </a:ext>
            </a:extLst>
          </p:cNvPr>
          <p:cNvGraphicFramePr>
            <a:graphicFrameLocks noGrp="1"/>
          </p:cNvGraphicFramePr>
          <p:nvPr>
            <p:extLst/>
          </p:nvPr>
        </p:nvGraphicFramePr>
        <p:xfrm>
          <a:off x="1143000" y="2838106"/>
          <a:ext cx="4495800" cy="5822177"/>
        </p:xfrm>
        <a:graphic>
          <a:graphicData uri="http://schemas.openxmlformats.org/drawingml/2006/table">
            <a:tbl>
              <a:tblPr/>
              <a:tblGrid>
                <a:gridCol w="669587">
                  <a:extLst>
                    <a:ext uri="{9D8B030D-6E8A-4147-A177-3AD203B41FA5}">
                      <a16:colId xmlns:a16="http://schemas.microsoft.com/office/drawing/2014/main" val="3962225336"/>
                    </a:ext>
                  </a:extLst>
                </a:gridCol>
                <a:gridCol w="3826213">
                  <a:extLst>
                    <a:ext uri="{9D8B030D-6E8A-4147-A177-3AD203B41FA5}">
                      <a16:colId xmlns:a16="http://schemas.microsoft.com/office/drawing/2014/main" val="505778721"/>
                    </a:ext>
                  </a:extLst>
                </a:gridCol>
              </a:tblGrid>
              <a:tr h="436613">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1</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Components</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6725533"/>
                  </a:ext>
                </a:extLst>
              </a:tr>
              <a:tr h="685031">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2</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Separate CM and Encodings</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1068716"/>
                  </a:ext>
                </a:extLst>
              </a:tr>
              <a:tr h="685031">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3</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Extension Components</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143902"/>
                  </a:ext>
                </a:extLst>
              </a:tr>
              <a:tr h="685031">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4</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2400" b="0" i="0" u="none" strike="noStrike" dirty="0">
                          <a:solidFill>
                            <a:srgbClr val="000000"/>
                          </a:solidFill>
                          <a:effectLst/>
                          <a:latin typeface="Arial" panose="020B0604020202020204" pitchFamily="34" charset="0"/>
                        </a:rPr>
                        <a:t>CRS Definition in </a:t>
                      </a:r>
                      <a:r>
                        <a:rPr lang="en-US" sz="2400" b="0" i="0" u="none" strike="noStrike" dirty="0" err="1">
                          <a:solidFill>
                            <a:srgbClr val="000000"/>
                          </a:solidFill>
                          <a:effectLst/>
                          <a:latin typeface="Arial" panose="020B0604020202020204" pitchFamily="34" charset="0"/>
                        </a:rPr>
                        <a:t>GeoPose</a:t>
                      </a:r>
                      <a:endParaRPr lang="en-US" sz="40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53523670"/>
                  </a:ext>
                </a:extLst>
              </a:tr>
              <a:tr h="685031">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5</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Time Coordinate</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6489534"/>
                  </a:ext>
                </a:extLst>
              </a:tr>
              <a:tr h="436613">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6</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New Encodings</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4586759"/>
                  </a:ext>
                </a:extLst>
              </a:tr>
              <a:tr h="436613">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7</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Uncertainty</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5575309"/>
                  </a:ext>
                </a:extLst>
              </a:tr>
              <a:tr h="1430284">
                <a:tc>
                  <a:txBody>
                    <a:bodyPr/>
                    <a:lstStyle/>
                    <a:p>
                      <a:pPr rtl="0" fontAlgn="t">
                        <a:spcBef>
                          <a:spcPts val="0"/>
                        </a:spcBef>
                        <a:spcAft>
                          <a:spcPts val="0"/>
                        </a:spcAft>
                      </a:pPr>
                      <a:r>
                        <a:rPr lang="en-US" sz="2400" b="0" i="0" u="none" strike="noStrike">
                          <a:solidFill>
                            <a:srgbClr val="000000"/>
                          </a:solidFill>
                          <a:effectLst/>
                          <a:latin typeface="Arial" panose="020B0604020202020204" pitchFamily="34" charset="0"/>
                        </a:rPr>
                        <a:t>8</a:t>
                      </a:r>
                      <a:endParaRPr lang="en-US" sz="40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2400" b="0" i="0" u="none" strike="noStrike" dirty="0">
                          <a:solidFill>
                            <a:srgbClr val="000000"/>
                          </a:solidFill>
                          <a:effectLst/>
                          <a:latin typeface="Arial" panose="020B0604020202020204" pitchFamily="34" charset="0"/>
                        </a:rPr>
                        <a:t>Metaverse Standards Forum (MSF) Prototype Support</a:t>
                      </a:r>
                      <a:endParaRPr lang="en-US" sz="40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6605699"/>
                  </a:ext>
                </a:extLst>
              </a:tr>
            </a:tbl>
          </a:graphicData>
        </a:graphic>
      </p:graphicFrame>
      <p:sp>
        <p:nvSpPr>
          <p:cNvPr id="5" name="Rectangle 1">
            <a:extLst>
              <a:ext uri="{FF2B5EF4-FFF2-40B4-BE49-F238E27FC236}">
                <a16:creationId xmlns:a16="http://schemas.microsoft.com/office/drawing/2014/main" id="{4A6AAD08-7EC5-194B-BB4B-52C38C1C4E58}"/>
              </a:ext>
            </a:extLst>
          </p:cNvPr>
          <p:cNvSpPr>
            <a:spLocks noChangeArrowheads="1"/>
          </p:cNvSpPr>
          <p:nvPr/>
        </p:nvSpPr>
        <p:spPr bwMode="auto">
          <a:xfrm>
            <a:off x="863081" y="3696176"/>
            <a:ext cx="33902570" cy="677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6" name="Left Arrow 5">
            <a:extLst>
              <a:ext uri="{FF2B5EF4-FFF2-40B4-BE49-F238E27FC236}">
                <a16:creationId xmlns:a16="http://schemas.microsoft.com/office/drawing/2014/main" id="{5C38932E-5FEF-DC4A-A3A8-5DA5F23BB5E6}"/>
              </a:ext>
            </a:extLst>
          </p:cNvPr>
          <p:cNvSpPr/>
          <p:nvPr/>
        </p:nvSpPr>
        <p:spPr>
          <a:xfrm rot="1195308">
            <a:off x="3458948" y="6924448"/>
            <a:ext cx="3182743" cy="1182013"/>
          </a:xfrm>
          <a:prstGeom prst="leftArrow">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rPr>
              <a:t>Current focus</a:t>
            </a:r>
          </a:p>
        </p:txBody>
      </p:sp>
      <p:sp>
        <p:nvSpPr>
          <p:cNvPr id="7" name="TextBox 6">
            <a:extLst>
              <a:ext uri="{FF2B5EF4-FFF2-40B4-BE49-F238E27FC236}">
                <a16:creationId xmlns:a16="http://schemas.microsoft.com/office/drawing/2014/main" id="{C7BF283C-7CDC-E042-9A85-DE26E3B87196}"/>
              </a:ext>
            </a:extLst>
          </p:cNvPr>
          <p:cNvSpPr txBox="1"/>
          <p:nvPr/>
        </p:nvSpPr>
        <p:spPr>
          <a:xfrm>
            <a:off x="11506200" y="9688145"/>
            <a:ext cx="1203215" cy="369332"/>
          </a:xfrm>
          <a:prstGeom prst="rect">
            <a:avLst/>
          </a:prstGeom>
          <a:noFill/>
        </p:spPr>
        <p:txBody>
          <a:bodyPr wrap="none" rtlCol="0">
            <a:spAutoFit/>
          </a:bodyPr>
          <a:lstStyle/>
          <a:p>
            <a:r>
              <a:rPr lang="en-US" dirty="0"/>
              <a:t>Metadata?</a:t>
            </a:r>
          </a:p>
        </p:txBody>
      </p:sp>
    </p:spTree>
    <p:extLst>
      <p:ext uri="{BB962C8B-B14F-4D97-AF65-F5344CB8AC3E}">
        <p14:creationId xmlns:p14="http://schemas.microsoft.com/office/powerpoint/2010/main" val="3185149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8A4395-19E6-60A6-03CF-8026CD2CBE5B}"/>
              </a:ext>
            </a:extLst>
          </p:cNvPr>
          <p:cNvSpPr>
            <a:spLocks noGrp="1"/>
          </p:cNvSpPr>
          <p:nvPr>
            <p:ph type="title"/>
          </p:nvPr>
        </p:nvSpPr>
        <p:spPr>
          <a:xfrm>
            <a:off x="705168" y="5981700"/>
            <a:ext cx="14230031" cy="3301612"/>
          </a:xfrm>
        </p:spPr>
        <p:txBody>
          <a:bodyPr/>
          <a:lstStyle/>
          <a:p>
            <a:r>
              <a:rPr lang="en-US" sz="7200" dirty="0"/>
              <a:t>Goal: Syntactically share levels of confidence</a:t>
            </a:r>
            <a:br>
              <a:rPr lang="en-US" sz="9600" dirty="0"/>
            </a:br>
            <a:br>
              <a:rPr lang="en-US" sz="7200" dirty="0"/>
            </a:br>
            <a:br>
              <a:rPr lang="en-US" sz="7200" dirty="0"/>
            </a:br>
            <a:br>
              <a:rPr lang="en-US" sz="6000" dirty="0"/>
            </a:br>
            <a:r>
              <a:rPr lang="en-US" sz="8000" dirty="0"/>
              <a:t>.</a:t>
            </a:r>
          </a:p>
        </p:txBody>
      </p:sp>
    </p:spTree>
    <p:extLst>
      <p:ext uri="{BB962C8B-B14F-4D97-AF65-F5344CB8AC3E}">
        <p14:creationId xmlns:p14="http://schemas.microsoft.com/office/powerpoint/2010/main" val="251384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DE3024BF-DEB4-5842-BCE3-4980D94B75C8}"/>
              </a:ext>
            </a:extLst>
          </p:cNvPr>
          <p:cNvSpPr/>
          <p:nvPr/>
        </p:nvSpPr>
        <p:spPr>
          <a:xfrm>
            <a:off x="8293999" y="5141844"/>
            <a:ext cx="284540" cy="23549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C76C37DC-6C37-A343-8605-F425911CCF44}"/>
              </a:ext>
            </a:extLst>
          </p:cNvPr>
          <p:cNvSpPr>
            <a:spLocks noGrp="1"/>
          </p:cNvSpPr>
          <p:nvPr>
            <p:ph type="body" idx="16"/>
          </p:nvPr>
        </p:nvSpPr>
        <p:spPr/>
        <p:txBody>
          <a:bodyPr/>
          <a:lstStyle/>
          <a:p>
            <a:r>
              <a:rPr lang="en-US" sz="3200" dirty="0"/>
              <a:t>… provide a way to share levels of confidence in combining evidence in distributed analytics</a:t>
            </a:r>
          </a:p>
          <a:p>
            <a:r>
              <a:rPr lang="en-US" sz="3200" dirty="0"/>
              <a:t>What is the impact of </a:t>
            </a:r>
            <a:r>
              <a:rPr lang="en-US" sz="3200" dirty="0" err="1"/>
              <a:t>GeoPose’s</a:t>
            </a:r>
            <a:r>
              <a:rPr lang="en-US" sz="3200" dirty="0"/>
              <a:t> lack of expressions for confidence/certainty?</a:t>
            </a:r>
          </a:p>
          <a:p>
            <a:pPr lvl="1"/>
            <a:r>
              <a:rPr lang="en-US" sz="3000" dirty="0"/>
              <a:t>… across what characteristics that we care about?</a:t>
            </a:r>
          </a:p>
        </p:txBody>
      </p:sp>
      <p:sp>
        <p:nvSpPr>
          <p:cNvPr id="3" name="Title 2">
            <a:extLst>
              <a:ext uri="{FF2B5EF4-FFF2-40B4-BE49-F238E27FC236}">
                <a16:creationId xmlns:a16="http://schemas.microsoft.com/office/drawing/2014/main" id="{574AF8DE-8681-144B-B3D0-B289EB5977C5}"/>
              </a:ext>
            </a:extLst>
          </p:cNvPr>
          <p:cNvSpPr>
            <a:spLocks noGrp="1"/>
          </p:cNvSpPr>
          <p:nvPr>
            <p:ph type="title"/>
          </p:nvPr>
        </p:nvSpPr>
        <p:spPr/>
        <p:txBody>
          <a:bodyPr/>
          <a:lstStyle/>
          <a:p>
            <a:br>
              <a:rPr lang="en-US" dirty="0"/>
            </a:br>
            <a:r>
              <a:rPr lang="en-US" dirty="0"/>
              <a:t>Would like a </a:t>
            </a:r>
            <a:r>
              <a:rPr lang="en-US" sz="4400" dirty="0"/>
              <a:t>Standard way to express uncertainty/confidence in </a:t>
            </a:r>
            <a:r>
              <a:rPr lang="en-US" sz="4400" dirty="0" err="1"/>
              <a:t>GeoPose</a:t>
            </a:r>
            <a:endParaRPr lang="en-US" dirty="0"/>
          </a:p>
        </p:txBody>
      </p:sp>
      <p:sp>
        <p:nvSpPr>
          <p:cNvPr id="4" name="Text Placeholder 1">
            <a:extLst>
              <a:ext uri="{FF2B5EF4-FFF2-40B4-BE49-F238E27FC236}">
                <a16:creationId xmlns:a16="http://schemas.microsoft.com/office/drawing/2014/main" id="{8853ED9B-5087-274B-AFB2-D7E7613A0629}"/>
              </a:ext>
            </a:extLst>
          </p:cNvPr>
          <p:cNvSpPr txBox="1">
            <a:spLocks/>
          </p:cNvSpPr>
          <p:nvPr/>
        </p:nvSpPr>
        <p:spPr>
          <a:xfrm>
            <a:off x="3017493" y="4989444"/>
            <a:ext cx="6507507" cy="5411856"/>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anose="020B0604020202020204" pitchFamily="34" charset="0"/>
              <a:buChar char="•"/>
              <a:defRPr sz="3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200150" indent="-28575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371600" indent="0" algn="l" defTabSz="914400" rtl="0" eaLnBrk="1" latinLnBrk="0" hangingPunct="1">
              <a:spcBef>
                <a:spcPct val="20000"/>
              </a:spcBef>
              <a:buFont typeface="Arial" panose="020B0604020202020204"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4pPr>
            <a:lvl5pPr marL="1828800" indent="0" algn="l" defTabSz="914400" rtl="0" eaLnBrk="1" latinLnBrk="0" hangingPunct="1">
              <a:spcBef>
                <a:spcPct val="20000"/>
              </a:spcBef>
              <a:buFont typeface="Arial" panose="020B0604020202020204"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defTabSz="1828754" hangingPunct="0"/>
            <a:r>
              <a:rPr lang="en-US" sz="2800" dirty="0">
                <a:solidFill>
                  <a:srgbClr val="262626"/>
                </a:solidFill>
                <a:latin typeface="Mont Book"/>
                <a:ea typeface="Mont Book"/>
                <a:cs typeface="Mont Book"/>
                <a:sym typeface="Mont Book"/>
              </a:rPr>
              <a:t>FAIR = </a:t>
            </a:r>
          </a:p>
          <a:p>
            <a:pPr marL="828675" lvl="1" indent="-428625" defTabSz="1828754" hangingPunct="0"/>
            <a:r>
              <a:rPr lang="en-US" dirty="0"/>
              <a:t>Findable</a:t>
            </a:r>
          </a:p>
          <a:p>
            <a:pPr marL="828675" lvl="1" indent="-428625" defTabSz="1828754" hangingPunct="0"/>
            <a:r>
              <a:rPr lang="en-US" dirty="0"/>
              <a:t>Accessible</a:t>
            </a:r>
          </a:p>
          <a:p>
            <a:pPr marL="828675" lvl="1" indent="-428625" defTabSz="1828754" hangingPunct="0"/>
            <a:r>
              <a:rPr lang="en-US" dirty="0"/>
              <a:t>Interoperable</a:t>
            </a:r>
          </a:p>
          <a:p>
            <a:pPr marL="828675" lvl="1" indent="-428625" defTabSz="1828754" hangingPunct="0"/>
            <a:r>
              <a:rPr lang="en-US" dirty="0" err="1"/>
              <a:t>ReUsable</a:t>
            </a:r>
            <a:endParaRPr lang="en-US" dirty="0"/>
          </a:p>
          <a:p>
            <a:pPr marL="828675" lvl="1" indent="-428625" defTabSz="1828754" hangingPunct="0"/>
            <a:endParaRPr lang="en-US" dirty="0">
              <a:solidFill>
                <a:srgbClr val="262626"/>
              </a:solidFill>
              <a:latin typeface="Mont Book"/>
              <a:ea typeface="Mont Book"/>
              <a:cs typeface="Mont Book"/>
              <a:sym typeface="Mont Book"/>
            </a:endParaRPr>
          </a:p>
          <a:p>
            <a:pPr marL="400050" lvl="1" indent="0" defTabSz="1828754" hangingPunct="0">
              <a:buNone/>
            </a:pPr>
            <a:r>
              <a:rPr lang="en-US" dirty="0">
                <a:solidFill>
                  <a:srgbClr val="262626"/>
                </a:solidFill>
                <a:latin typeface="Mont Book"/>
                <a:ea typeface="Mont Book"/>
                <a:cs typeface="Mont Book"/>
                <a:sym typeface="Mont Book"/>
              </a:rPr>
              <a:t>… Fairness?</a:t>
            </a:r>
          </a:p>
        </p:txBody>
      </p:sp>
      <p:sp>
        <p:nvSpPr>
          <p:cNvPr id="6" name="Text Placeholder 1">
            <a:extLst>
              <a:ext uri="{FF2B5EF4-FFF2-40B4-BE49-F238E27FC236}">
                <a16:creationId xmlns:a16="http://schemas.microsoft.com/office/drawing/2014/main" id="{726FB528-C7F1-B14F-92EC-4D6F3D7A9DAD}"/>
              </a:ext>
            </a:extLst>
          </p:cNvPr>
          <p:cNvSpPr txBox="1">
            <a:spLocks/>
          </p:cNvSpPr>
          <p:nvPr/>
        </p:nvSpPr>
        <p:spPr>
          <a:xfrm>
            <a:off x="8305800" y="4989444"/>
            <a:ext cx="6507507" cy="5411856"/>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anose="020B0604020202020204" pitchFamily="34" charset="0"/>
              <a:buChar char="•"/>
              <a:defRPr sz="3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200150" indent="-28575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371600" indent="0" algn="l" defTabSz="914400" rtl="0" eaLnBrk="1" latinLnBrk="0" hangingPunct="1">
              <a:spcBef>
                <a:spcPct val="20000"/>
              </a:spcBef>
              <a:buFont typeface="Arial" panose="020B0604020202020204"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4pPr>
            <a:lvl5pPr marL="1828800" indent="0" algn="l" defTabSz="914400" rtl="0" eaLnBrk="1" latinLnBrk="0" hangingPunct="1">
              <a:spcBef>
                <a:spcPct val="20000"/>
              </a:spcBef>
              <a:buFont typeface="Arial" panose="020B0604020202020204"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defTabSz="1828754" hangingPunct="0"/>
            <a:r>
              <a:rPr lang="en-US" sz="2800" dirty="0">
                <a:solidFill>
                  <a:srgbClr val="262626"/>
                </a:solidFill>
                <a:latin typeface="Mont Book"/>
                <a:ea typeface="Mont Book"/>
                <a:cs typeface="Mont Book"/>
                <a:sym typeface="Mont Book"/>
              </a:rPr>
              <a:t>Trustworthy AI (NIST, et al) = </a:t>
            </a:r>
          </a:p>
          <a:p>
            <a:pPr lvl="1"/>
            <a:r>
              <a:rPr lang="en-US" dirty="0"/>
              <a:t>Valid and reliable</a:t>
            </a:r>
          </a:p>
          <a:p>
            <a:pPr lvl="1"/>
            <a:r>
              <a:rPr lang="en-US" dirty="0"/>
              <a:t>Safe</a:t>
            </a:r>
          </a:p>
          <a:p>
            <a:pPr lvl="1"/>
            <a:r>
              <a:rPr lang="en-US" dirty="0"/>
              <a:t>Secure and resilient</a:t>
            </a:r>
          </a:p>
          <a:p>
            <a:pPr lvl="1"/>
            <a:r>
              <a:rPr lang="en-US" dirty="0"/>
              <a:t>Accountable and transparent</a:t>
            </a:r>
          </a:p>
          <a:p>
            <a:pPr lvl="1"/>
            <a:r>
              <a:rPr lang="en-US" dirty="0"/>
              <a:t>Explainable and interpretable</a:t>
            </a:r>
          </a:p>
          <a:p>
            <a:pPr lvl="1"/>
            <a:r>
              <a:rPr lang="en-US" dirty="0"/>
              <a:t>Privacy-enhanced</a:t>
            </a:r>
          </a:p>
          <a:p>
            <a:pPr lvl="1"/>
            <a:r>
              <a:rPr lang="en-US" dirty="0"/>
              <a:t>Fair, with harmful bias managed</a:t>
            </a:r>
          </a:p>
        </p:txBody>
      </p:sp>
      <p:cxnSp>
        <p:nvCxnSpPr>
          <p:cNvPr id="9" name="Curved Connector 8">
            <a:extLst>
              <a:ext uri="{FF2B5EF4-FFF2-40B4-BE49-F238E27FC236}">
                <a16:creationId xmlns:a16="http://schemas.microsoft.com/office/drawing/2014/main" id="{C28027C1-0E66-B345-BDE4-54C62F4F8022}"/>
              </a:ext>
            </a:extLst>
          </p:cNvPr>
          <p:cNvCxnSpPr>
            <a:cxnSpLocks/>
            <a:stCxn id="12" idx="6"/>
            <a:endCxn id="10" idx="2"/>
          </p:cNvCxnSpPr>
          <p:nvPr/>
        </p:nvCxnSpPr>
        <p:spPr>
          <a:xfrm flipV="1">
            <a:off x="5519377" y="5259591"/>
            <a:ext cx="2774622" cy="3037199"/>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907FA2A4-9A84-224A-A0FC-54628CABE6B7}"/>
              </a:ext>
            </a:extLst>
          </p:cNvPr>
          <p:cNvSpPr/>
          <p:nvPr/>
        </p:nvSpPr>
        <p:spPr>
          <a:xfrm>
            <a:off x="5234837" y="8179043"/>
            <a:ext cx="284540" cy="23549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A9022D5-448C-944C-BE51-F8E8D063EF2E}"/>
              </a:ext>
            </a:extLst>
          </p:cNvPr>
          <p:cNvSpPr/>
          <p:nvPr/>
        </p:nvSpPr>
        <p:spPr>
          <a:xfrm>
            <a:off x="3484824" y="6511490"/>
            <a:ext cx="2786423"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E073639-BC3F-FD4C-9C68-EF6C7E4EF81B}"/>
              </a:ext>
            </a:extLst>
          </p:cNvPr>
          <p:cNvSpPr/>
          <p:nvPr/>
        </p:nvSpPr>
        <p:spPr>
          <a:xfrm>
            <a:off x="4188297" y="7037860"/>
            <a:ext cx="1188810"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53C4A21-39E7-9B48-BC2A-81033CE199AB}"/>
              </a:ext>
            </a:extLst>
          </p:cNvPr>
          <p:cNvSpPr/>
          <p:nvPr/>
        </p:nvSpPr>
        <p:spPr>
          <a:xfrm>
            <a:off x="8773129" y="5483915"/>
            <a:ext cx="3114071" cy="533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8694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F9A851-49CE-084A-8105-F2D2E4CCC464}"/>
              </a:ext>
            </a:extLst>
          </p:cNvPr>
          <p:cNvSpPr>
            <a:spLocks noGrp="1"/>
          </p:cNvSpPr>
          <p:nvPr>
            <p:ph type="body" idx="16"/>
          </p:nvPr>
        </p:nvSpPr>
        <p:spPr/>
        <p:txBody>
          <a:bodyPr/>
          <a:lstStyle/>
          <a:p>
            <a:pPr marL="0" lvl="0" indent="0" eaLnBrk="0" fontAlgn="base" hangingPunct="0">
              <a:spcBef>
                <a:spcPct val="0"/>
              </a:spcBef>
              <a:spcAft>
                <a:spcPct val="0"/>
              </a:spcAft>
              <a:buNone/>
            </a:pPr>
            <a:r>
              <a:rPr lang="en-US" altLang="en-US" sz="2800" b="1" dirty="0">
                <a:solidFill>
                  <a:srgbClr val="0A0A0A"/>
                </a:solidFill>
                <a:latin typeface="Google Sans"/>
              </a:rPr>
              <a:t>Marr's three levels of analysis</a:t>
            </a:r>
            <a:endParaRPr lang="en-US" altLang="en-US" sz="1600" dirty="0">
              <a:solidFill>
                <a:srgbClr val="0A0A0A"/>
              </a:solidFill>
              <a:latin typeface="Google Sans"/>
            </a:endParaRPr>
          </a:p>
          <a:p>
            <a:pPr marL="0" lvl="0" indent="0" eaLnBrk="0" fontAlgn="base" hangingPunct="0">
              <a:spcBef>
                <a:spcPct val="0"/>
              </a:spcBef>
              <a:spcAft>
                <a:spcPct val="0"/>
              </a:spcAft>
              <a:buNone/>
            </a:pPr>
            <a:r>
              <a:rPr lang="en-US" altLang="en-US" sz="2400" dirty="0">
                <a:solidFill>
                  <a:srgbClr val="0A0A0A"/>
                </a:solidFill>
                <a:latin typeface="Google Sans"/>
              </a:rPr>
              <a:t>In his 1982 book </a:t>
            </a:r>
            <a:r>
              <a:rPr lang="en-US" altLang="en-US" sz="2400" i="1" dirty="0">
                <a:solidFill>
                  <a:srgbClr val="0A0A0A"/>
                </a:solidFill>
                <a:latin typeface="Google Sans"/>
              </a:rPr>
              <a:t>Vision</a:t>
            </a:r>
            <a:r>
              <a:rPr lang="en-US" altLang="en-US" sz="2400" dirty="0">
                <a:solidFill>
                  <a:srgbClr val="0A0A0A"/>
                </a:solidFill>
                <a:latin typeface="Google Sans"/>
              </a:rPr>
              <a:t>, David Marr argued that to fully comprehend an information-processing system, you must analyze it at three distinct, complementary levels. </a:t>
            </a:r>
            <a:endParaRPr lang="en-US" altLang="en-US" sz="1600" dirty="0">
              <a:solidFill>
                <a:srgbClr val="0A0A0A"/>
              </a:solidFill>
              <a:latin typeface="Google Sans"/>
            </a:endParaRPr>
          </a:p>
          <a:p>
            <a:pPr marL="0" lvl="0" indent="0" eaLnBrk="0" fontAlgn="base" hangingPunct="0">
              <a:spcBef>
                <a:spcPct val="0"/>
              </a:spcBef>
              <a:spcAft>
                <a:spcPct val="0"/>
              </a:spcAft>
              <a:buFontTx/>
              <a:buChar char="•"/>
            </a:pPr>
            <a:r>
              <a:rPr lang="en-US" altLang="en-US" sz="2400" b="1" dirty="0">
                <a:solidFill>
                  <a:srgbClr val="0A0A0A"/>
                </a:solidFill>
                <a:latin typeface="Google Sans"/>
              </a:rPr>
              <a:t>Computational level: What and Why</a:t>
            </a:r>
            <a:endParaRPr lang="en-US" altLang="en-US" sz="2400" dirty="0">
              <a:solidFill>
                <a:srgbClr val="0A0A0A"/>
              </a:solidFill>
              <a:latin typeface="Google Sans"/>
            </a:endParaRPr>
          </a:p>
          <a:p>
            <a:pPr marL="457200" lvl="1" indent="0" eaLnBrk="0" fontAlgn="base" hangingPunct="0">
              <a:spcBef>
                <a:spcPct val="0"/>
              </a:spcBef>
              <a:spcAft>
                <a:spcPct val="0"/>
              </a:spcAft>
              <a:buFontTx/>
              <a:buChar char="•"/>
            </a:pPr>
            <a:r>
              <a:rPr lang="en-US" altLang="en-US" sz="2400" b="1" dirty="0">
                <a:solidFill>
                  <a:srgbClr val="0A0A0A"/>
                </a:solidFill>
                <a:latin typeface="Google Sans"/>
              </a:rPr>
              <a:t>Question</a:t>
            </a:r>
            <a:r>
              <a:rPr lang="en-US" altLang="en-US" sz="2400" dirty="0">
                <a:solidFill>
                  <a:srgbClr val="0A0A0A"/>
                </a:solidFill>
                <a:latin typeface="Google Sans"/>
              </a:rPr>
              <a:t>: What is the goal of the computation, and why is it the appropriate way to solve the problem?</a:t>
            </a:r>
          </a:p>
          <a:p>
            <a:pPr marL="457200" lvl="1" indent="0" eaLnBrk="0" fontAlgn="base" hangingPunct="0">
              <a:spcBef>
                <a:spcPct val="0"/>
              </a:spcBef>
              <a:spcAft>
                <a:spcPct val="0"/>
              </a:spcAft>
              <a:buFontTx/>
              <a:buChar char="•"/>
            </a:pPr>
            <a:r>
              <a:rPr lang="en-US" altLang="en-US" sz="2400" b="1" dirty="0">
                <a:solidFill>
                  <a:srgbClr val="0A0A0A"/>
                </a:solidFill>
                <a:latin typeface="Google Sans"/>
              </a:rPr>
              <a:t>Focus</a:t>
            </a:r>
            <a:r>
              <a:rPr lang="en-US" altLang="en-US" sz="2400" dirty="0">
                <a:solidFill>
                  <a:srgbClr val="0A0A0A"/>
                </a:solidFill>
                <a:latin typeface="Google Sans"/>
              </a:rPr>
              <a:t>: This level defines the function of the system, focusing on the logic and purpose of the process, independent of how it is physically carried out. For example, a computational analysis of a cash register identifies its purpose as performing addition and keeping financial records.</a:t>
            </a:r>
          </a:p>
          <a:p>
            <a:pPr marL="0" lvl="0" indent="0" eaLnBrk="0" fontAlgn="base" hangingPunct="0">
              <a:spcBef>
                <a:spcPct val="0"/>
              </a:spcBef>
              <a:spcAft>
                <a:spcPct val="0"/>
              </a:spcAft>
              <a:buFontTx/>
              <a:buChar char="•"/>
            </a:pPr>
            <a:r>
              <a:rPr lang="en-US" altLang="en-US" sz="2400" b="1" dirty="0">
                <a:solidFill>
                  <a:srgbClr val="0A0A0A"/>
                </a:solidFill>
                <a:latin typeface="Google Sans"/>
              </a:rPr>
              <a:t>Algorithmic/Representational level: How</a:t>
            </a:r>
            <a:endParaRPr lang="en-US" altLang="en-US" sz="2400" dirty="0">
              <a:solidFill>
                <a:srgbClr val="0A0A0A"/>
              </a:solidFill>
              <a:latin typeface="Google Sans"/>
            </a:endParaRPr>
          </a:p>
          <a:p>
            <a:pPr marL="457200" lvl="1" indent="0" eaLnBrk="0" fontAlgn="base" hangingPunct="0">
              <a:spcBef>
                <a:spcPct val="0"/>
              </a:spcBef>
              <a:spcAft>
                <a:spcPct val="0"/>
              </a:spcAft>
              <a:buFontTx/>
              <a:buChar char="•"/>
            </a:pPr>
            <a:r>
              <a:rPr lang="en-US" altLang="en-US" sz="2400" b="1" dirty="0">
                <a:solidFill>
                  <a:srgbClr val="0A0A0A"/>
                </a:solidFill>
                <a:latin typeface="Google Sans"/>
              </a:rPr>
              <a:t>Question</a:t>
            </a:r>
            <a:r>
              <a:rPr lang="en-US" altLang="en-US" sz="2400" dirty="0">
                <a:solidFill>
                  <a:srgbClr val="0A0A0A"/>
                </a:solidFill>
                <a:latin typeface="Google Sans"/>
              </a:rPr>
              <a:t>: How can the computational theory be implemented? What representations are used for the input and output, and what is the algorithm for the transformation?</a:t>
            </a:r>
          </a:p>
          <a:p>
            <a:pPr marL="457200" lvl="1" indent="0" eaLnBrk="0" fontAlgn="base" hangingPunct="0">
              <a:spcBef>
                <a:spcPct val="0"/>
              </a:spcBef>
              <a:spcAft>
                <a:spcPct val="0"/>
              </a:spcAft>
              <a:buFontTx/>
              <a:buChar char="•"/>
            </a:pPr>
            <a:r>
              <a:rPr lang="en-US" altLang="en-US" sz="2400" b="1" dirty="0">
                <a:solidFill>
                  <a:srgbClr val="0A0A0A"/>
                </a:solidFill>
                <a:latin typeface="Google Sans"/>
              </a:rPr>
              <a:t>Focus</a:t>
            </a:r>
            <a:r>
              <a:rPr lang="en-US" altLang="en-US" sz="2400" dirty="0">
                <a:solidFill>
                  <a:srgbClr val="0A0A0A"/>
                </a:solidFill>
                <a:latin typeface="Google Sans"/>
              </a:rPr>
              <a:t>: This level details the specific methods and procedures used to solve the problem. Using the cash register analogy, this could involve representing numbers using the decimal system and using a specific set of rules for addition, like adding the least significant digits first.</a:t>
            </a:r>
          </a:p>
          <a:p>
            <a:pPr marL="0" lvl="0" indent="0" eaLnBrk="0" fontAlgn="base" hangingPunct="0">
              <a:spcBef>
                <a:spcPct val="0"/>
              </a:spcBef>
              <a:spcAft>
                <a:spcPct val="0"/>
              </a:spcAft>
              <a:buFontTx/>
              <a:buChar char="•"/>
            </a:pPr>
            <a:r>
              <a:rPr lang="en-US" altLang="en-US" sz="2400" b="1" dirty="0">
                <a:solidFill>
                  <a:srgbClr val="0A0A0A"/>
                </a:solidFill>
                <a:latin typeface="Google Sans"/>
              </a:rPr>
              <a:t>Implementational level: Physical Realization</a:t>
            </a:r>
            <a:endParaRPr lang="en-US" altLang="en-US" sz="2400" dirty="0">
              <a:solidFill>
                <a:srgbClr val="0A0A0A"/>
              </a:solidFill>
              <a:latin typeface="Google Sans"/>
            </a:endParaRPr>
          </a:p>
          <a:p>
            <a:pPr marL="457200" lvl="1" indent="0" eaLnBrk="0" fontAlgn="base" hangingPunct="0">
              <a:spcBef>
                <a:spcPct val="0"/>
              </a:spcBef>
              <a:spcAft>
                <a:spcPct val="0"/>
              </a:spcAft>
              <a:buFontTx/>
              <a:buChar char="•"/>
            </a:pPr>
            <a:r>
              <a:rPr lang="en-US" altLang="en-US" sz="2400" b="1" dirty="0">
                <a:solidFill>
                  <a:srgbClr val="0A0A0A"/>
                </a:solidFill>
                <a:latin typeface="Google Sans"/>
              </a:rPr>
              <a:t>Question</a:t>
            </a:r>
            <a:r>
              <a:rPr lang="en-US" altLang="en-US" sz="2400" dirty="0">
                <a:solidFill>
                  <a:srgbClr val="0A0A0A"/>
                </a:solidFill>
                <a:latin typeface="Google Sans"/>
              </a:rPr>
              <a:t>: How is the algorithm physically realized?</a:t>
            </a:r>
          </a:p>
          <a:p>
            <a:pPr marL="457200" lvl="1" indent="0" eaLnBrk="0" fontAlgn="base" hangingPunct="0">
              <a:spcBef>
                <a:spcPct val="0"/>
              </a:spcBef>
              <a:spcAft>
                <a:spcPct val="0"/>
              </a:spcAft>
              <a:buFontTx/>
              <a:buChar char="•"/>
            </a:pPr>
            <a:r>
              <a:rPr lang="en-US" altLang="en-US" sz="2400" b="1" dirty="0">
                <a:solidFill>
                  <a:srgbClr val="0A0A0A"/>
                </a:solidFill>
                <a:latin typeface="Google Sans"/>
              </a:rPr>
              <a:t>Focus</a:t>
            </a:r>
            <a:r>
              <a:rPr lang="en-US" altLang="en-US" sz="2400" dirty="0">
                <a:solidFill>
                  <a:srgbClr val="0A0A0A"/>
                </a:solidFill>
                <a:latin typeface="Google Sans"/>
              </a:rPr>
              <a:t>: This level examines the hardware or physical substrate that carries out the computation. For a cash register, this could be the mechanical gears of an old machine or the electronic circuitry of a modern one. </a:t>
            </a:r>
          </a:p>
          <a:p>
            <a:endParaRPr lang="en-US" sz="3200" dirty="0"/>
          </a:p>
        </p:txBody>
      </p:sp>
      <p:sp>
        <p:nvSpPr>
          <p:cNvPr id="3" name="Title 2">
            <a:extLst>
              <a:ext uri="{FF2B5EF4-FFF2-40B4-BE49-F238E27FC236}">
                <a16:creationId xmlns:a16="http://schemas.microsoft.com/office/drawing/2014/main" id="{60CD97E1-9684-614F-90FA-91EBADCF1AAE}"/>
              </a:ext>
            </a:extLst>
          </p:cNvPr>
          <p:cNvSpPr>
            <a:spLocks noGrp="1"/>
          </p:cNvSpPr>
          <p:nvPr>
            <p:ph type="title"/>
          </p:nvPr>
        </p:nvSpPr>
        <p:spPr/>
        <p:txBody>
          <a:bodyPr/>
          <a:lstStyle/>
          <a:p>
            <a:r>
              <a:rPr lang="en-US" dirty="0"/>
              <a:t>Current focus: Syntax/Language for exchanging vs computing Uncertainty</a:t>
            </a:r>
          </a:p>
        </p:txBody>
      </p:sp>
      <p:sp>
        <p:nvSpPr>
          <p:cNvPr id="4" name="Oval 3">
            <a:extLst>
              <a:ext uri="{FF2B5EF4-FFF2-40B4-BE49-F238E27FC236}">
                <a16:creationId xmlns:a16="http://schemas.microsoft.com/office/drawing/2014/main" id="{5E44C369-DD88-8345-9139-DC15994567C0}"/>
              </a:ext>
            </a:extLst>
          </p:cNvPr>
          <p:cNvSpPr/>
          <p:nvPr/>
        </p:nvSpPr>
        <p:spPr>
          <a:xfrm>
            <a:off x="9162896" y="5520594"/>
            <a:ext cx="7448704" cy="84210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E66EB65-D544-A949-8158-16895FAC1885}"/>
              </a:ext>
            </a:extLst>
          </p:cNvPr>
          <p:cNvSpPr txBox="1"/>
          <p:nvPr/>
        </p:nvSpPr>
        <p:spPr>
          <a:xfrm rot="20454473">
            <a:off x="14909373" y="5015770"/>
            <a:ext cx="2925481" cy="523220"/>
          </a:xfrm>
          <a:prstGeom prst="rect">
            <a:avLst/>
          </a:prstGeom>
          <a:noFill/>
        </p:spPr>
        <p:txBody>
          <a:bodyPr wrap="none" rtlCol="0">
            <a:spAutoFit/>
          </a:bodyPr>
          <a:lstStyle/>
          <a:p>
            <a:r>
              <a:rPr lang="en-US" sz="2800" u="sng" dirty="0">
                <a:solidFill>
                  <a:srgbClr val="C00000"/>
                </a:solidFill>
              </a:rPr>
              <a:t>INTEROPERABILITY</a:t>
            </a:r>
          </a:p>
        </p:txBody>
      </p:sp>
    </p:spTree>
    <p:extLst>
      <p:ext uri="{BB962C8B-B14F-4D97-AF65-F5344CB8AC3E}">
        <p14:creationId xmlns:p14="http://schemas.microsoft.com/office/powerpoint/2010/main" val="918948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8A4395-19E6-60A6-03CF-8026CD2CBE5B}"/>
              </a:ext>
            </a:extLst>
          </p:cNvPr>
          <p:cNvSpPr>
            <a:spLocks noGrp="1"/>
          </p:cNvSpPr>
          <p:nvPr>
            <p:ph type="title"/>
          </p:nvPr>
        </p:nvSpPr>
        <p:spPr>
          <a:xfrm>
            <a:off x="705168" y="5981700"/>
            <a:ext cx="14230031" cy="3301612"/>
          </a:xfrm>
        </p:spPr>
        <p:txBody>
          <a:bodyPr/>
          <a:lstStyle/>
          <a:p>
            <a:r>
              <a:rPr lang="en-US" sz="8000" dirty="0"/>
              <a:t>Approach: Recover Previous Work</a:t>
            </a:r>
            <a:br>
              <a:rPr lang="en-US" sz="9600" dirty="0"/>
            </a:br>
            <a:endParaRPr lang="en-US" sz="9600" dirty="0"/>
          </a:p>
        </p:txBody>
      </p:sp>
    </p:spTree>
    <p:extLst>
      <p:ext uri="{BB962C8B-B14F-4D97-AF65-F5344CB8AC3E}">
        <p14:creationId xmlns:p14="http://schemas.microsoft.com/office/powerpoint/2010/main" val="3455116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7B04A1-2E5C-2842-AB8D-79063677D883}"/>
              </a:ext>
            </a:extLst>
          </p:cNvPr>
          <p:cNvSpPr>
            <a:spLocks noGrp="1"/>
          </p:cNvSpPr>
          <p:nvPr>
            <p:ph type="body" idx="16"/>
          </p:nvPr>
        </p:nvSpPr>
        <p:spPr/>
        <p:txBody>
          <a:bodyPr/>
          <a:lstStyle/>
          <a:p>
            <a:r>
              <a:rPr lang="en-US" dirty="0"/>
              <a:t>Use existing Standard(s) as available and appropriate (and update as necessary) </a:t>
            </a:r>
          </a:p>
          <a:p>
            <a:r>
              <a:rPr lang="en-US" dirty="0"/>
              <a:t>Propel into OGC/</a:t>
            </a:r>
            <a:r>
              <a:rPr lang="en-US" dirty="0" err="1"/>
              <a:t>GeoPose</a:t>
            </a:r>
            <a:r>
              <a:rPr lang="en-US" dirty="0"/>
              <a:t> Standards regime</a:t>
            </a:r>
          </a:p>
          <a:p>
            <a:pPr lvl="1"/>
            <a:r>
              <a:rPr lang="en-US" dirty="0"/>
              <a:t>Previous work on uncertainty/confidence from statistics.</a:t>
            </a:r>
          </a:p>
          <a:p>
            <a:pPr lvl="1"/>
            <a:r>
              <a:rPr lang="en-US" dirty="0"/>
              <a:t>Applications to image analysis goes back many decades</a:t>
            </a:r>
          </a:p>
          <a:p>
            <a:pPr lvl="2"/>
            <a:r>
              <a:rPr lang="en-US" dirty="0" err="1"/>
              <a:t>Prev</a:t>
            </a:r>
            <a:r>
              <a:rPr lang="en-US" dirty="0"/>
              <a:t> experience – Bayesian conditional probabilities (Bayes Nets) for object detection from satellite imagery</a:t>
            </a:r>
          </a:p>
          <a:p>
            <a:pPr lvl="3"/>
            <a:r>
              <a:rPr lang="en-US" sz="1800" dirty="0"/>
              <a:t>Foundation = probability that a pixel is evidence for a vehicle</a:t>
            </a:r>
          </a:p>
          <a:p>
            <a:pPr lvl="3"/>
            <a:r>
              <a:rPr lang="en-US" sz="1800" dirty="0"/>
              <a:t>Vehicles in part of an image?  Integrate over that part of the image</a:t>
            </a:r>
          </a:p>
          <a:p>
            <a:pPr lvl="1"/>
            <a:r>
              <a:rPr lang="en-US" dirty="0"/>
              <a:t>Previously considered and/or adopted by Standards Agencies</a:t>
            </a:r>
          </a:p>
        </p:txBody>
      </p:sp>
      <p:sp>
        <p:nvSpPr>
          <p:cNvPr id="3" name="Title 2">
            <a:extLst>
              <a:ext uri="{FF2B5EF4-FFF2-40B4-BE49-F238E27FC236}">
                <a16:creationId xmlns:a16="http://schemas.microsoft.com/office/drawing/2014/main" id="{0A56ECF3-D2A1-7A43-A73B-40868ED6049C}"/>
              </a:ext>
            </a:extLst>
          </p:cNvPr>
          <p:cNvSpPr>
            <a:spLocks noGrp="1"/>
          </p:cNvSpPr>
          <p:nvPr>
            <p:ph type="title"/>
          </p:nvPr>
        </p:nvSpPr>
        <p:spPr/>
        <p:txBody>
          <a:bodyPr/>
          <a:lstStyle/>
          <a:p>
            <a:r>
              <a:rPr lang="en-US" dirty="0"/>
              <a:t>Lean on Previous Work</a:t>
            </a:r>
          </a:p>
        </p:txBody>
      </p:sp>
      <p:sp>
        <p:nvSpPr>
          <p:cNvPr id="4" name="TextBox 3">
            <a:extLst>
              <a:ext uri="{FF2B5EF4-FFF2-40B4-BE49-F238E27FC236}">
                <a16:creationId xmlns:a16="http://schemas.microsoft.com/office/drawing/2014/main" id="{18F7F74B-8E38-7740-96CD-9D6A7D0561B9}"/>
              </a:ext>
            </a:extLst>
          </p:cNvPr>
          <p:cNvSpPr txBox="1"/>
          <p:nvPr/>
        </p:nvSpPr>
        <p:spPr>
          <a:xfrm>
            <a:off x="3276600" y="7581900"/>
            <a:ext cx="9977796" cy="646331"/>
          </a:xfrm>
          <a:prstGeom prst="rect">
            <a:avLst/>
          </a:prstGeom>
          <a:noFill/>
        </p:spPr>
        <p:txBody>
          <a:bodyPr wrap="none" rtlCol="0">
            <a:spAutoFit/>
          </a:bodyPr>
          <a:lstStyle/>
          <a:p>
            <a:r>
              <a:rPr lang="en-US" sz="3600" dirty="0"/>
              <a:t>Will do a quick review and make a recommendation </a:t>
            </a:r>
          </a:p>
        </p:txBody>
      </p:sp>
    </p:spTree>
    <p:extLst>
      <p:ext uri="{BB962C8B-B14F-4D97-AF65-F5344CB8AC3E}">
        <p14:creationId xmlns:p14="http://schemas.microsoft.com/office/powerpoint/2010/main" val="3707064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8A4395-19E6-60A6-03CF-8026CD2CBE5B}"/>
              </a:ext>
            </a:extLst>
          </p:cNvPr>
          <p:cNvSpPr>
            <a:spLocks noGrp="1"/>
          </p:cNvSpPr>
          <p:nvPr>
            <p:ph type="title"/>
          </p:nvPr>
        </p:nvSpPr>
        <p:spPr>
          <a:xfrm>
            <a:off x="705168" y="5981700"/>
            <a:ext cx="14230031" cy="3301612"/>
          </a:xfrm>
        </p:spPr>
        <p:txBody>
          <a:bodyPr/>
          <a:lstStyle/>
          <a:p>
            <a:r>
              <a:rPr lang="en-US" sz="8000" dirty="0"/>
              <a:t>Progress: Some possible solutions found</a:t>
            </a:r>
            <a:br>
              <a:rPr lang="en-US" sz="9600" dirty="0"/>
            </a:br>
            <a:endParaRPr lang="en-US" sz="8000" dirty="0"/>
          </a:p>
        </p:txBody>
      </p:sp>
    </p:spTree>
    <p:extLst>
      <p:ext uri="{BB962C8B-B14F-4D97-AF65-F5344CB8AC3E}">
        <p14:creationId xmlns:p14="http://schemas.microsoft.com/office/powerpoint/2010/main" val="1489679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7B04A1-2E5C-2842-AB8D-79063677D883}"/>
              </a:ext>
            </a:extLst>
          </p:cNvPr>
          <p:cNvSpPr>
            <a:spLocks noGrp="1"/>
          </p:cNvSpPr>
          <p:nvPr>
            <p:ph type="body" idx="16"/>
          </p:nvPr>
        </p:nvSpPr>
        <p:spPr/>
        <p:txBody>
          <a:bodyPr/>
          <a:lstStyle/>
          <a:p>
            <a:r>
              <a:rPr lang="en-US" dirty="0"/>
              <a:t>“Previously considered and/or adopted by Standards Agencies”</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a:t>Ay! Big job.  Called on </a:t>
            </a:r>
            <a:r>
              <a:rPr lang="en-US" dirty="0" err="1"/>
              <a:t>GenAI</a:t>
            </a:r>
            <a:r>
              <a:rPr lang="en-US" dirty="0"/>
              <a:t> (ChatGPT5) to start things off</a:t>
            </a:r>
          </a:p>
          <a:p>
            <a:pPr lvl="1"/>
            <a:endParaRPr lang="en-US" dirty="0"/>
          </a:p>
        </p:txBody>
      </p:sp>
      <p:sp>
        <p:nvSpPr>
          <p:cNvPr id="3" name="Title 2">
            <a:extLst>
              <a:ext uri="{FF2B5EF4-FFF2-40B4-BE49-F238E27FC236}">
                <a16:creationId xmlns:a16="http://schemas.microsoft.com/office/drawing/2014/main" id="{0A56ECF3-D2A1-7A43-A73B-40868ED6049C}"/>
              </a:ext>
            </a:extLst>
          </p:cNvPr>
          <p:cNvSpPr>
            <a:spLocks noGrp="1"/>
          </p:cNvSpPr>
          <p:nvPr>
            <p:ph type="title"/>
          </p:nvPr>
        </p:nvSpPr>
        <p:spPr/>
        <p:txBody>
          <a:bodyPr/>
          <a:lstStyle/>
          <a:p>
            <a:r>
              <a:rPr lang="en-US" dirty="0"/>
              <a:t>Review of earlier approaches</a:t>
            </a:r>
          </a:p>
        </p:txBody>
      </p:sp>
      <p:sp>
        <p:nvSpPr>
          <p:cNvPr id="5" name="Text Placeholder 1">
            <a:extLst>
              <a:ext uri="{FF2B5EF4-FFF2-40B4-BE49-F238E27FC236}">
                <a16:creationId xmlns:a16="http://schemas.microsoft.com/office/drawing/2014/main" id="{5A0311F4-A4CD-F542-A543-89DA4829A4E7}"/>
              </a:ext>
            </a:extLst>
          </p:cNvPr>
          <p:cNvSpPr txBox="1">
            <a:spLocks/>
          </p:cNvSpPr>
          <p:nvPr/>
        </p:nvSpPr>
        <p:spPr>
          <a:xfrm>
            <a:off x="1193540" y="3162300"/>
            <a:ext cx="16242896" cy="3068369"/>
          </a:xfrm>
          <a:prstGeom prst="rect">
            <a:avLst/>
          </a:prstGeom>
        </p:spPr>
        <p:txBody>
          <a:bodyPr vert="horz" lIns="91440" tIns="45720" rIns="91440" bIns="45720" numCol="2" rtlCol="0" anchor="t">
            <a:noAutofit/>
          </a:bodyPr>
          <a:lstStyle>
            <a:lvl1pPr marL="342900" indent="-342900" algn="l" defTabSz="914400" rtl="0" eaLnBrk="1" latinLnBrk="0" hangingPunct="1">
              <a:spcBef>
                <a:spcPct val="20000"/>
              </a:spcBef>
              <a:buFont typeface="Arial" panose="020B0604020202020204" pitchFamily="34" charset="0"/>
              <a:buChar char="•"/>
              <a:defRPr sz="3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200150" indent="-285750" algn="l" defTabSz="914400" rtl="0" eaLnBrk="1" latinLnBrk="0" hangingPunct="1">
              <a:spcBef>
                <a:spcPct val="20000"/>
              </a:spcBef>
              <a:buFont typeface="Arial" panose="020B0604020202020204"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371600" indent="0" algn="l" defTabSz="914400" rtl="0" eaLnBrk="1" latinLnBrk="0" hangingPunct="1">
              <a:spcBef>
                <a:spcPct val="20000"/>
              </a:spcBef>
              <a:buFont typeface="Arial" panose="020B0604020202020204"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4pPr>
            <a:lvl5pPr marL="1828800" indent="0" algn="l" defTabSz="914400" rtl="0" eaLnBrk="1" latinLnBrk="0" hangingPunct="1">
              <a:spcBef>
                <a:spcPct val="20000"/>
              </a:spcBef>
              <a:buFont typeface="Arial" panose="020B0604020202020204"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r>
              <a:rPr lang="en-US" sz="2400" dirty="0"/>
              <a:t>The Open Geospatial Consortium’s (OGC’s) </a:t>
            </a:r>
            <a:r>
              <a:rPr lang="en-US" sz="2400" dirty="0" err="1"/>
              <a:t>UncertML</a:t>
            </a:r>
            <a:r>
              <a:rPr lang="en-US" sz="2400" dirty="0"/>
              <a:t> initiative (circa 2009)</a:t>
            </a:r>
          </a:p>
          <a:p>
            <a:r>
              <a:rPr lang="en-US" sz="2400" dirty="0"/>
              <a:t>OGC Abstract Specification Topic 20: Observations, measurements and samples (2023)</a:t>
            </a:r>
          </a:p>
          <a:p>
            <a:r>
              <a:rPr lang="en-US" sz="2400" dirty="0"/>
              <a:t>IETF RFC 7459 “Representation of Uncertainty and Confidence in the Presence Information Data Format Location Object (PIDF-LO)” (2015)</a:t>
            </a:r>
          </a:p>
          <a:p>
            <a:pPr fontAlgn="b"/>
            <a:r>
              <a:rPr lang="en-US" sz="2400" dirty="0"/>
              <a:t>ISO 19157-1:2023 “Geographic information — Data quality Part 1: General requirements” and especially its Part 3: “Data quality measures register” </a:t>
            </a:r>
          </a:p>
          <a:p>
            <a:pPr fontAlgn="b"/>
            <a:r>
              <a:rPr lang="en-US" sz="2400" dirty="0"/>
              <a:t>NGA Standardization Document “3D GEOINT Standard (2023-01-04)”, </a:t>
            </a:r>
          </a:p>
          <a:p>
            <a:r>
              <a:rPr lang="en-US" sz="2400" dirty="0"/>
              <a:t>NGA Standardization </a:t>
            </a:r>
            <a:r>
              <a:rPr lang="en-US" sz="2400" dirty="0" err="1"/>
              <a:t>Document“Accuracy</a:t>
            </a:r>
            <a:r>
              <a:rPr lang="en-US" sz="2400" dirty="0"/>
              <a:t> and Predicted Accuracy in the NSG: Predictive Statistics (2021-04-23)”,</a:t>
            </a:r>
          </a:p>
          <a:p>
            <a:r>
              <a:rPr lang="en-US" sz="2400" dirty="0"/>
              <a:t>NGA Standardization </a:t>
            </a:r>
            <a:r>
              <a:rPr lang="en-US" sz="2400" dirty="0" err="1"/>
              <a:t>Document“Community</a:t>
            </a:r>
            <a:r>
              <a:rPr lang="en-US" sz="2400" dirty="0"/>
              <a:t> Sensor Model Generic </a:t>
            </a:r>
            <a:r>
              <a:rPr lang="en-US" sz="2400" dirty="0" err="1"/>
              <a:t>Photoblock</a:t>
            </a:r>
            <a:r>
              <a:rPr lang="en-US" sz="2400" dirty="0"/>
              <a:t> (2021-06-07)”,</a:t>
            </a:r>
          </a:p>
          <a:p>
            <a:r>
              <a:rPr lang="en-US" sz="2400" dirty="0"/>
              <a:t>GEOINT Working Group (GWG) Motion Imagery Standards Board (MISB) “</a:t>
            </a:r>
            <a:r>
              <a:rPr lang="en-US" sz="2400" dirty="0">
                <a:hlinkClick r:id="rId3"/>
              </a:rPr>
              <a:t>Motion Imagery Standards Profile-2023.2</a:t>
            </a:r>
            <a:r>
              <a:rPr lang="en-US" sz="2400" dirty="0"/>
              <a:t>” and associated MISB Standards</a:t>
            </a:r>
          </a:p>
        </p:txBody>
      </p:sp>
    </p:spTree>
    <p:extLst>
      <p:ext uri="{BB962C8B-B14F-4D97-AF65-F5344CB8AC3E}">
        <p14:creationId xmlns:p14="http://schemas.microsoft.com/office/powerpoint/2010/main" val="2257984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7FAB32A-0DA2-2F4B-BC93-070A41B55ED1}"/>
              </a:ext>
            </a:extLst>
          </p:cNvPr>
          <p:cNvSpPr>
            <a:spLocks noGrp="1"/>
          </p:cNvSpPr>
          <p:nvPr>
            <p:ph type="body" idx="16"/>
          </p:nvPr>
        </p:nvSpPr>
        <p:spPr/>
        <p:txBody>
          <a:bodyPr/>
          <a:lstStyle/>
          <a:p>
            <a:r>
              <a:rPr lang="en-US" dirty="0"/>
              <a:t>We seek a way of associating effective measures of uncertainty or confidence, based on probability, with geolocation and orientation of objects or features in time as expressed in the Open Geospatial Consortium (OGC) </a:t>
            </a:r>
            <a:r>
              <a:rPr lang="en-US" dirty="0" err="1"/>
              <a:t>GeoPose</a:t>
            </a:r>
            <a:r>
              <a:rPr lang="en-US" dirty="0"/>
              <a:t> Standard. There are a number of computational frameworks within which </a:t>
            </a:r>
            <a:r>
              <a:rPr lang="en-US" dirty="0" err="1"/>
              <a:t>GeoPose</a:t>
            </a:r>
            <a:r>
              <a:rPr lang="en-US" dirty="0"/>
              <a:t> information may be expressed, including &lt;snip, snip&gt;.  </a:t>
            </a:r>
          </a:p>
          <a:p>
            <a:r>
              <a:rPr lang="en-US" dirty="0"/>
              <a:t>Please describe what formalism each uses …</a:t>
            </a:r>
          </a:p>
          <a:p>
            <a:r>
              <a:rPr lang="en-US" dirty="0"/>
              <a:t>Please also describe how they would syntactically express the probability-of-correctness …</a:t>
            </a:r>
          </a:p>
        </p:txBody>
      </p:sp>
      <p:sp>
        <p:nvSpPr>
          <p:cNvPr id="3" name="Title 2">
            <a:extLst>
              <a:ext uri="{FF2B5EF4-FFF2-40B4-BE49-F238E27FC236}">
                <a16:creationId xmlns:a16="http://schemas.microsoft.com/office/drawing/2014/main" id="{826DC675-A356-664F-8495-F4A6635F64DF}"/>
              </a:ext>
            </a:extLst>
          </p:cNvPr>
          <p:cNvSpPr>
            <a:spLocks noGrp="1"/>
          </p:cNvSpPr>
          <p:nvPr>
            <p:ph type="title"/>
          </p:nvPr>
        </p:nvSpPr>
        <p:spPr/>
        <p:txBody>
          <a:bodyPr/>
          <a:lstStyle/>
          <a:p>
            <a:r>
              <a:rPr lang="en-US" dirty="0" err="1"/>
              <a:t>ChatGPT</a:t>
            </a:r>
            <a:r>
              <a:rPr lang="en-US" dirty="0"/>
              <a:t> </a:t>
            </a:r>
            <a:r>
              <a:rPr lang="en-US" strike="sngStrike" dirty="0"/>
              <a:t>Analysis </a:t>
            </a:r>
            <a:r>
              <a:rPr lang="en-US" dirty="0"/>
              <a:t>Summary (?) of </a:t>
            </a:r>
            <a:r>
              <a:rPr lang="en-US" dirty="0" err="1"/>
              <a:t>GeoPose</a:t>
            </a:r>
            <a:r>
              <a:rPr lang="en-US" dirty="0"/>
              <a:t> </a:t>
            </a:r>
            <a:r>
              <a:rPr lang="en-US" dirty="0" err="1"/>
              <a:t>Uncert</a:t>
            </a:r>
            <a:r>
              <a:rPr lang="en-US" dirty="0"/>
              <a:t>/Confidence options</a:t>
            </a:r>
          </a:p>
        </p:txBody>
      </p:sp>
    </p:spTree>
    <p:extLst>
      <p:ext uri="{BB962C8B-B14F-4D97-AF65-F5344CB8AC3E}">
        <p14:creationId xmlns:p14="http://schemas.microsoft.com/office/powerpoint/2010/main" val="3424131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7DB6D4-7C8C-1247-8FD4-9DEBBCEF0C57}"/>
              </a:ext>
            </a:extLst>
          </p:cNvPr>
          <p:cNvSpPr>
            <a:spLocks noGrp="1"/>
          </p:cNvSpPr>
          <p:nvPr>
            <p:ph type="title"/>
          </p:nvPr>
        </p:nvSpPr>
        <p:spPr/>
        <p:txBody>
          <a:bodyPr/>
          <a:lstStyle/>
          <a:p>
            <a:r>
              <a:rPr lang="en-US" dirty="0" err="1"/>
              <a:t>ChatGPT</a:t>
            </a:r>
            <a:r>
              <a:rPr lang="en-US" dirty="0"/>
              <a:t> </a:t>
            </a:r>
            <a:r>
              <a:rPr lang="en-US" dirty="0" err="1"/>
              <a:t>GeoPose</a:t>
            </a:r>
            <a:r>
              <a:rPr lang="en-US" dirty="0"/>
              <a:t> </a:t>
            </a:r>
            <a:r>
              <a:rPr lang="en-US" dirty="0" err="1"/>
              <a:t>Uncert</a:t>
            </a:r>
            <a:r>
              <a:rPr lang="en-US" dirty="0"/>
              <a:t>/Confidence options in different system contexts</a:t>
            </a:r>
          </a:p>
        </p:txBody>
      </p:sp>
      <p:graphicFrame>
        <p:nvGraphicFramePr>
          <p:cNvPr id="4" name="Table 3">
            <a:extLst>
              <a:ext uri="{FF2B5EF4-FFF2-40B4-BE49-F238E27FC236}">
                <a16:creationId xmlns:a16="http://schemas.microsoft.com/office/drawing/2014/main" id="{3C59C89C-E523-9141-BBF0-BCD4BFA71FDE}"/>
              </a:ext>
            </a:extLst>
          </p:cNvPr>
          <p:cNvGraphicFramePr>
            <a:graphicFrameLocks noGrp="1"/>
          </p:cNvGraphicFramePr>
          <p:nvPr>
            <p:extLst>
              <p:ext uri="{D42A27DB-BD31-4B8C-83A1-F6EECF244321}">
                <p14:modId xmlns:p14="http://schemas.microsoft.com/office/powerpoint/2010/main" val="179796638"/>
              </p:ext>
            </p:extLst>
          </p:nvPr>
        </p:nvGraphicFramePr>
        <p:xfrm>
          <a:off x="1066800" y="2607756"/>
          <a:ext cx="15925798" cy="5991185"/>
        </p:xfrm>
        <a:graphic>
          <a:graphicData uri="http://schemas.openxmlformats.org/drawingml/2006/table">
            <a:tbl>
              <a:tblPr/>
              <a:tblGrid>
                <a:gridCol w="2275114">
                  <a:extLst>
                    <a:ext uri="{9D8B030D-6E8A-4147-A177-3AD203B41FA5}">
                      <a16:colId xmlns:a16="http://schemas.microsoft.com/office/drawing/2014/main" val="357238554"/>
                    </a:ext>
                  </a:extLst>
                </a:gridCol>
                <a:gridCol w="2275114">
                  <a:extLst>
                    <a:ext uri="{9D8B030D-6E8A-4147-A177-3AD203B41FA5}">
                      <a16:colId xmlns:a16="http://schemas.microsoft.com/office/drawing/2014/main" val="1979348676"/>
                    </a:ext>
                  </a:extLst>
                </a:gridCol>
                <a:gridCol w="2275114">
                  <a:extLst>
                    <a:ext uri="{9D8B030D-6E8A-4147-A177-3AD203B41FA5}">
                      <a16:colId xmlns:a16="http://schemas.microsoft.com/office/drawing/2014/main" val="2887527746"/>
                    </a:ext>
                  </a:extLst>
                </a:gridCol>
                <a:gridCol w="2275114">
                  <a:extLst>
                    <a:ext uri="{9D8B030D-6E8A-4147-A177-3AD203B41FA5}">
                      <a16:colId xmlns:a16="http://schemas.microsoft.com/office/drawing/2014/main" val="562619193"/>
                    </a:ext>
                  </a:extLst>
                </a:gridCol>
                <a:gridCol w="2275114">
                  <a:extLst>
                    <a:ext uri="{9D8B030D-6E8A-4147-A177-3AD203B41FA5}">
                      <a16:colId xmlns:a16="http://schemas.microsoft.com/office/drawing/2014/main" val="1079158246"/>
                    </a:ext>
                  </a:extLst>
                </a:gridCol>
                <a:gridCol w="2275114">
                  <a:extLst>
                    <a:ext uri="{9D8B030D-6E8A-4147-A177-3AD203B41FA5}">
                      <a16:colId xmlns:a16="http://schemas.microsoft.com/office/drawing/2014/main" val="342215095"/>
                    </a:ext>
                  </a:extLst>
                </a:gridCol>
                <a:gridCol w="2275114">
                  <a:extLst>
                    <a:ext uri="{9D8B030D-6E8A-4147-A177-3AD203B41FA5}">
                      <a16:colId xmlns:a16="http://schemas.microsoft.com/office/drawing/2014/main" val="3766755893"/>
                    </a:ext>
                  </a:extLst>
                </a:gridCol>
              </a:tblGrid>
              <a:tr h="284777">
                <a:tc>
                  <a:txBody>
                    <a:bodyPr/>
                    <a:lstStyle/>
                    <a:p>
                      <a:r>
                        <a:rPr lang="en-US" sz="2000" b="1" dirty="0"/>
                        <a:t>Framework</a:t>
                      </a:r>
                    </a:p>
                  </a:txBody>
                  <a:tcPr marL="26781" marR="26781" marT="13390" marB="13390" anchor="ctr">
                    <a:lnL>
                      <a:noFill/>
                    </a:lnL>
                    <a:lnR>
                      <a:noFill/>
                    </a:lnR>
                    <a:lnT>
                      <a:noFill/>
                    </a:lnT>
                    <a:lnB>
                      <a:noFill/>
                    </a:lnB>
                  </a:tcPr>
                </a:tc>
                <a:tc>
                  <a:txBody>
                    <a:bodyPr/>
                    <a:lstStyle/>
                    <a:p>
                      <a:r>
                        <a:rPr lang="en-US" sz="2000" b="1" dirty="0"/>
                        <a:t>Pose fields</a:t>
                      </a:r>
                    </a:p>
                  </a:txBody>
                  <a:tcPr marL="26781" marR="26781" marT="13390" marB="13390" anchor="ctr">
                    <a:lnL>
                      <a:noFill/>
                    </a:lnL>
                    <a:lnR>
                      <a:noFill/>
                    </a:lnR>
                    <a:lnT>
                      <a:noFill/>
                    </a:lnT>
                    <a:lnB>
                      <a:noFill/>
                    </a:lnB>
                  </a:tcPr>
                </a:tc>
                <a:tc>
                  <a:txBody>
                    <a:bodyPr/>
                    <a:lstStyle/>
                    <a:p>
                      <a:r>
                        <a:rPr lang="en-US" sz="2000" b="1"/>
                        <a:t>Time</a:t>
                      </a:r>
                    </a:p>
                  </a:txBody>
                  <a:tcPr marL="26781" marR="26781" marT="13390" marB="13390" anchor="ctr">
                    <a:lnL>
                      <a:noFill/>
                    </a:lnL>
                    <a:lnR>
                      <a:noFill/>
                    </a:lnR>
                    <a:lnT>
                      <a:noFill/>
                    </a:lnT>
                    <a:lnB>
                      <a:noFill/>
                    </a:lnB>
                  </a:tcPr>
                </a:tc>
                <a:tc>
                  <a:txBody>
                    <a:bodyPr/>
                    <a:lstStyle/>
                    <a:p>
                      <a:r>
                        <a:rPr lang="en-US" sz="2000" b="1"/>
                        <a:t>Uncertainty primitive</a:t>
                      </a:r>
                    </a:p>
                  </a:txBody>
                  <a:tcPr marL="26781" marR="26781" marT="13390" marB="13390" anchor="ctr">
                    <a:lnL>
                      <a:noFill/>
                    </a:lnL>
                    <a:lnR>
                      <a:noFill/>
                    </a:lnR>
                    <a:lnT>
                      <a:noFill/>
                    </a:lnT>
                    <a:lnB>
                      <a:noFill/>
                    </a:lnB>
                  </a:tcPr>
                </a:tc>
                <a:tc>
                  <a:txBody>
                    <a:bodyPr/>
                    <a:lstStyle/>
                    <a:p>
                      <a:r>
                        <a:rPr lang="en-US" sz="2000" b="1"/>
                        <a:t>Cross-axis dependence</a:t>
                      </a:r>
                    </a:p>
                  </a:txBody>
                  <a:tcPr marL="26781" marR="26781" marT="13390" marB="13390" anchor="ctr">
                    <a:lnL>
                      <a:noFill/>
                    </a:lnL>
                    <a:lnR>
                      <a:noFill/>
                    </a:lnR>
                    <a:lnT>
                      <a:noFill/>
                    </a:lnT>
                    <a:lnB>
                      <a:noFill/>
                    </a:lnB>
                  </a:tcPr>
                </a:tc>
                <a:tc>
                  <a:txBody>
                    <a:bodyPr/>
                    <a:lstStyle/>
                    <a:p>
                      <a:r>
                        <a:rPr lang="en-US" sz="2000" b="1"/>
                        <a:t>Typical scalar roll-ups</a:t>
                      </a:r>
                    </a:p>
                  </a:txBody>
                  <a:tcPr marL="26781" marR="26781" marT="13390" marB="13390" anchor="ctr">
                    <a:lnL>
                      <a:noFill/>
                    </a:lnL>
                    <a:lnR>
                      <a:noFill/>
                    </a:lnR>
                    <a:lnT>
                      <a:noFill/>
                    </a:lnT>
                    <a:lnB>
                      <a:noFill/>
                    </a:lnB>
                  </a:tcPr>
                </a:tc>
                <a:tc>
                  <a:txBody>
                    <a:bodyPr/>
                    <a:lstStyle/>
                    <a:p>
                      <a:r>
                        <a:rPr lang="en-US" sz="2000" b="1" dirty="0"/>
                        <a:t>Canonical carriage</a:t>
                      </a:r>
                    </a:p>
                  </a:txBody>
                  <a:tcPr marL="26781" marR="26781" marT="13390" marB="13390" anchor="ctr">
                    <a:lnL>
                      <a:noFill/>
                    </a:lnL>
                    <a:lnR>
                      <a:noFill/>
                    </a:lnR>
                    <a:lnT>
                      <a:noFill/>
                    </a:lnT>
                    <a:lnB>
                      <a:noFill/>
                    </a:lnB>
                  </a:tcPr>
                </a:tc>
                <a:extLst>
                  <a:ext uri="{0D108BD9-81ED-4DB2-BD59-A6C34878D82A}">
                    <a16:rowId xmlns:a16="http://schemas.microsoft.com/office/drawing/2014/main" val="4076539201"/>
                  </a:ext>
                </a:extLst>
              </a:tr>
              <a:tr h="791634">
                <a:tc>
                  <a:txBody>
                    <a:bodyPr/>
                    <a:lstStyle/>
                    <a:p>
                      <a:r>
                        <a:rPr lang="en-US" sz="1600" b="1" dirty="0"/>
                        <a:t>OGC O&amp;M / ISO 19156</a:t>
                      </a:r>
                      <a:endParaRPr lang="en-US" sz="1600" dirty="0"/>
                    </a:p>
                  </a:txBody>
                  <a:tcPr marL="26781" marR="26781" marT="13390" marB="13390" anchor="ctr">
                    <a:lnL>
                      <a:noFill/>
                    </a:lnL>
                    <a:lnR>
                      <a:noFill/>
                    </a:lnR>
                    <a:lnT>
                      <a:noFill/>
                    </a:lnT>
                    <a:lnB>
                      <a:noFill/>
                    </a:lnB>
                  </a:tcPr>
                </a:tc>
                <a:tc>
                  <a:txBody>
                    <a:bodyPr/>
                    <a:lstStyle/>
                    <a:p>
                      <a:r>
                        <a:rPr lang="en-US" sz="1600" dirty="0"/>
                        <a:t>GML/SWE position; SWE vector for roll/pitch/yaw</a:t>
                      </a:r>
                    </a:p>
                  </a:txBody>
                  <a:tcPr marL="26781" marR="26781" marT="13390" marB="13390" anchor="ctr">
                    <a:lnL>
                      <a:noFill/>
                    </a:lnL>
                    <a:lnR>
                      <a:noFill/>
                    </a:lnR>
                    <a:lnT>
                      <a:noFill/>
                    </a:lnT>
                    <a:lnB>
                      <a:noFill/>
                    </a:lnB>
                  </a:tcPr>
                </a:tc>
                <a:tc>
                  <a:txBody>
                    <a:bodyPr/>
                    <a:lstStyle/>
                    <a:p>
                      <a:r>
                        <a:rPr lang="en-US" sz="1600"/>
                        <a:t>phenomenonTime / resultTime</a:t>
                      </a:r>
                    </a:p>
                  </a:txBody>
                  <a:tcPr marL="26781" marR="26781" marT="13390" marB="13390" anchor="ctr">
                    <a:lnL>
                      <a:noFill/>
                    </a:lnL>
                    <a:lnR>
                      <a:noFill/>
                    </a:lnR>
                    <a:lnT>
                      <a:noFill/>
                    </a:lnT>
                    <a:lnB>
                      <a:noFill/>
                    </a:lnB>
                  </a:tcPr>
                </a:tc>
                <a:tc>
                  <a:txBody>
                    <a:bodyPr/>
                    <a:lstStyle/>
                    <a:p>
                      <a:r>
                        <a:rPr lang="en-US" sz="1600" dirty="0"/>
                        <a:t>Quality results + </a:t>
                      </a:r>
                      <a:r>
                        <a:rPr lang="en-US" sz="1600" dirty="0" err="1"/>
                        <a:t>UncertML</a:t>
                      </a:r>
                      <a:r>
                        <a:rPr lang="en-US" sz="1600" dirty="0"/>
                        <a:t> / SWE arrays</a:t>
                      </a:r>
                    </a:p>
                  </a:txBody>
                  <a:tcPr marL="26781" marR="26781" marT="13390" marB="13390" anchor="ctr">
                    <a:lnL>
                      <a:noFill/>
                    </a:lnL>
                    <a:lnR>
                      <a:noFill/>
                    </a:lnR>
                    <a:lnT>
                      <a:noFill/>
                    </a:lnT>
                    <a:lnB>
                      <a:noFill/>
                    </a:lnB>
                  </a:tcPr>
                </a:tc>
                <a:tc>
                  <a:txBody>
                    <a:bodyPr/>
                    <a:lstStyle/>
                    <a:p>
                      <a:r>
                        <a:rPr lang="en-US" sz="1600"/>
                        <a:t>Yes (full covariance via UncertML/SWE)</a:t>
                      </a:r>
                    </a:p>
                  </a:txBody>
                  <a:tcPr marL="26781" marR="26781" marT="13390" marB="13390" anchor="ctr">
                    <a:lnL>
                      <a:noFill/>
                    </a:lnL>
                    <a:lnR>
                      <a:noFill/>
                    </a:lnR>
                    <a:lnT>
                      <a:noFill/>
                    </a:lnT>
                    <a:lnB>
                      <a:noFill/>
                    </a:lnB>
                  </a:tcPr>
                </a:tc>
                <a:tc>
                  <a:txBody>
                    <a:bodyPr/>
                    <a:lstStyle/>
                    <a:p>
                      <a:r>
                        <a:rPr lang="en-US" sz="1600"/>
                        <a:t>CE90/LE90/RMSE</a:t>
                      </a:r>
                    </a:p>
                  </a:txBody>
                  <a:tcPr marL="26781" marR="26781" marT="13390" marB="13390" anchor="ctr">
                    <a:lnL>
                      <a:noFill/>
                    </a:lnL>
                    <a:lnR>
                      <a:noFill/>
                    </a:lnR>
                    <a:lnT>
                      <a:noFill/>
                    </a:lnT>
                    <a:lnB>
                      <a:noFill/>
                    </a:lnB>
                  </a:tcPr>
                </a:tc>
                <a:tc>
                  <a:txBody>
                    <a:bodyPr/>
                    <a:lstStyle/>
                    <a:p>
                      <a:r>
                        <a:rPr lang="en-US" sz="1600"/>
                        <a:t>XML/GML/SWE. </a:t>
                      </a:r>
                      <a:r>
                        <a:rPr lang="en-US" sz="1600">
                          <a:hlinkClick r:id="rId2"/>
                        </a:rPr>
                        <a:t>Open Geospatial Consortium+1</a:t>
                      </a:r>
                      <a:endParaRPr lang="en-US" sz="1600"/>
                    </a:p>
                  </a:txBody>
                  <a:tcPr marL="26781" marR="26781" marT="13390" marB="13390" anchor="ctr">
                    <a:lnL>
                      <a:noFill/>
                    </a:lnL>
                    <a:lnR>
                      <a:noFill/>
                    </a:lnR>
                    <a:lnT>
                      <a:noFill/>
                    </a:lnT>
                    <a:lnB>
                      <a:noFill/>
                    </a:lnB>
                  </a:tcPr>
                </a:tc>
                <a:extLst>
                  <a:ext uri="{0D108BD9-81ED-4DB2-BD59-A6C34878D82A}">
                    <a16:rowId xmlns:a16="http://schemas.microsoft.com/office/drawing/2014/main" val="1775876579"/>
                  </a:ext>
                </a:extLst>
              </a:tr>
              <a:tr h="537075">
                <a:tc>
                  <a:txBody>
                    <a:bodyPr/>
                    <a:lstStyle/>
                    <a:p>
                      <a:r>
                        <a:rPr lang="en-US" sz="1600" b="1"/>
                        <a:t>UncertML</a:t>
                      </a:r>
                      <a:endParaRPr lang="en-US" sz="1600"/>
                    </a:p>
                  </a:txBody>
                  <a:tcPr marL="26781" marR="26781" marT="13390" marB="13390" anchor="ctr">
                    <a:lnL>
                      <a:noFill/>
                    </a:lnL>
                    <a:lnR>
                      <a:noFill/>
                    </a:lnR>
                    <a:lnT>
                      <a:noFill/>
                    </a:lnT>
                    <a:lnB>
                      <a:noFill/>
                    </a:lnB>
                  </a:tcPr>
                </a:tc>
                <a:tc>
                  <a:txBody>
                    <a:bodyPr/>
                    <a:lstStyle/>
                    <a:p>
                      <a:r>
                        <a:rPr lang="en-US" sz="1600" dirty="0"/>
                        <a:t>(External)</a:t>
                      </a:r>
                    </a:p>
                  </a:txBody>
                  <a:tcPr marL="26781" marR="26781" marT="13390" marB="13390" anchor="ctr">
                    <a:lnL>
                      <a:noFill/>
                    </a:lnL>
                    <a:lnR>
                      <a:noFill/>
                    </a:lnR>
                    <a:lnT>
                      <a:noFill/>
                    </a:lnT>
                    <a:lnB>
                      <a:noFill/>
                    </a:lnB>
                  </a:tcPr>
                </a:tc>
                <a:tc>
                  <a:txBody>
                    <a:bodyPr/>
                    <a:lstStyle/>
                    <a:p>
                      <a:r>
                        <a:rPr lang="en-US" sz="1600"/>
                        <a:t>(External)</a:t>
                      </a:r>
                    </a:p>
                  </a:txBody>
                  <a:tcPr marL="26781" marR="26781" marT="13390" marB="13390" anchor="ctr">
                    <a:lnL>
                      <a:noFill/>
                    </a:lnL>
                    <a:lnR>
                      <a:noFill/>
                    </a:lnR>
                    <a:lnT>
                      <a:noFill/>
                    </a:lnT>
                    <a:lnB>
                      <a:noFill/>
                    </a:lnB>
                  </a:tcPr>
                </a:tc>
                <a:tc>
                  <a:txBody>
                    <a:bodyPr/>
                    <a:lstStyle/>
                    <a:p>
                      <a:r>
                        <a:rPr lang="en-US" sz="1600"/>
                        <a:t>Distributions, statistics, realizations</a:t>
                      </a:r>
                    </a:p>
                  </a:txBody>
                  <a:tcPr marL="26781" marR="26781" marT="13390" marB="13390" anchor="ctr">
                    <a:lnL>
                      <a:noFill/>
                    </a:lnL>
                    <a:lnR>
                      <a:noFill/>
                    </a:lnR>
                    <a:lnT>
                      <a:noFill/>
                    </a:lnT>
                    <a:lnB>
                      <a:noFill/>
                    </a:lnB>
                  </a:tcPr>
                </a:tc>
                <a:tc>
                  <a:txBody>
                    <a:bodyPr/>
                    <a:lstStyle/>
                    <a:p>
                      <a:r>
                        <a:rPr lang="en-US" sz="1600"/>
                        <a:t>Yes (multivariate)</a:t>
                      </a:r>
                    </a:p>
                  </a:txBody>
                  <a:tcPr marL="26781" marR="26781" marT="13390" marB="13390" anchor="ctr">
                    <a:lnL>
                      <a:noFill/>
                    </a:lnL>
                    <a:lnR>
                      <a:noFill/>
                    </a:lnR>
                    <a:lnT>
                      <a:noFill/>
                    </a:lnT>
                    <a:lnB>
                      <a:noFill/>
                    </a:lnB>
                  </a:tcPr>
                </a:tc>
                <a:tc>
                  <a:txBody>
                    <a:bodyPr/>
                    <a:lstStyle/>
                    <a:p>
                      <a:r>
                        <a:rPr lang="en-US" sz="1600"/>
                        <a:t>Any (derived)</a:t>
                      </a:r>
                    </a:p>
                  </a:txBody>
                  <a:tcPr marL="26781" marR="26781" marT="13390" marB="13390" anchor="ctr">
                    <a:lnL>
                      <a:noFill/>
                    </a:lnL>
                    <a:lnR>
                      <a:noFill/>
                    </a:lnR>
                    <a:lnT>
                      <a:noFill/>
                    </a:lnT>
                    <a:lnB>
                      <a:noFill/>
                    </a:lnB>
                  </a:tcPr>
                </a:tc>
                <a:tc>
                  <a:txBody>
                    <a:bodyPr/>
                    <a:lstStyle/>
                    <a:p>
                      <a:r>
                        <a:rPr lang="en-US" sz="1600"/>
                        <a:t>XML/JSON fragments. </a:t>
                      </a:r>
                      <a:r>
                        <a:rPr lang="en-US" sz="1600">
                          <a:hlinkClick r:id="rId3"/>
                        </a:rPr>
                        <a:t>OGC Portal+1</a:t>
                      </a:r>
                      <a:endParaRPr lang="en-US" sz="1600"/>
                    </a:p>
                  </a:txBody>
                  <a:tcPr marL="26781" marR="26781" marT="13390" marB="13390" anchor="ctr">
                    <a:lnL>
                      <a:noFill/>
                    </a:lnL>
                    <a:lnR>
                      <a:noFill/>
                    </a:lnR>
                    <a:lnT>
                      <a:noFill/>
                    </a:lnT>
                    <a:lnB>
                      <a:noFill/>
                    </a:lnB>
                  </a:tcPr>
                </a:tc>
                <a:extLst>
                  <a:ext uri="{0D108BD9-81ED-4DB2-BD59-A6C34878D82A}">
                    <a16:rowId xmlns:a16="http://schemas.microsoft.com/office/drawing/2014/main" val="403964277"/>
                  </a:ext>
                </a:extLst>
              </a:tr>
              <a:tr h="537075">
                <a:tc>
                  <a:txBody>
                    <a:bodyPr/>
                    <a:lstStyle/>
                    <a:p>
                      <a:r>
                        <a:rPr lang="en-US" sz="1600" b="1"/>
                        <a:t>RFC 7459 / PIDF-LO</a:t>
                      </a:r>
                      <a:endParaRPr lang="en-US" sz="1600"/>
                    </a:p>
                  </a:txBody>
                  <a:tcPr marL="26781" marR="26781" marT="13390" marB="13390" anchor="ctr">
                    <a:lnL>
                      <a:noFill/>
                    </a:lnL>
                    <a:lnR>
                      <a:noFill/>
                    </a:lnR>
                    <a:lnT>
                      <a:noFill/>
                    </a:lnT>
                    <a:lnB>
                      <a:noFill/>
                    </a:lnB>
                  </a:tcPr>
                </a:tc>
                <a:tc>
                  <a:txBody>
                    <a:bodyPr/>
                    <a:lstStyle/>
                    <a:p>
                      <a:r>
                        <a:rPr lang="en-US" sz="1600" dirty="0"/>
                        <a:t>Geodetic shapes (point/circle/ellipse)</a:t>
                      </a:r>
                    </a:p>
                  </a:txBody>
                  <a:tcPr marL="26781" marR="26781" marT="13390" marB="13390" anchor="ctr">
                    <a:lnL>
                      <a:noFill/>
                    </a:lnL>
                    <a:lnR>
                      <a:noFill/>
                    </a:lnR>
                    <a:lnT>
                      <a:noFill/>
                    </a:lnT>
                    <a:lnB>
                      <a:noFill/>
                    </a:lnB>
                  </a:tcPr>
                </a:tc>
                <a:tc>
                  <a:txBody>
                    <a:bodyPr/>
                    <a:lstStyle/>
                    <a:p>
                      <a:r>
                        <a:rPr lang="en-US" sz="1600" dirty="0"/>
                        <a:t>timestamp</a:t>
                      </a:r>
                    </a:p>
                  </a:txBody>
                  <a:tcPr marL="26781" marR="26781" marT="13390" marB="13390" anchor="ctr">
                    <a:lnL>
                      <a:noFill/>
                    </a:lnL>
                    <a:lnR>
                      <a:noFill/>
                    </a:lnR>
                    <a:lnT>
                      <a:noFill/>
                    </a:lnT>
                    <a:lnB>
                      <a:noFill/>
                    </a:lnB>
                  </a:tcPr>
                </a:tc>
                <a:tc>
                  <a:txBody>
                    <a:bodyPr/>
                    <a:lstStyle/>
                    <a:p>
                      <a:r>
                        <a:rPr lang="en-US" sz="1600"/>
                        <a:t>Radius/ellipse + confidence</a:t>
                      </a:r>
                    </a:p>
                  </a:txBody>
                  <a:tcPr marL="26781" marR="26781" marT="13390" marB="13390" anchor="ctr">
                    <a:lnL>
                      <a:noFill/>
                    </a:lnL>
                    <a:lnR>
                      <a:noFill/>
                    </a:lnR>
                    <a:lnT>
                      <a:noFill/>
                    </a:lnT>
                    <a:lnB>
                      <a:noFill/>
                    </a:lnB>
                  </a:tcPr>
                </a:tc>
                <a:tc>
                  <a:txBody>
                    <a:bodyPr/>
                    <a:lstStyle/>
                    <a:p>
                      <a:r>
                        <a:rPr lang="en-US" sz="1600"/>
                        <a:t>Not general; shape-only</a:t>
                      </a:r>
                    </a:p>
                  </a:txBody>
                  <a:tcPr marL="26781" marR="26781" marT="13390" marB="13390" anchor="ctr">
                    <a:lnL>
                      <a:noFill/>
                    </a:lnL>
                    <a:lnR>
                      <a:noFill/>
                    </a:lnR>
                    <a:lnT>
                      <a:noFill/>
                    </a:lnT>
                    <a:lnB>
                      <a:noFill/>
                    </a:lnB>
                  </a:tcPr>
                </a:tc>
                <a:tc>
                  <a:txBody>
                    <a:bodyPr/>
                    <a:lstStyle/>
                    <a:p>
                      <a:r>
                        <a:rPr lang="en-US" sz="1600"/>
                        <a:t>Radius @ confidence</a:t>
                      </a:r>
                    </a:p>
                  </a:txBody>
                  <a:tcPr marL="26781" marR="26781" marT="13390" marB="13390" anchor="ctr">
                    <a:lnL>
                      <a:noFill/>
                    </a:lnL>
                    <a:lnR>
                      <a:noFill/>
                    </a:lnR>
                    <a:lnT>
                      <a:noFill/>
                    </a:lnT>
                    <a:lnB>
                      <a:noFill/>
                    </a:lnB>
                  </a:tcPr>
                </a:tc>
                <a:tc>
                  <a:txBody>
                    <a:bodyPr/>
                    <a:lstStyle/>
                    <a:p>
                      <a:r>
                        <a:rPr lang="en-US" sz="1600"/>
                        <a:t>XML (PIDF-LO). </a:t>
                      </a:r>
                      <a:r>
                        <a:rPr lang="en-US" sz="1600">
                          <a:hlinkClick r:id="rId4"/>
                        </a:rPr>
                        <a:t>IETF Datatracker+1</a:t>
                      </a:r>
                      <a:endParaRPr lang="en-US" sz="1600"/>
                    </a:p>
                  </a:txBody>
                  <a:tcPr marL="26781" marR="26781" marT="13390" marB="13390" anchor="ctr">
                    <a:lnL>
                      <a:noFill/>
                    </a:lnL>
                    <a:lnR>
                      <a:noFill/>
                    </a:lnR>
                    <a:lnT>
                      <a:noFill/>
                    </a:lnT>
                    <a:lnB>
                      <a:noFill/>
                    </a:lnB>
                  </a:tcPr>
                </a:tc>
                <a:extLst>
                  <a:ext uri="{0D108BD9-81ED-4DB2-BD59-A6C34878D82A}">
                    <a16:rowId xmlns:a16="http://schemas.microsoft.com/office/drawing/2014/main" val="139705948"/>
                  </a:ext>
                </a:extLst>
              </a:tr>
              <a:tr h="541079">
                <a:tc>
                  <a:txBody>
                    <a:bodyPr/>
                    <a:lstStyle/>
                    <a:p>
                      <a:r>
                        <a:rPr lang="en-US" sz="1600" b="1"/>
                        <a:t>ISO 19157-1/-3</a:t>
                      </a:r>
                      <a:endParaRPr lang="en-US" sz="1600"/>
                    </a:p>
                  </a:txBody>
                  <a:tcPr marL="26781" marR="26781" marT="13390" marB="13390" anchor="ctr">
                    <a:lnL>
                      <a:noFill/>
                    </a:lnL>
                    <a:lnR>
                      <a:noFill/>
                    </a:lnR>
                    <a:lnT>
                      <a:noFill/>
                    </a:lnT>
                    <a:lnB>
                      <a:noFill/>
                    </a:lnB>
                  </a:tcPr>
                </a:tc>
                <a:tc>
                  <a:txBody>
                    <a:bodyPr/>
                    <a:lstStyle/>
                    <a:p>
                      <a:r>
                        <a:rPr lang="en-US" sz="1600"/>
                        <a:t>(External)</a:t>
                      </a:r>
                    </a:p>
                  </a:txBody>
                  <a:tcPr marL="26781" marR="26781" marT="13390" marB="13390" anchor="ctr">
                    <a:lnL>
                      <a:noFill/>
                    </a:lnL>
                    <a:lnR>
                      <a:noFill/>
                    </a:lnR>
                    <a:lnT>
                      <a:noFill/>
                    </a:lnT>
                    <a:lnB>
                      <a:noFill/>
                    </a:lnB>
                  </a:tcPr>
                </a:tc>
                <a:tc>
                  <a:txBody>
                    <a:bodyPr/>
                    <a:lstStyle/>
                    <a:p>
                      <a:r>
                        <a:rPr lang="en-US" sz="1600" dirty="0"/>
                        <a:t>(External)</a:t>
                      </a:r>
                    </a:p>
                  </a:txBody>
                  <a:tcPr marL="26781" marR="26781" marT="13390" marB="13390" anchor="ctr">
                    <a:lnL>
                      <a:noFill/>
                    </a:lnL>
                    <a:lnR>
                      <a:noFill/>
                    </a:lnR>
                    <a:lnT>
                      <a:noFill/>
                    </a:lnT>
                    <a:lnB>
                      <a:noFill/>
                    </a:lnB>
                  </a:tcPr>
                </a:tc>
                <a:tc>
                  <a:txBody>
                    <a:bodyPr/>
                    <a:lstStyle/>
                    <a:p>
                      <a:r>
                        <a:rPr lang="en-US" sz="1600" dirty="0"/>
                        <a:t>Registered measures (e.g., CE90, covariance)</a:t>
                      </a:r>
                    </a:p>
                  </a:txBody>
                  <a:tcPr marL="26781" marR="26781" marT="13390" marB="13390" anchor="ctr">
                    <a:lnL>
                      <a:noFill/>
                    </a:lnL>
                    <a:lnR>
                      <a:noFill/>
                    </a:lnR>
                    <a:lnT>
                      <a:noFill/>
                    </a:lnT>
                    <a:lnB>
                      <a:noFill/>
                    </a:lnB>
                  </a:tcPr>
                </a:tc>
                <a:tc>
                  <a:txBody>
                    <a:bodyPr/>
                    <a:lstStyle/>
                    <a:p>
                      <a:r>
                        <a:rPr lang="en-US" sz="1600"/>
                        <a:t>Yes (measure for covariance matrix)</a:t>
                      </a:r>
                    </a:p>
                  </a:txBody>
                  <a:tcPr marL="26781" marR="26781" marT="13390" marB="13390" anchor="ctr">
                    <a:lnL>
                      <a:noFill/>
                    </a:lnL>
                    <a:lnR>
                      <a:noFill/>
                    </a:lnR>
                    <a:lnT>
                      <a:noFill/>
                    </a:lnT>
                    <a:lnB>
                      <a:noFill/>
                    </a:lnB>
                  </a:tcPr>
                </a:tc>
                <a:tc>
                  <a:txBody>
                    <a:bodyPr/>
                    <a:lstStyle/>
                    <a:p>
                      <a:r>
                        <a:rPr lang="en-US" sz="1600"/>
                        <a:t>CE90/LE90, RMSE</a:t>
                      </a:r>
                    </a:p>
                  </a:txBody>
                  <a:tcPr marL="26781" marR="26781" marT="13390" marB="13390" anchor="ctr">
                    <a:lnL>
                      <a:noFill/>
                    </a:lnL>
                    <a:lnR>
                      <a:noFill/>
                    </a:lnR>
                    <a:lnT>
                      <a:noFill/>
                    </a:lnT>
                    <a:lnB>
                      <a:noFill/>
                    </a:lnB>
                  </a:tcPr>
                </a:tc>
                <a:tc>
                  <a:txBody>
                    <a:bodyPr/>
                    <a:lstStyle/>
                    <a:p>
                      <a:r>
                        <a:rPr lang="en-US" sz="1600"/>
                        <a:t>XML/JSON metadata. </a:t>
                      </a:r>
                      <a:r>
                        <a:rPr lang="en-US" sz="1600">
                          <a:hlinkClick r:id="rId5"/>
                        </a:rPr>
                        <a:t>Itel Standards+1</a:t>
                      </a:r>
                      <a:endParaRPr lang="en-US" sz="1600"/>
                    </a:p>
                  </a:txBody>
                  <a:tcPr marL="26781" marR="26781" marT="13390" marB="13390" anchor="ctr">
                    <a:lnL>
                      <a:noFill/>
                    </a:lnL>
                    <a:lnR>
                      <a:noFill/>
                    </a:lnR>
                    <a:lnT>
                      <a:noFill/>
                    </a:lnT>
                    <a:lnB>
                      <a:noFill/>
                    </a:lnB>
                  </a:tcPr>
                </a:tc>
                <a:extLst>
                  <a:ext uri="{0D108BD9-81ED-4DB2-BD59-A6C34878D82A}">
                    <a16:rowId xmlns:a16="http://schemas.microsoft.com/office/drawing/2014/main" val="2918220537"/>
                  </a:ext>
                </a:extLst>
              </a:tr>
              <a:tr h="541079">
                <a:tc>
                  <a:txBody>
                    <a:bodyPr/>
                    <a:lstStyle/>
                    <a:p>
                      <a:r>
                        <a:rPr lang="en-US" sz="1600" b="1"/>
                        <a:t>ISO/IEC 5259</a:t>
                      </a:r>
                      <a:endParaRPr lang="en-US" sz="1600"/>
                    </a:p>
                  </a:txBody>
                  <a:tcPr marL="26781" marR="26781" marT="13390" marB="13390" anchor="ctr">
                    <a:lnL>
                      <a:noFill/>
                    </a:lnL>
                    <a:lnR>
                      <a:noFill/>
                    </a:lnR>
                    <a:lnT>
                      <a:noFill/>
                    </a:lnT>
                    <a:lnB>
                      <a:noFill/>
                    </a:lnB>
                  </a:tcPr>
                </a:tc>
                <a:tc>
                  <a:txBody>
                    <a:bodyPr/>
                    <a:lstStyle/>
                    <a:p>
                      <a:r>
                        <a:rPr lang="en-US" sz="1600"/>
                        <a:t>(External)</a:t>
                      </a:r>
                    </a:p>
                  </a:txBody>
                  <a:tcPr marL="26781" marR="26781" marT="13390" marB="13390" anchor="ctr">
                    <a:lnL>
                      <a:noFill/>
                    </a:lnL>
                    <a:lnR>
                      <a:noFill/>
                    </a:lnR>
                    <a:lnT>
                      <a:noFill/>
                    </a:lnT>
                    <a:lnB>
                      <a:noFill/>
                    </a:lnB>
                  </a:tcPr>
                </a:tc>
                <a:tc>
                  <a:txBody>
                    <a:bodyPr/>
                    <a:lstStyle/>
                    <a:p>
                      <a:r>
                        <a:rPr lang="en-US" sz="1600" dirty="0"/>
                        <a:t>(External)</a:t>
                      </a:r>
                    </a:p>
                  </a:txBody>
                  <a:tcPr marL="26781" marR="26781" marT="13390" marB="13390" anchor="ctr">
                    <a:lnL>
                      <a:noFill/>
                    </a:lnL>
                    <a:lnR>
                      <a:noFill/>
                    </a:lnR>
                    <a:lnT>
                      <a:noFill/>
                    </a:lnT>
                    <a:lnB>
                      <a:noFill/>
                    </a:lnB>
                  </a:tcPr>
                </a:tc>
                <a:tc>
                  <a:txBody>
                    <a:bodyPr/>
                    <a:lstStyle/>
                    <a:p>
                      <a:r>
                        <a:rPr lang="en-US" sz="1600" dirty="0"/>
                        <a:t>Data-quality governance &amp; documentation</a:t>
                      </a:r>
                    </a:p>
                  </a:txBody>
                  <a:tcPr marL="26781" marR="26781" marT="13390" marB="13390" anchor="ctr">
                    <a:lnL>
                      <a:noFill/>
                    </a:lnL>
                    <a:lnR>
                      <a:noFill/>
                    </a:lnR>
                    <a:lnT>
                      <a:noFill/>
                    </a:lnT>
                    <a:lnB>
                      <a:noFill/>
                    </a:lnB>
                  </a:tcPr>
                </a:tc>
                <a:tc>
                  <a:txBody>
                    <a:bodyPr/>
                    <a:lstStyle/>
                    <a:p>
                      <a:r>
                        <a:rPr lang="en-US" sz="1600" dirty="0"/>
                        <a:t>Conceptual (document your model)</a:t>
                      </a:r>
                    </a:p>
                  </a:txBody>
                  <a:tcPr marL="26781" marR="26781" marT="13390" marB="13390" anchor="ctr">
                    <a:lnL>
                      <a:noFill/>
                    </a:lnL>
                    <a:lnR>
                      <a:noFill/>
                    </a:lnR>
                    <a:lnT>
                      <a:noFill/>
                    </a:lnT>
                    <a:lnB>
                      <a:noFill/>
                    </a:lnB>
                  </a:tcPr>
                </a:tc>
                <a:tc>
                  <a:txBody>
                    <a:bodyPr/>
                    <a:lstStyle/>
                    <a:p>
                      <a:r>
                        <a:rPr lang="en-US" sz="1600"/>
                        <a:t>Any (declared)</a:t>
                      </a:r>
                    </a:p>
                  </a:txBody>
                  <a:tcPr marL="26781" marR="26781" marT="13390" marB="13390" anchor="ctr">
                    <a:lnL>
                      <a:noFill/>
                    </a:lnL>
                    <a:lnR>
                      <a:noFill/>
                    </a:lnR>
                    <a:lnT>
                      <a:noFill/>
                    </a:lnT>
                    <a:lnB>
                      <a:noFill/>
                    </a:lnB>
                  </a:tcPr>
                </a:tc>
                <a:tc>
                  <a:txBody>
                    <a:bodyPr/>
                    <a:lstStyle/>
                    <a:p>
                      <a:r>
                        <a:rPr lang="en-US" sz="1600"/>
                        <a:t>JSON/records. </a:t>
                      </a:r>
                      <a:r>
                        <a:rPr lang="en-US" sz="1600">
                          <a:hlinkClick r:id="rId6"/>
                        </a:rPr>
                        <a:t>ISO</a:t>
                      </a:r>
                      <a:endParaRPr lang="en-US" sz="1600"/>
                    </a:p>
                  </a:txBody>
                  <a:tcPr marL="26781" marR="26781" marT="13390" marB="13390" anchor="ctr">
                    <a:lnL>
                      <a:noFill/>
                    </a:lnL>
                    <a:lnR>
                      <a:noFill/>
                    </a:lnR>
                    <a:lnT>
                      <a:noFill/>
                    </a:lnT>
                    <a:lnB>
                      <a:noFill/>
                    </a:lnB>
                  </a:tcPr>
                </a:tc>
                <a:extLst>
                  <a:ext uri="{0D108BD9-81ED-4DB2-BD59-A6C34878D82A}">
                    <a16:rowId xmlns:a16="http://schemas.microsoft.com/office/drawing/2014/main" val="840190890"/>
                  </a:ext>
                </a:extLst>
              </a:tr>
              <a:tr h="541079">
                <a:tc>
                  <a:txBody>
                    <a:bodyPr/>
                    <a:lstStyle/>
                    <a:p>
                      <a:r>
                        <a:rPr lang="en-US" sz="1600" b="1"/>
                        <a:t>NGA 3DGS (2023-01-04)</a:t>
                      </a:r>
                      <a:endParaRPr lang="en-US" sz="1600"/>
                    </a:p>
                  </a:txBody>
                  <a:tcPr marL="26781" marR="26781" marT="13390" marB="13390" anchor="ctr">
                    <a:lnL>
                      <a:noFill/>
                    </a:lnL>
                    <a:lnR>
                      <a:noFill/>
                    </a:lnR>
                    <a:lnT>
                      <a:noFill/>
                    </a:lnT>
                    <a:lnB>
                      <a:noFill/>
                    </a:lnB>
                  </a:tcPr>
                </a:tc>
                <a:tc>
                  <a:txBody>
                    <a:bodyPr/>
                    <a:lstStyle/>
                    <a:p>
                      <a:r>
                        <a:rPr lang="en-US" sz="1600"/>
                        <a:t>3D nodes/transforms (CRS aware)</a:t>
                      </a:r>
                    </a:p>
                  </a:txBody>
                  <a:tcPr marL="26781" marR="26781" marT="13390" marB="13390" anchor="ctr">
                    <a:lnL>
                      <a:noFill/>
                    </a:lnL>
                    <a:lnR>
                      <a:noFill/>
                    </a:lnR>
                    <a:lnT>
                      <a:noFill/>
                    </a:lnT>
                    <a:lnB>
                      <a:noFill/>
                    </a:lnB>
                  </a:tcPr>
                </a:tc>
                <a:tc>
                  <a:txBody>
                    <a:bodyPr/>
                    <a:lstStyle/>
                    <a:p>
                      <a:r>
                        <a:rPr lang="en-US" sz="1600"/>
                        <a:t>Content timestamps</a:t>
                      </a:r>
                    </a:p>
                  </a:txBody>
                  <a:tcPr marL="26781" marR="26781" marT="13390" marB="13390" anchor="ctr">
                    <a:lnL>
                      <a:noFill/>
                    </a:lnL>
                    <a:lnR>
                      <a:noFill/>
                    </a:lnR>
                    <a:lnT>
                      <a:noFill/>
                    </a:lnT>
                    <a:lnB>
                      <a:noFill/>
                    </a:lnB>
                  </a:tcPr>
                </a:tc>
                <a:tc>
                  <a:txBody>
                    <a:bodyPr/>
                    <a:lstStyle/>
                    <a:p>
                      <a:r>
                        <a:rPr lang="en-US" sz="1600" dirty="0"/>
                        <a:t>Product accuracy fields; attach 19157/CE/LE</a:t>
                      </a:r>
                    </a:p>
                  </a:txBody>
                  <a:tcPr marL="26781" marR="26781" marT="13390" marB="13390" anchor="ctr">
                    <a:lnL>
                      <a:noFill/>
                    </a:lnL>
                    <a:lnR>
                      <a:noFill/>
                    </a:lnR>
                    <a:lnT>
                      <a:noFill/>
                    </a:lnT>
                    <a:lnB>
                      <a:noFill/>
                    </a:lnB>
                  </a:tcPr>
                </a:tc>
                <a:tc>
                  <a:txBody>
                    <a:bodyPr/>
                    <a:lstStyle/>
                    <a:p>
                      <a:r>
                        <a:rPr lang="en-US" sz="1600" dirty="0"/>
                        <a:t>Optional covariance sidecars</a:t>
                      </a:r>
                    </a:p>
                  </a:txBody>
                  <a:tcPr marL="26781" marR="26781" marT="13390" marB="13390" anchor="ctr">
                    <a:lnL>
                      <a:noFill/>
                    </a:lnL>
                    <a:lnR>
                      <a:noFill/>
                    </a:lnR>
                    <a:lnT>
                      <a:noFill/>
                    </a:lnT>
                    <a:lnB>
                      <a:noFill/>
                    </a:lnB>
                  </a:tcPr>
                </a:tc>
                <a:tc>
                  <a:txBody>
                    <a:bodyPr/>
                    <a:lstStyle/>
                    <a:p>
                      <a:r>
                        <a:rPr lang="en-US" sz="1600"/>
                        <a:t>CE90/LE90</a:t>
                      </a:r>
                    </a:p>
                  </a:txBody>
                  <a:tcPr marL="26781" marR="26781" marT="13390" marB="13390" anchor="ctr">
                    <a:lnL>
                      <a:noFill/>
                    </a:lnL>
                    <a:lnR>
                      <a:noFill/>
                    </a:lnR>
                    <a:lnT>
                      <a:noFill/>
                    </a:lnT>
                    <a:lnB>
                      <a:noFill/>
                    </a:lnB>
                  </a:tcPr>
                </a:tc>
                <a:tc>
                  <a:txBody>
                    <a:bodyPr/>
                    <a:lstStyle/>
                    <a:p>
                      <a:r>
                        <a:rPr lang="en-US" sz="1600"/>
                        <a:t>Sidecar JSON/XML. </a:t>
                      </a:r>
                      <a:r>
                        <a:rPr lang="en-US" sz="1600">
                          <a:hlinkClick r:id="rId7"/>
                        </a:rPr>
                        <a:t>SDSFIE</a:t>
                      </a:r>
                      <a:endParaRPr lang="en-US" sz="1600"/>
                    </a:p>
                  </a:txBody>
                  <a:tcPr marL="26781" marR="26781" marT="13390" marB="13390" anchor="ctr">
                    <a:lnL>
                      <a:noFill/>
                    </a:lnL>
                    <a:lnR>
                      <a:noFill/>
                    </a:lnR>
                    <a:lnT>
                      <a:noFill/>
                    </a:lnT>
                    <a:lnB>
                      <a:noFill/>
                    </a:lnB>
                  </a:tcPr>
                </a:tc>
                <a:extLst>
                  <a:ext uri="{0D108BD9-81ED-4DB2-BD59-A6C34878D82A}">
                    <a16:rowId xmlns:a16="http://schemas.microsoft.com/office/drawing/2014/main" val="620421431"/>
                  </a:ext>
                </a:extLst>
              </a:tr>
              <a:tr h="537075">
                <a:tc>
                  <a:txBody>
                    <a:bodyPr/>
                    <a:lstStyle/>
                    <a:p>
                      <a:r>
                        <a:rPr lang="en-US" sz="1600" b="1"/>
                        <a:t>NGA Predictive Statistics</a:t>
                      </a:r>
                      <a:endParaRPr lang="en-US" sz="1600"/>
                    </a:p>
                  </a:txBody>
                  <a:tcPr marL="26781" marR="26781" marT="13390" marB="13390" anchor="ctr">
                    <a:lnL>
                      <a:noFill/>
                    </a:lnL>
                    <a:lnR>
                      <a:noFill/>
                    </a:lnR>
                    <a:lnT>
                      <a:noFill/>
                    </a:lnT>
                    <a:lnB>
                      <a:noFill/>
                    </a:lnB>
                  </a:tcPr>
                </a:tc>
                <a:tc>
                  <a:txBody>
                    <a:bodyPr/>
                    <a:lstStyle/>
                    <a:p>
                      <a:r>
                        <a:rPr lang="en-US" sz="1600"/>
                        <a:t>(External)</a:t>
                      </a:r>
                    </a:p>
                  </a:txBody>
                  <a:tcPr marL="26781" marR="26781" marT="13390" marB="13390" anchor="ctr">
                    <a:lnL>
                      <a:noFill/>
                    </a:lnL>
                    <a:lnR>
                      <a:noFill/>
                    </a:lnR>
                    <a:lnT>
                      <a:noFill/>
                    </a:lnT>
                    <a:lnB>
                      <a:noFill/>
                    </a:lnB>
                  </a:tcPr>
                </a:tc>
                <a:tc>
                  <a:txBody>
                    <a:bodyPr/>
                    <a:lstStyle/>
                    <a:p>
                      <a:r>
                        <a:rPr lang="en-US" sz="1600"/>
                        <a:t>(External)</a:t>
                      </a:r>
                    </a:p>
                  </a:txBody>
                  <a:tcPr marL="26781" marR="26781" marT="13390" marB="13390" anchor="ctr">
                    <a:lnL>
                      <a:noFill/>
                    </a:lnL>
                    <a:lnR>
                      <a:noFill/>
                    </a:lnR>
                    <a:lnT>
                      <a:noFill/>
                    </a:lnT>
                    <a:lnB>
                      <a:noFill/>
                    </a:lnB>
                  </a:tcPr>
                </a:tc>
                <a:tc>
                  <a:txBody>
                    <a:bodyPr/>
                    <a:lstStyle/>
                    <a:p>
                      <a:r>
                        <a:rPr lang="en-US" sz="1600" dirty="0"/>
                        <a:t>A-priori covariance ⇒ CE/LE/SE</a:t>
                      </a:r>
                    </a:p>
                  </a:txBody>
                  <a:tcPr marL="26781" marR="26781" marT="13390" marB="13390" anchor="ctr">
                    <a:lnL>
                      <a:noFill/>
                    </a:lnL>
                    <a:lnR>
                      <a:noFill/>
                    </a:lnR>
                    <a:lnT>
                      <a:noFill/>
                    </a:lnT>
                    <a:lnB>
                      <a:noFill/>
                    </a:lnB>
                  </a:tcPr>
                </a:tc>
                <a:tc>
                  <a:txBody>
                    <a:bodyPr/>
                    <a:lstStyle/>
                    <a:p>
                      <a:r>
                        <a:rPr lang="en-US" sz="1600" dirty="0"/>
                        <a:t>Yes (input covariance)</a:t>
                      </a:r>
                    </a:p>
                  </a:txBody>
                  <a:tcPr marL="26781" marR="26781" marT="13390" marB="13390" anchor="ctr">
                    <a:lnL>
                      <a:noFill/>
                    </a:lnL>
                    <a:lnR>
                      <a:noFill/>
                    </a:lnR>
                    <a:lnT>
                      <a:noFill/>
                    </a:lnT>
                    <a:lnB>
                      <a:noFill/>
                    </a:lnB>
                  </a:tcPr>
                </a:tc>
                <a:tc>
                  <a:txBody>
                    <a:bodyPr/>
                    <a:lstStyle/>
                    <a:p>
                      <a:r>
                        <a:rPr lang="en-US" sz="1600" dirty="0"/>
                        <a:t>CE90/LE90</a:t>
                      </a:r>
                    </a:p>
                  </a:txBody>
                  <a:tcPr marL="26781" marR="26781" marT="13390" marB="13390" anchor="ctr">
                    <a:lnL>
                      <a:noFill/>
                    </a:lnL>
                    <a:lnR>
                      <a:noFill/>
                    </a:lnR>
                    <a:lnT>
                      <a:noFill/>
                    </a:lnT>
                    <a:lnB>
                      <a:noFill/>
                    </a:lnB>
                  </a:tcPr>
                </a:tc>
                <a:tc>
                  <a:txBody>
                    <a:bodyPr/>
                    <a:lstStyle/>
                    <a:p>
                      <a:r>
                        <a:rPr lang="en-US" sz="1600"/>
                        <a:t>Math/metadata refs. </a:t>
                      </a:r>
                      <a:r>
                        <a:rPr lang="en-US" sz="1600">
                          <a:hlinkClick r:id="rId8"/>
                        </a:rPr>
                        <a:t>ASPRS+1</a:t>
                      </a:r>
                      <a:endParaRPr lang="en-US" sz="1600"/>
                    </a:p>
                  </a:txBody>
                  <a:tcPr marL="26781" marR="26781" marT="13390" marB="13390" anchor="ctr">
                    <a:lnL>
                      <a:noFill/>
                    </a:lnL>
                    <a:lnR>
                      <a:noFill/>
                    </a:lnR>
                    <a:lnT>
                      <a:noFill/>
                    </a:lnT>
                    <a:lnB>
                      <a:noFill/>
                    </a:lnB>
                  </a:tcPr>
                </a:tc>
                <a:extLst>
                  <a:ext uri="{0D108BD9-81ED-4DB2-BD59-A6C34878D82A}">
                    <a16:rowId xmlns:a16="http://schemas.microsoft.com/office/drawing/2014/main" val="1385131791"/>
                  </a:ext>
                </a:extLst>
              </a:tr>
              <a:tr h="537075">
                <a:tc>
                  <a:txBody>
                    <a:bodyPr/>
                    <a:lstStyle/>
                    <a:p>
                      <a:r>
                        <a:rPr lang="en-US" sz="1600" b="1"/>
                        <a:t>CSM / Generic Photoblock</a:t>
                      </a:r>
                      <a:endParaRPr lang="en-US" sz="1600"/>
                    </a:p>
                  </a:txBody>
                  <a:tcPr marL="26781" marR="26781" marT="13390" marB="13390" anchor="ctr">
                    <a:lnL>
                      <a:noFill/>
                    </a:lnL>
                    <a:lnR>
                      <a:noFill/>
                    </a:lnR>
                    <a:lnT>
                      <a:noFill/>
                    </a:lnT>
                    <a:lnB>
                      <a:noFill/>
                    </a:lnB>
                  </a:tcPr>
                </a:tc>
                <a:tc>
                  <a:txBody>
                    <a:bodyPr/>
                    <a:lstStyle/>
                    <a:p>
                      <a:r>
                        <a:rPr lang="en-US" sz="1600"/>
                        <a:t>EO: X,Y,Z,</a:t>
                      </a:r>
                      <a:r>
                        <a:rPr lang="el-GR" sz="1600"/>
                        <a:t>Ω,Φ,Κ </a:t>
                      </a:r>
                      <a:r>
                        <a:rPr lang="en-US" sz="1600"/>
                        <a:t>or quat per image</a:t>
                      </a:r>
                    </a:p>
                  </a:txBody>
                  <a:tcPr marL="26781" marR="26781" marT="13390" marB="13390" anchor="ctr">
                    <a:lnL>
                      <a:noFill/>
                    </a:lnL>
                    <a:lnR>
                      <a:noFill/>
                    </a:lnR>
                    <a:lnT>
                      <a:noFill/>
                    </a:lnT>
                    <a:lnB>
                      <a:noFill/>
                    </a:lnB>
                  </a:tcPr>
                </a:tc>
                <a:tc>
                  <a:txBody>
                    <a:bodyPr/>
                    <a:lstStyle/>
                    <a:p>
                      <a:r>
                        <a:rPr lang="en-US" sz="1600"/>
                        <a:t>Image/time tags</a:t>
                      </a:r>
                    </a:p>
                  </a:txBody>
                  <a:tcPr marL="26781" marR="26781" marT="13390" marB="13390" anchor="ctr">
                    <a:lnL>
                      <a:noFill/>
                    </a:lnL>
                    <a:lnR>
                      <a:noFill/>
                    </a:lnR>
                    <a:lnT>
                      <a:noFill/>
                    </a:lnT>
                    <a:lnB>
                      <a:noFill/>
                    </a:lnB>
                  </a:tcPr>
                </a:tc>
                <a:tc>
                  <a:txBody>
                    <a:bodyPr/>
                    <a:lstStyle/>
                    <a:p>
                      <a:r>
                        <a:rPr lang="en-US" sz="1600"/>
                        <a:t>EO covariance (per image/block)</a:t>
                      </a:r>
                    </a:p>
                  </a:txBody>
                  <a:tcPr marL="26781" marR="26781" marT="13390" marB="13390" anchor="ctr">
                    <a:lnL>
                      <a:noFill/>
                    </a:lnL>
                    <a:lnR>
                      <a:noFill/>
                    </a:lnR>
                    <a:lnT>
                      <a:noFill/>
                    </a:lnT>
                    <a:lnB>
                      <a:noFill/>
                    </a:lnB>
                  </a:tcPr>
                </a:tc>
                <a:tc>
                  <a:txBody>
                    <a:bodyPr/>
                    <a:lstStyle/>
                    <a:p>
                      <a:r>
                        <a:rPr lang="en-US" sz="1600" dirty="0"/>
                        <a:t>Yes (full block covariances)</a:t>
                      </a:r>
                    </a:p>
                  </a:txBody>
                  <a:tcPr marL="26781" marR="26781" marT="13390" marB="13390" anchor="ctr">
                    <a:lnL>
                      <a:noFill/>
                    </a:lnL>
                    <a:lnR>
                      <a:noFill/>
                    </a:lnR>
                    <a:lnT>
                      <a:noFill/>
                    </a:lnT>
                    <a:lnB>
                      <a:noFill/>
                    </a:lnB>
                  </a:tcPr>
                </a:tc>
                <a:tc>
                  <a:txBody>
                    <a:bodyPr/>
                    <a:lstStyle/>
                    <a:p>
                      <a:r>
                        <a:rPr lang="en-US" sz="1600" dirty="0"/>
                        <a:t>CE/LE (derived)</a:t>
                      </a:r>
                    </a:p>
                  </a:txBody>
                  <a:tcPr marL="26781" marR="26781" marT="13390" marB="13390" anchor="ctr">
                    <a:lnL>
                      <a:noFill/>
                    </a:lnL>
                    <a:lnR>
                      <a:noFill/>
                    </a:lnR>
                    <a:lnT>
                      <a:noFill/>
                    </a:lnT>
                    <a:lnB>
                      <a:noFill/>
                    </a:lnB>
                  </a:tcPr>
                </a:tc>
                <a:tc>
                  <a:txBody>
                    <a:bodyPr/>
                    <a:lstStyle/>
                    <a:p>
                      <a:r>
                        <a:rPr lang="en-US" sz="1600" dirty="0"/>
                        <a:t>JSON/XML </a:t>
                      </a:r>
                      <a:r>
                        <a:rPr lang="en-US" sz="1600" dirty="0" err="1"/>
                        <a:t>photoblocks</a:t>
                      </a:r>
                      <a:r>
                        <a:rPr lang="en-US" sz="1600" dirty="0"/>
                        <a:t>. </a:t>
                      </a:r>
                      <a:r>
                        <a:rPr lang="en-US" sz="1600" dirty="0">
                          <a:hlinkClick r:id="rId9"/>
                        </a:rPr>
                        <a:t>MDPI+1</a:t>
                      </a:r>
                      <a:endParaRPr lang="en-US" sz="1600" dirty="0"/>
                    </a:p>
                  </a:txBody>
                  <a:tcPr marL="26781" marR="26781" marT="13390" marB="13390" anchor="ctr">
                    <a:lnL>
                      <a:noFill/>
                    </a:lnL>
                    <a:lnR>
                      <a:noFill/>
                    </a:lnR>
                    <a:lnT>
                      <a:noFill/>
                    </a:lnT>
                    <a:lnB>
                      <a:noFill/>
                    </a:lnB>
                  </a:tcPr>
                </a:tc>
                <a:extLst>
                  <a:ext uri="{0D108BD9-81ED-4DB2-BD59-A6C34878D82A}">
                    <a16:rowId xmlns:a16="http://schemas.microsoft.com/office/drawing/2014/main" val="214648537"/>
                  </a:ext>
                </a:extLst>
              </a:tr>
              <a:tr h="791634">
                <a:tc>
                  <a:txBody>
                    <a:bodyPr/>
                    <a:lstStyle/>
                    <a:p>
                      <a:r>
                        <a:rPr lang="en-US" sz="1600" b="1"/>
                        <a:t>MISB MISP-2023.2 + ST 0601/1107</a:t>
                      </a:r>
                      <a:endParaRPr lang="en-US" sz="1600"/>
                    </a:p>
                  </a:txBody>
                  <a:tcPr marL="26781" marR="26781" marT="13390" marB="13390" anchor="ctr">
                    <a:lnL>
                      <a:noFill/>
                    </a:lnL>
                    <a:lnR>
                      <a:noFill/>
                    </a:lnR>
                    <a:lnT>
                      <a:noFill/>
                    </a:lnT>
                    <a:lnB>
                      <a:noFill/>
                    </a:lnB>
                  </a:tcPr>
                </a:tc>
                <a:tc>
                  <a:txBody>
                    <a:bodyPr/>
                    <a:lstStyle/>
                    <a:p>
                      <a:r>
                        <a:rPr lang="en-US" sz="1600"/>
                        <a:t>KLV: sensor lat/lon/alt, heading/pitch/roll</a:t>
                      </a:r>
                    </a:p>
                  </a:txBody>
                  <a:tcPr marL="26781" marR="26781" marT="13390" marB="13390" anchor="ctr">
                    <a:lnL>
                      <a:noFill/>
                    </a:lnL>
                    <a:lnR>
                      <a:noFill/>
                    </a:lnR>
                    <a:lnT>
                      <a:noFill/>
                    </a:lnT>
                    <a:lnB>
                      <a:noFill/>
                    </a:lnB>
                  </a:tcPr>
                </a:tc>
                <a:tc>
                  <a:txBody>
                    <a:bodyPr/>
                    <a:lstStyle/>
                    <a:p>
                      <a:r>
                        <a:rPr lang="en-US" sz="1600"/>
                        <a:t>Precision timestamp</a:t>
                      </a:r>
                    </a:p>
                  </a:txBody>
                  <a:tcPr marL="26781" marR="26781" marT="13390" marB="13390" anchor="ctr">
                    <a:lnL>
                      <a:noFill/>
                    </a:lnL>
                    <a:lnR>
                      <a:noFill/>
                    </a:lnR>
                    <a:lnT>
                      <a:noFill/>
                    </a:lnT>
                    <a:lnB>
                      <a:noFill/>
                    </a:lnB>
                  </a:tcPr>
                </a:tc>
                <a:tc>
                  <a:txBody>
                    <a:bodyPr/>
                    <a:lstStyle/>
                    <a:p>
                      <a:r>
                        <a:rPr lang="en-US" sz="1600"/>
                        <a:t>ST 1107 CE/LE; limited native covariance</a:t>
                      </a:r>
                    </a:p>
                  </a:txBody>
                  <a:tcPr marL="26781" marR="26781" marT="13390" marB="13390" anchor="ctr">
                    <a:lnL>
                      <a:noFill/>
                    </a:lnL>
                    <a:lnR>
                      <a:noFill/>
                    </a:lnR>
                    <a:lnT>
                      <a:noFill/>
                    </a:lnT>
                    <a:lnB>
                      <a:noFill/>
                    </a:lnB>
                  </a:tcPr>
                </a:tc>
                <a:tc>
                  <a:txBody>
                    <a:bodyPr/>
                    <a:lstStyle/>
                    <a:p>
                      <a:r>
                        <a:rPr lang="en-US" sz="1600"/>
                        <a:t>No (unless vendor tags)</a:t>
                      </a:r>
                    </a:p>
                  </a:txBody>
                  <a:tcPr marL="26781" marR="26781" marT="13390" marB="13390" anchor="ctr">
                    <a:lnL>
                      <a:noFill/>
                    </a:lnL>
                    <a:lnR>
                      <a:noFill/>
                    </a:lnR>
                    <a:lnT>
                      <a:noFill/>
                    </a:lnT>
                    <a:lnB>
                      <a:noFill/>
                    </a:lnB>
                  </a:tcPr>
                </a:tc>
                <a:tc>
                  <a:txBody>
                    <a:bodyPr/>
                    <a:lstStyle/>
                    <a:p>
                      <a:r>
                        <a:rPr lang="en-US" sz="1600" dirty="0"/>
                        <a:t>CE90/LE90</a:t>
                      </a:r>
                    </a:p>
                  </a:txBody>
                  <a:tcPr marL="26781" marR="26781" marT="13390" marB="13390" anchor="ctr">
                    <a:lnL>
                      <a:noFill/>
                    </a:lnL>
                    <a:lnR>
                      <a:noFill/>
                    </a:lnR>
                    <a:lnT>
                      <a:noFill/>
                    </a:lnT>
                    <a:lnB>
                      <a:noFill/>
                    </a:lnB>
                  </a:tcPr>
                </a:tc>
                <a:tc>
                  <a:txBody>
                    <a:bodyPr/>
                    <a:lstStyle/>
                    <a:p>
                      <a:r>
                        <a:rPr lang="en-US" sz="1600" dirty="0"/>
                        <a:t>KLV in MPEG-TS/RTP. </a:t>
                      </a:r>
                      <a:r>
                        <a:rPr lang="en-US" sz="1600" dirty="0">
                          <a:hlinkClick r:id="rId10"/>
                        </a:rPr>
                        <a:t>Wikimedia Commons+2ImpleoTV+2</a:t>
                      </a:r>
                      <a:endParaRPr lang="en-US" sz="1600" dirty="0"/>
                    </a:p>
                  </a:txBody>
                  <a:tcPr marL="26781" marR="26781" marT="13390" marB="13390" anchor="ctr">
                    <a:lnL>
                      <a:noFill/>
                    </a:lnL>
                    <a:lnR>
                      <a:noFill/>
                    </a:lnR>
                    <a:lnT>
                      <a:noFill/>
                    </a:lnT>
                    <a:lnB>
                      <a:noFill/>
                    </a:lnB>
                  </a:tcPr>
                </a:tc>
                <a:extLst>
                  <a:ext uri="{0D108BD9-81ED-4DB2-BD59-A6C34878D82A}">
                    <a16:rowId xmlns:a16="http://schemas.microsoft.com/office/drawing/2014/main" val="2318848365"/>
                  </a:ext>
                </a:extLst>
              </a:tr>
            </a:tbl>
          </a:graphicData>
        </a:graphic>
      </p:graphicFrame>
      <p:sp>
        <p:nvSpPr>
          <p:cNvPr id="6" name="Rectangle 2">
            <a:extLst>
              <a:ext uri="{FF2B5EF4-FFF2-40B4-BE49-F238E27FC236}">
                <a16:creationId xmlns:a16="http://schemas.microsoft.com/office/drawing/2014/main" id="{1A6E5A61-343A-A24D-ACA4-3AC9FB2B0126}"/>
              </a:ext>
            </a:extLst>
          </p:cNvPr>
          <p:cNvSpPr>
            <a:spLocks noChangeArrowheads="1"/>
          </p:cNvSpPr>
          <p:nvPr/>
        </p:nvSpPr>
        <p:spPr bwMode="auto">
          <a:xfrm>
            <a:off x="1448025" y="1708564"/>
            <a:ext cx="25910897"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96744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310B6C-778F-D04B-A878-F33E0B5AB418}"/>
              </a:ext>
            </a:extLst>
          </p:cNvPr>
          <p:cNvSpPr>
            <a:spLocks noGrp="1"/>
          </p:cNvSpPr>
          <p:nvPr>
            <p:ph type="body" idx="16"/>
          </p:nvPr>
        </p:nvSpPr>
        <p:spPr/>
        <p:txBody>
          <a:bodyPr/>
          <a:lstStyle/>
          <a:p>
            <a:r>
              <a:rPr lang="en-US" b="1" dirty="0"/>
              <a:t>GWG/MISB – MISP-2023.2 + MISB ST 0601 / ST 1107 (KLV)</a:t>
            </a:r>
          </a:p>
          <a:p>
            <a:r>
              <a:rPr lang="en-US" b="1" dirty="0"/>
              <a:t>Pose &amp; time.</a:t>
            </a:r>
            <a:r>
              <a:rPr lang="en-US" dirty="0"/>
              <a:t> In Full-Motion-Video, KLV metadata carries </a:t>
            </a:r>
            <a:r>
              <a:rPr lang="en-US" b="1" dirty="0"/>
              <a:t>platform heading/pitch/roll</a:t>
            </a:r>
            <a:r>
              <a:rPr lang="en-US" dirty="0"/>
              <a:t>, </a:t>
            </a:r>
            <a:r>
              <a:rPr lang="en-US" b="1" dirty="0"/>
              <a:t>sensor </a:t>
            </a:r>
            <a:r>
              <a:rPr lang="en-US" b="1" dirty="0" err="1"/>
              <a:t>lat</a:t>
            </a:r>
            <a:r>
              <a:rPr lang="en-US" b="1" dirty="0"/>
              <a:t>/</a:t>
            </a:r>
            <a:r>
              <a:rPr lang="en-US" b="1" dirty="0" err="1"/>
              <a:t>lon</a:t>
            </a:r>
            <a:r>
              <a:rPr lang="en-US" b="1" dirty="0"/>
              <a:t>/alt</a:t>
            </a:r>
            <a:r>
              <a:rPr lang="en-US" dirty="0"/>
              <a:t>, timestamps, etc., via ST 0601. Metric </a:t>
            </a:r>
            <a:r>
              <a:rPr lang="en-US" dirty="0" err="1"/>
              <a:t>geopositioning</a:t>
            </a:r>
            <a:r>
              <a:rPr lang="en-US" dirty="0"/>
              <a:t>/interpretability live in ST 1107/1108; MISP 2023.x profiles which tags are required. </a:t>
            </a:r>
            <a:r>
              <a:rPr lang="en-US" dirty="0">
                <a:hlinkClick r:id="rId2"/>
              </a:rPr>
              <a:t>OGC Portal+4Wikimedia Commons+4ImpleoTV+4</a:t>
            </a:r>
            <a:endParaRPr lang="en-US" dirty="0"/>
          </a:p>
          <a:p>
            <a:r>
              <a:rPr lang="en-US" b="1" dirty="0"/>
              <a:t>Uncertainty.</a:t>
            </a:r>
            <a:r>
              <a:rPr lang="en-US" dirty="0"/>
              <a:t> ST 1107 defines geolocation accuracy fields (e.g., CE90/LE90). KLV does not natively ship full covariance, but you can add vendor tags or map to external quality docs.</a:t>
            </a:r>
          </a:p>
          <a:p>
            <a:r>
              <a:rPr lang="en-US" b="1" dirty="0"/>
              <a:t>Sample (friendly JSON mirror of KLV content):</a:t>
            </a:r>
            <a:endParaRPr lang="en-US" dirty="0"/>
          </a:p>
          <a:p>
            <a:r>
              <a:rPr lang="en-US" dirty="0"/>
              <a:t>{ "klv0601": { "</a:t>
            </a:r>
            <a:r>
              <a:rPr lang="en-US" dirty="0" err="1"/>
              <a:t>precisionTimeStamp</a:t>
            </a:r>
            <a:r>
              <a:rPr lang="en-US" dirty="0"/>
              <a:t>": "2025-10-27T20:05:00Z", "</a:t>
            </a:r>
            <a:r>
              <a:rPr lang="en-US" dirty="0" err="1"/>
              <a:t>sensorLat</a:t>
            </a:r>
            <a:r>
              <a:rPr lang="en-US" dirty="0"/>
              <a:t>": 39.739200, "</a:t>
            </a:r>
            <a:r>
              <a:rPr lang="en-US" dirty="0" err="1"/>
              <a:t>sensorLon</a:t>
            </a:r>
            <a:r>
              <a:rPr lang="en-US" dirty="0"/>
              <a:t>": -104.990300, "</a:t>
            </a:r>
            <a:r>
              <a:rPr lang="en-US" dirty="0" err="1"/>
              <a:t>sensorTrueAlt_m</a:t>
            </a:r>
            <a:r>
              <a:rPr lang="en-US" dirty="0"/>
              <a:t>": 1600.0, "</a:t>
            </a:r>
            <a:r>
              <a:rPr lang="en-US" dirty="0" err="1"/>
              <a:t>platformHeading_deg</a:t>
            </a:r>
            <a:r>
              <a:rPr lang="en-US" dirty="0"/>
              <a:t>": 92.5, "</a:t>
            </a:r>
            <a:r>
              <a:rPr lang="en-US" dirty="0" err="1"/>
              <a:t>platformPitch_deg</a:t>
            </a:r>
            <a:r>
              <a:rPr lang="en-US" dirty="0"/>
              <a:t>": -1.0, "</a:t>
            </a:r>
            <a:r>
              <a:rPr lang="en-US" dirty="0" err="1"/>
              <a:t>platformRoll_deg</a:t>
            </a:r>
            <a:r>
              <a:rPr lang="en-US" dirty="0"/>
              <a:t>": 0.2 }, "st1107": { "CE90_m": 8.1, "LE90_m": 12.0, "confidence": 0.90 } }</a:t>
            </a:r>
          </a:p>
          <a:p>
            <a:endParaRPr lang="en-US" dirty="0"/>
          </a:p>
        </p:txBody>
      </p:sp>
      <p:sp>
        <p:nvSpPr>
          <p:cNvPr id="3" name="Title 2">
            <a:extLst>
              <a:ext uri="{FF2B5EF4-FFF2-40B4-BE49-F238E27FC236}">
                <a16:creationId xmlns:a16="http://schemas.microsoft.com/office/drawing/2014/main" id="{65CF10E6-E3A8-B346-A128-11A1D6BA698B}"/>
              </a:ext>
            </a:extLst>
          </p:cNvPr>
          <p:cNvSpPr>
            <a:spLocks noGrp="1"/>
          </p:cNvSpPr>
          <p:nvPr>
            <p:ph type="title"/>
          </p:nvPr>
        </p:nvSpPr>
        <p:spPr/>
        <p:txBody>
          <a:bodyPr/>
          <a:lstStyle/>
          <a:p>
            <a:r>
              <a:rPr lang="en-US" dirty="0"/>
              <a:t>Example: </a:t>
            </a:r>
            <a:r>
              <a:rPr lang="en-US" b="1" dirty="0"/>
              <a:t>Motion Imagery Standards Board</a:t>
            </a:r>
          </a:p>
        </p:txBody>
      </p:sp>
    </p:spTree>
    <p:extLst>
      <p:ext uri="{BB962C8B-B14F-4D97-AF65-F5344CB8AC3E}">
        <p14:creationId xmlns:p14="http://schemas.microsoft.com/office/powerpoint/2010/main" val="530070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310B6C-778F-D04B-A878-F33E0B5AB418}"/>
              </a:ext>
            </a:extLst>
          </p:cNvPr>
          <p:cNvSpPr>
            <a:spLocks noGrp="1"/>
          </p:cNvSpPr>
          <p:nvPr>
            <p:ph type="body" idx="16"/>
          </p:nvPr>
        </p:nvSpPr>
        <p:spPr/>
        <p:txBody>
          <a:bodyPr/>
          <a:lstStyle/>
          <a:p>
            <a:r>
              <a:rPr lang="en-US" b="1" dirty="0"/>
              <a:t>NGA “Accuracy &amp; Predicted Accuracy in the NSG: Predictive Statistics”</a:t>
            </a:r>
          </a:p>
          <a:p>
            <a:r>
              <a:rPr lang="en-US" b="1" dirty="0"/>
              <a:t>Pose &amp; time.</a:t>
            </a:r>
            <a:r>
              <a:rPr lang="en-US" dirty="0"/>
              <a:t> Not a pose container—this document (and related ASPRS work) formalizes </a:t>
            </a:r>
            <a:r>
              <a:rPr lang="en-US" b="1" dirty="0"/>
              <a:t>predictive</a:t>
            </a:r>
            <a:r>
              <a:rPr lang="en-US" dirty="0"/>
              <a:t> (a priori) vs </a:t>
            </a:r>
            <a:r>
              <a:rPr lang="en-US" b="1" dirty="0"/>
              <a:t>sample</a:t>
            </a:r>
            <a:r>
              <a:rPr lang="en-US" dirty="0"/>
              <a:t> (a posteriori) accuracy; converts covariance into scalar metrics like CE90/LE90. </a:t>
            </a:r>
            <a:r>
              <a:rPr lang="en-US" dirty="0">
                <a:hlinkClick r:id="rId2"/>
              </a:rPr>
              <a:t>ASPRS+2ASPRS+2</a:t>
            </a:r>
            <a:endParaRPr lang="en-US" dirty="0"/>
          </a:p>
          <a:p>
            <a:r>
              <a:rPr lang="en-US" b="1" dirty="0"/>
              <a:t>Uncertainty.</a:t>
            </a:r>
            <a:r>
              <a:rPr lang="en-US" dirty="0"/>
              <a:t> Start from a 2D/3D covariance, compute CE90/LE90/SE (temporal) using chi-square factors; retain the full covariance to preserve dependencies.</a:t>
            </a:r>
          </a:p>
          <a:p>
            <a:r>
              <a:rPr lang="en-US" b="1" dirty="0"/>
              <a:t>Sample (deriving CE90/LE90 from covariance):</a:t>
            </a:r>
            <a:endParaRPr lang="en-US" dirty="0"/>
          </a:p>
          <a:p>
            <a:r>
              <a:rPr lang="en-US" dirty="0"/>
              <a:t># concept only: CE90 ≈ k * sqrt(</a:t>
            </a:r>
            <a:r>
              <a:rPr lang="el-GR" dirty="0"/>
              <a:t>σ</a:t>
            </a:r>
            <a:r>
              <a:rPr lang="en-US" dirty="0"/>
              <a:t>x^2 + </a:t>
            </a:r>
            <a:r>
              <a:rPr lang="el-GR" dirty="0"/>
              <a:t>σ</a:t>
            </a:r>
            <a:r>
              <a:rPr lang="en-US" dirty="0"/>
              <a:t>y^2) when </a:t>
            </a:r>
            <a:r>
              <a:rPr lang="el-GR" dirty="0"/>
              <a:t>ρ≈0; </a:t>
            </a:r>
            <a:r>
              <a:rPr lang="en-US" dirty="0"/>
              <a:t>general case uses eigenvalues k_ce90 = 2.146 # 90% Rayleigh equivalent; exact factor depends on convention k_le90 = 1.6449 # 90% 1D normal CE90 = k_ce90 * ((</a:t>
            </a:r>
            <a:r>
              <a:rPr lang="en-US" dirty="0" err="1"/>
              <a:t>cov</a:t>
            </a:r>
            <a:r>
              <a:rPr lang="en-US" dirty="0"/>
              <a:t>[0][0] + </a:t>
            </a:r>
            <a:r>
              <a:rPr lang="en-US" dirty="0" err="1"/>
              <a:t>cov</a:t>
            </a:r>
            <a:r>
              <a:rPr lang="en-US" dirty="0"/>
              <a:t>[1][1] - 2*</a:t>
            </a:r>
            <a:r>
              <a:rPr lang="en-US" dirty="0" err="1"/>
              <a:t>cov</a:t>
            </a:r>
            <a:r>
              <a:rPr lang="en-US" dirty="0"/>
              <a:t>[0][1])**0.5) # placeholder LE90 = k_le90 * (</a:t>
            </a:r>
            <a:r>
              <a:rPr lang="en-US" dirty="0" err="1"/>
              <a:t>cov</a:t>
            </a:r>
            <a:r>
              <a:rPr lang="en-US" dirty="0"/>
              <a:t>[2][2]**0.5)</a:t>
            </a:r>
          </a:p>
          <a:p>
            <a:endParaRPr lang="en-US" dirty="0"/>
          </a:p>
        </p:txBody>
      </p:sp>
      <p:sp>
        <p:nvSpPr>
          <p:cNvPr id="3" name="Title 2">
            <a:extLst>
              <a:ext uri="{FF2B5EF4-FFF2-40B4-BE49-F238E27FC236}">
                <a16:creationId xmlns:a16="http://schemas.microsoft.com/office/drawing/2014/main" id="{65CF10E6-E3A8-B346-A128-11A1D6BA698B}"/>
              </a:ext>
            </a:extLst>
          </p:cNvPr>
          <p:cNvSpPr>
            <a:spLocks noGrp="1"/>
          </p:cNvSpPr>
          <p:nvPr>
            <p:ph type="title"/>
          </p:nvPr>
        </p:nvSpPr>
        <p:spPr/>
        <p:txBody>
          <a:bodyPr/>
          <a:lstStyle/>
          <a:p>
            <a:r>
              <a:rPr lang="en-US" dirty="0"/>
              <a:t>Example: </a:t>
            </a:r>
            <a:r>
              <a:rPr lang="en-US" b="1" dirty="0"/>
              <a:t>NGA Standardizations</a:t>
            </a:r>
            <a:endParaRPr lang="en-US" dirty="0"/>
          </a:p>
        </p:txBody>
      </p:sp>
    </p:spTree>
    <p:extLst>
      <p:ext uri="{BB962C8B-B14F-4D97-AF65-F5344CB8AC3E}">
        <p14:creationId xmlns:p14="http://schemas.microsoft.com/office/powerpoint/2010/main" val="3682821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310B6C-778F-D04B-A878-F33E0B5AB418}"/>
              </a:ext>
            </a:extLst>
          </p:cNvPr>
          <p:cNvSpPr>
            <a:spLocks noGrp="1"/>
          </p:cNvSpPr>
          <p:nvPr>
            <p:ph type="body" idx="16"/>
          </p:nvPr>
        </p:nvSpPr>
        <p:spPr/>
        <p:txBody>
          <a:bodyPr/>
          <a:lstStyle/>
          <a:p>
            <a:r>
              <a:rPr lang="en-US" b="1" dirty="0"/>
              <a:t>GWG Community Sensor Model (CSM) – Generic </a:t>
            </a:r>
            <a:r>
              <a:rPr lang="en-US" b="1" dirty="0" err="1"/>
              <a:t>Photoblock</a:t>
            </a:r>
            <a:endParaRPr lang="en-US" b="1" dirty="0"/>
          </a:p>
          <a:p>
            <a:r>
              <a:rPr lang="en-US" b="1" dirty="0"/>
              <a:t>Pose &amp; time.</a:t>
            </a:r>
            <a:r>
              <a:rPr lang="en-US" dirty="0"/>
              <a:t> CSM &amp; Generic </a:t>
            </a:r>
            <a:r>
              <a:rPr lang="en-US" dirty="0" err="1"/>
              <a:t>Photoblock</a:t>
            </a:r>
            <a:r>
              <a:rPr lang="en-US" dirty="0"/>
              <a:t> serialize </a:t>
            </a:r>
            <a:r>
              <a:rPr lang="en-US" b="1" dirty="0"/>
              <a:t>exterior orientations</a:t>
            </a:r>
            <a:r>
              <a:rPr lang="en-US" dirty="0"/>
              <a:t> (X,Y,Z, </a:t>
            </a:r>
            <a:r>
              <a:rPr lang="el-GR" dirty="0"/>
              <a:t>Ω,Φ,Κ / </a:t>
            </a:r>
            <a:r>
              <a:rPr lang="en-US" dirty="0"/>
              <a:t>or quaternions) per image, plus rigorous sensor models; photogrammetric bundles usually include </a:t>
            </a:r>
            <a:r>
              <a:rPr lang="en-US" b="1" dirty="0"/>
              <a:t>normal matrices/covariances</a:t>
            </a:r>
            <a:r>
              <a:rPr lang="en-US" dirty="0"/>
              <a:t>. </a:t>
            </a:r>
            <a:r>
              <a:rPr lang="en-US" dirty="0">
                <a:hlinkClick r:id="rId2"/>
              </a:rPr>
              <a:t>MDPI+2USRA Houston+2</a:t>
            </a:r>
            <a:endParaRPr lang="en-US" dirty="0"/>
          </a:p>
          <a:p>
            <a:r>
              <a:rPr lang="en-US" b="1" dirty="0"/>
              <a:t>Uncertainty.</a:t>
            </a:r>
            <a:r>
              <a:rPr lang="en-US" dirty="0"/>
              <a:t> Store full covariance for EO parameters and tie points—this naturally captures cross-axis dependencies.</a:t>
            </a:r>
          </a:p>
          <a:p>
            <a:r>
              <a:rPr lang="en-US" b="1" dirty="0"/>
              <a:t>Sample (</a:t>
            </a:r>
            <a:r>
              <a:rPr lang="en-US" b="1" dirty="0" err="1"/>
              <a:t>Photoblock</a:t>
            </a:r>
            <a:r>
              <a:rPr lang="en-US" b="1" dirty="0"/>
              <a:t>-like JSON):</a:t>
            </a:r>
            <a:endParaRPr lang="en-US" dirty="0"/>
          </a:p>
          <a:p>
            <a:r>
              <a:rPr lang="en-US" dirty="0"/>
              <a:t>{ "images": [{ "id": "img001", "</a:t>
            </a:r>
            <a:r>
              <a:rPr lang="en-US" dirty="0" err="1"/>
              <a:t>exteriorOrientation</a:t>
            </a:r>
            <a:r>
              <a:rPr lang="en-US" dirty="0"/>
              <a:t>": { "X": -104.99, "Y": 39.739, "Z": 1600, "Omega": 0.003, "Phi": -0.017, "Kappa": 1.615, "t": "2025-10-27T20:05:00Z" }, "covariance": { "dimension": 7, "values": [ /* 7x7 EO covariance incl. time drift */ ] } }] }</a:t>
            </a:r>
          </a:p>
          <a:p>
            <a:endParaRPr lang="en-US" dirty="0"/>
          </a:p>
        </p:txBody>
      </p:sp>
      <p:sp>
        <p:nvSpPr>
          <p:cNvPr id="3" name="Title 2">
            <a:extLst>
              <a:ext uri="{FF2B5EF4-FFF2-40B4-BE49-F238E27FC236}">
                <a16:creationId xmlns:a16="http://schemas.microsoft.com/office/drawing/2014/main" id="{65CF10E6-E3A8-B346-A128-11A1D6BA698B}"/>
              </a:ext>
            </a:extLst>
          </p:cNvPr>
          <p:cNvSpPr>
            <a:spLocks noGrp="1"/>
          </p:cNvSpPr>
          <p:nvPr>
            <p:ph type="title"/>
          </p:nvPr>
        </p:nvSpPr>
        <p:spPr/>
        <p:txBody>
          <a:bodyPr/>
          <a:lstStyle/>
          <a:p>
            <a:r>
              <a:rPr lang="en-US" dirty="0"/>
              <a:t>Example: </a:t>
            </a:r>
            <a:r>
              <a:rPr lang="en-US" b="1" dirty="0"/>
              <a:t>NGA Community Sensor Model</a:t>
            </a:r>
            <a:endParaRPr lang="en-US" dirty="0"/>
          </a:p>
        </p:txBody>
      </p:sp>
    </p:spTree>
    <p:extLst>
      <p:ext uri="{BB962C8B-B14F-4D97-AF65-F5344CB8AC3E}">
        <p14:creationId xmlns:p14="http://schemas.microsoft.com/office/powerpoint/2010/main" val="621266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59DFE-8165-954E-AC2A-7DCA32904612}"/>
              </a:ext>
            </a:extLst>
          </p:cNvPr>
          <p:cNvSpPr>
            <a:spLocks noGrp="1"/>
          </p:cNvSpPr>
          <p:nvPr>
            <p:ph type="body" idx="16"/>
          </p:nvPr>
        </p:nvSpPr>
        <p:spPr>
          <a:xfrm>
            <a:off x="838200" y="2322444"/>
            <a:ext cx="7800143" cy="6853503"/>
          </a:xfrm>
        </p:spPr>
        <p:txBody>
          <a:bodyPr/>
          <a:lstStyle/>
          <a:p>
            <a:r>
              <a:rPr lang="en-US" dirty="0"/>
              <a:t>NGA supplies extensive and sophisticated methods for computing errors and interpreting between error models </a:t>
            </a:r>
          </a:p>
          <a:p>
            <a:endParaRPr lang="en-US" dirty="0"/>
          </a:p>
          <a:p>
            <a:r>
              <a:rPr lang="en-US" dirty="0"/>
              <a:t>Core commitments to selected representations:</a:t>
            </a:r>
          </a:p>
          <a:p>
            <a:pPr lvl="1"/>
            <a:r>
              <a:rPr lang="en-US" dirty="0"/>
              <a:t>Spherical Error Confidence Interval (e.g., SE90)</a:t>
            </a:r>
          </a:p>
          <a:p>
            <a:pPr lvl="1"/>
            <a:r>
              <a:rPr lang="en-US" dirty="0"/>
              <a:t>Linear (Elevation) Error Confidence Interval (e.g., LE90)</a:t>
            </a:r>
          </a:p>
          <a:p>
            <a:pPr lvl="1"/>
            <a:r>
              <a:rPr lang="en-US" dirty="0"/>
              <a:t>2D/3D Error </a:t>
            </a:r>
            <a:r>
              <a:rPr lang="en-US" dirty="0" err="1"/>
              <a:t>CoVariance</a:t>
            </a:r>
            <a:r>
              <a:rPr lang="en-US" dirty="0"/>
              <a:t> Matrices/Ellipses</a:t>
            </a:r>
          </a:p>
          <a:p>
            <a:endParaRPr lang="en-US" dirty="0"/>
          </a:p>
          <a:p>
            <a:endParaRPr lang="en-US" dirty="0"/>
          </a:p>
        </p:txBody>
      </p:sp>
      <p:sp>
        <p:nvSpPr>
          <p:cNvPr id="3" name="Title 2">
            <a:extLst>
              <a:ext uri="{FF2B5EF4-FFF2-40B4-BE49-F238E27FC236}">
                <a16:creationId xmlns:a16="http://schemas.microsoft.com/office/drawing/2014/main" id="{ED753120-5C8E-F748-9550-38AB4191B45C}"/>
              </a:ext>
            </a:extLst>
          </p:cNvPr>
          <p:cNvSpPr>
            <a:spLocks noGrp="1"/>
          </p:cNvSpPr>
          <p:nvPr>
            <p:ph type="title"/>
          </p:nvPr>
        </p:nvSpPr>
        <p:spPr/>
        <p:txBody>
          <a:bodyPr/>
          <a:lstStyle/>
          <a:p>
            <a:r>
              <a:rPr lang="en-US" dirty="0"/>
              <a:t>NGA – core representations</a:t>
            </a:r>
          </a:p>
        </p:txBody>
      </p:sp>
      <p:cxnSp>
        <p:nvCxnSpPr>
          <p:cNvPr id="5" name="Straight Arrow Connector 4">
            <a:extLst>
              <a:ext uri="{FF2B5EF4-FFF2-40B4-BE49-F238E27FC236}">
                <a16:creationId xmlns:a16="http://schemas.microsoft.com/office/drawing/2014/main" id="{D8488F8F-5161-064D-AAD2-A0B782E36E42}"/>
              </a:ext>
            </a:extLst>
          </p:cNvPr>
          <p:cNvCxnSpPr/>
          <p:nvPr/>
        </p:nvCxnSpPr>
        <p:spPr>
          <a:xfrm>
            <a:off x="10591800" y="6570489"/>
            <a:ext cx="4495800" cy="1066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2568DBE-7026-1E44-A231-E32373D4F69F}"/>
              </a:ext>
            </a:extLst>
          </p:cNvPr>
          <p:cNvCxnSpPr>
            <a:cxnSpLocks/>
          </p:cNvCxnSpPr>
          <p:nvPr/>
        </p:nvCxnSpPr>
        <p:spPr>
          <a:xfrm flipV="1">
            <a:off x="10591800" y="4055889"/>
            <a:ext cx="4343400" cy="2514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2D67379-62F1-734A-87B9-558F1F556E94}"/>
              </a:ext>
            </a:extLst>
          </p:cNvPr>
          <p:cNvCxnSpPr>
            <a:cxnSpLocks/>
          </p:cNvCxnSpPr>
          <p:nvPr/>
        </p:nvCxnSpPr>
        <p:spPr>
          <a:xfrm flipV="1">
            <a:off x="10591800" y="2531889"/>
            <a:ext cx="0" cy="403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Can 12">
            <a:extLst>
              <a:ext uri="{FF2B5EF4-FFF2-40B4-BE49-F238E27FC236}">
                <a16:creationId xmlns:a16="http://schemas.microsoft.com/office/drawing/2014/main" id="{52A339F3-083E-794A-A501-C2E2DDDEADBE}"/>
              </a:ext>
            </a:extLst>
          </p:cNvPr>
          <p:cNvSpPr/>
          <p:nvPr/>
        </p:nvSpPr>
        <p:spPr>
          <a:xfrm>
            <a:off x="12192000" y="3350213"/>
            <a:ext cx="2133600" cy="2001076"/>
          </a:xfrm>
          <a:prstGeom prst="can">
            <a:avLst/>
          </a:prstGeom>
          <a:solidFill>
            <a:schemeClr val="accent1">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430A85A-BC2A-CC4E-861E-00FBA7299CBA}"/>
              </a:ext>
            </a:extLst>
          </p:cNvPr>
          <p:cNvSpPr/>
          <p:nvPr/>
        </p:nvSpPr>
        <p:spPr>
          <a:xfrm rot="2267472">
            <a:off x="11211779" y="3454947"/>
            <a:ext cx="4270324" cy="1834818"/>
          </a:xfrm>
          <a:prstGeom prst="ellipse">
            <a:avLst/>
          </a:prstGeom>
          <a:solidFill>
            <a:schemeClr val="accent1">
              <a:alpha val="25000"/>
            </a:schemeClr>
          </a:solidFill>
          <a:ln>
            <a:noFill/>
          </a:ln>
          <a:scene3d>
            <a:camera prst="orthographicFront"/>
            <a:lightRig rig="balanced" dir="t"/>
          </a:scene3d>
          <a:sp3d>
            <a:bevelT w="317500"/>
            <a:bevelB w="342900"/>
          </a:sp3d>
        </p:spPr>
        <p:style>
          <a:lnRef idx="2">
            <a:schemeClr val="accent1">
              <a:shade val="50000"/>
            </a:schemeClr>
          </a:lnRef>
          <a:fillRef idx="1">
            <a:schemeClr val="accent1"/>
          </a:fillRef>
          <a:effectRef idx="0">
            <a:schemeClr val="accent1"/>
          </a:effectRef>
          <a:fontRef idx="minor">
            <a:schemeClr val="lt1"/>
          </a:fontRef>
        </p:style>
        <p:txBody>
          <a:bodyPr rtlCol="0" anchor="ctr">
            <a:sp3d extrusionH="50800" prstMaterial="translucentPowder"/>
          </a:bodyPr>
          <a:lstStyle/>
          <a:p>
            <a:pPr algn="ctr"/>
            <a:endParaRPr lang="en-US"/>
          </a:p>
        </p:txBody>
      </p:sp>
      <p:sp>
        <p:nvSpPr>
          <p:cNvPr id="15" name="TextBox 14">
            <a:extLst>
              <a:ext uri="{FF2B5EF4-FFF2-40B4-BE49-F238E27FC236}">
                <a16:creationId xmlns:a16="http://schemas.microsoft.com/office/drawing/2014/main" id="{0B0B8E24-A68B-0743-9DAE-43447716B5EE}"/>
              </a:ext>
            </a:extLst>
          </p:cNvPr>
          <p:cNvSpPr txBox="1"/>
          <p:nvPr/>
        </p:nvSpPr>
        <p:spPr>
          <a:xfrm>
            <a:off x="9155424" y="2482328"/>
            <a:ext cx="3884061" cy="707886"/>
          </a:xfrm>
          <a:prstGeom prst="rect">
            <a:avLst/>
          </a:prstGeom>
          <a:noFill/>
        </p:spPr>
        <p:txBody>
          <a:bodyPr wrap="square" rtlCol="0">
            <a:spAutoFit/>
          </a:bodyPr>
          <a:lstStyle/>
          <a:p>
            <a:pPr lvl="1"/>
            <a:r>
              <a:rPr lang="en-US" sz="2000" dirty="0"/>
              <a:t>2D/3D Error </a:t>
            </a:r>
            <a:r>
              <a:rPr lang="en-US" sz="2000" dirty="0" err="1"/>
              <a:t>CoVariance</a:t>
            </a:r>
            <a:r>
              <a:rPr lang="en-US" sz="2000" dirty="0"/>
              <a:t> Matrices/Ellipses</a:t>
            </a:r>
          </a:p>
        </p:txBody>
      </p:sp>
      <p:sp>
        <p:nvSpPr>
          <p:cNvPr id="16" name="TextBox 15">
            <a:extLst>
              <a:ext uri="{FF2B5EF4-FFF2-40B4-BE49-F238E27FC236}">
                <a16:creationId xmlns:a16="http://schemas.microsoft.com/office/drawing/2014/main" id="{227DA34D-8EBA-394D-928D-6755E62CDE98}"/>
              </a:ext>
            </a:extLst>
          </p:cNvPr>
          <p:cNvSpPr txBox="1"/>
          <p:nvPr/>
        </p:nvSpPr>
        <p:spPr>
          <a:xfrm>
            <a:off x="9930573" y="4995857"/>
            <a:ext cx="2768715" cy="1015663"/>
          </a:xfrm>
          <a:prstGeom prst="rect">
            <a:avLst/>
          </a:prstGeom>
          <a:noFill/>
        </p:spPr>
        <p:txBody>
          <a:bodyPr wrap="square" rtlCol="0">
            <a:spAutoFit/>
          </a:bodyPr>
          <a:lstStyle/>
          <a:p>
            <a:pPr lvl="1"/>
            <a:r>
              <a:rPr lang="en-US" sz="2000" dirty="0"/>
              <a:t>Spherical Error Confidence Interval (e.g., SE90)</a:t>
            </a:r>
          </a:p>
        </p:txBody>
      </p:sp>
      <p:sp>
        <p:nvSpPr>
          <p:cNvPr id="17" name="Oval 16">
            <a:extLst>
              <a:ext uri="{FF2B5EF4-FFF2-40B4-BE49-F238E27FC236}">
                <a16:creationId xmlns:a16="http://schemas.microsoft.com/office/drawing/2014/main" id="{51E87FD6-4233-0D4C-A0EB-E5C184F883E6}"/>
              </a:ext>
            </a:extLst>
          </p:cNvPr>
          <p:cNvSpPr/>
          <p:nvPr/>
        </p:nvSpPr>
        <p:spPr>
          <a:xfrm>
            <a:off x="12192000" y="4837731"/>
            <a:ext cx="2133600" cy="53436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CCE229E7-2907-A34E-9C99-1A2F8093A3C1}"/>
              </a:ext>
            </a:extLst>
          </p:cNvPr>
          <p:cNvCxnSpPr>
            <a:cxnSpLocks/>
          </p:cNvCxnSpPr>
          <p:nvPr/>
        </p:nvCxnSpPr>
        <p:spPr>
          <a:xfrm flipV="1">
            <a:off x="14325600" y="3455764"/>
            <a:ext cx="0" cy="161153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BAFD6AF9-814E-B247-AEDE-B9111FB6CBB8}"/>
              </a:ext>
            </a:extLst>
          </p:cNvPr>
          <p:cNvSpPr/>
          <p:nvPr/>
        </p:nvSpPr>
        <p:spPr>
          <a:xfrm rot="2267472">
            <a:off x="11211781" y="3433342"/>
            <a:ext cx="4270324" cy="1834818"/>
          </a:xfrm>
          <a:prstGeom prst="ellipse">
            <a:avLst/>
          </a:prstGeom>
          <a:noFill/>
          <a:ln>
            <a:solidFill>
              <a:srgbClr val="C00000"/>
            </a:solidFill>
          </a:ln>
          <a:scene3d>
            <a:camera prst="orthographicFront"/>
            <a:lightRig rig="balanced" dir="t"/>
          </a:scene3d>
          <a:sp3d>
            <a:bevelT w="317500"/>
            <a:bevelB w="342900"/>
          </a:sp3d>
        </p:spPr>
        <p:style>
          <a:lnRef idx="2">
            <a:schemeClr val="accent1">
              <a:shade val="50000"/>
            </a:schemeClr>
          </a:lnRef>
          <a:fillRef idx="1">
            <a:schemeClr val="accent1"/>
          </a:fillRef>
          <a:effectRef idx="0">
            <a:schemeClr val="accent1"/>
          </a:effectRef>
          <a:fontRef idx="minor">
            <a:schemeClr val="lt1"/>
          </a:fontRef>
        </p:style>
        <p:txBody>
          <a:bodyPr rtlCol="0" anchor="ctr">
            <a:sp3d extrusionH="50800" prstMaterial="translucentPowder"/>
          </a:bodyPr>
          <a:lstStyle/>
          <a:p>
            <a:pPr algn="ctr"/>
            <a:endParaRPr lang="en-US"/>
          </a:p>
        </p:txBody>
      </p:sp>
      <p:sp>
        <p:nvSpPr>
          <p:cNvPr id="22" name="TextBox 21">
            <a:extLst>
              <a:ext uri="{FF2B5EF4-FFF2-40B4-BE49-F238E27FC236}">
                <a16:creationId xmlns:a16="http://schemas.microsoft.com/office/drawing/2014/main" id="{272709C6-B692-794E-9076-6F9D2328CE62}"/>
              </a:ext>
            </a:extLst>
          </p:cNvPr>
          <p:cNvSpPr txBox="1"/>
          <p:nvPr/>
        </p:nvSpPr>
        <p:spPr>
          <a:xfrm>
            <a:off x="13859730" y="3115980"/>
            <a:ext cx="4428149" cy="707886"/>
          </a:xfrm>
          <a:prstGeom prst="rect">
            <a:avLst/>
          </a:prstGeom>
          <a:noFill/>
        </p:spPr>
        <p:txBody>
          <a:bodyPr wrap="square" rtlCol="0">
            <a:spAutoFit/>
          </a:bodyPr>
          <a:lstStyle/>
          <a:p>
            <a:pPr lvl="1"/>
            <a:r>
              <a:rPr lang="en-US" sz="2000" dirty="0"/>
              <a:t>Linear (Elevation) Error Confidence Interval (e.g., LE90)</a:t>
            </a:r>
          </a:p>
        </p:txBody>
      </p:sp>
    </p:spTree>
    <p:extLst>
      <p:ext uri="{BB962C8B-B14F-4D97-AF65-F5344CB8AC3E}">
        <p14:creationId xmlns:p14="http://schemas.microsoft.com/office/powerpoint/2010/main" val="674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D1B82F-4BB1-2C4A-9E0F-D72DA9581D89}"/>
              </a:ext>
            </a:extLst>
          </p:cNvPr>
          <p:cNvSpPr>
            <a:spLocks noGrp="1"/>
          </p:cNvSpPr>
          <p:nvPr>
            <p:ph type="body" idx="16"/>
          </p:nvPr>
        </p:nvSpPr>
        <p:spPr>
          <a:xfrm>
            <a:off x="838200" y="2322445"/>
            <a:ext cx="16598236" cy="1373256"/>
          </a:xfrm>
        </p:spPr>
        <p:txBody>
          <a:bodyPr/>
          <a:lstStyle/>
          <a:p>
            <a:r>
              <a:rPr lang="en-US" dirty="0"/>
              <a:t>Adopt and generalize for </a:t>
            </a:r>
            <a:r>
              <a:rPr lang="en-US" dirty="0" err="1"/>
              <a:t>GeoPose</a:t>
            </a:r>
            <a:r>
              <a:rPr lang="en-US" dirty="0"/>
              <a:t>?</a:t>
            </a:r>
          </a:p>
        </p:txBody>
      </p:sp>
      <p:sp>
        <p:nvSpPr>
          <p:cNvPr id="3" name="Title 2">
            <a:extLst>
              <a:ext uri="{FF2B5EF4-FFF2-40B4-BE49-F238E27FC236}">
                <a16:creationId xmlns:a16="http://schemas.microsoft.com/office/drawing/2014/main" id="{13FF18B5-0CBE-954F-BFFA-B36018214C09}"/>
              </a:ext>
            </a:extLst>
          </p:cNvPr>
          <p:cNvSpPr>
            <a:spLocks noGrp="1"/>
          </p:cNvSpPr>
          <p:nvPr>
            <p:ph type="title"/>
          </p:nvPr>
        </p:nvSpPr>
        <p:spPr/>
        <p:txBody>
          <a:bodyPr/>
          <a:lstStyle/>
          <a:p>
            <a:r>
              <a:rPr lang="en-US" dirty="0"/>
              <a:t>NGA focus has been on Spherical and Linear Errors, </a:t>
            </a:r>
            <a:r>
              <a:rPr lang="en-US" dirty="0" err="1"/>
              <a:t>CoVariance</a:t>
            </a:r>
            <a:endParaRPr lang="en-US" dirty="0"/>
          </a:p>
        </p:txBody>
      </p:sp>
      <p:pic>
        <p:nvPicPr>
          <p:cNvPr id="5" name="Picture 4">
            <a:extLst>
              <a:ext uri="{FF2B5EF4-FFF2-40B4-BE49-F238E27FC236}">
                <a16:creationId xmlns:a16="http://schemas.microsoft.com/office/drawing/2014/main" id="{190633F6-1CDA-5D4B-8F34-BA7A9F6943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600" y="7810500"/>
            <a:ext cx="9017000" cy="1905000"/>
          </a:xfrm>
          <a:prstGeom prst="rect">
            <a:avLst/>
          </a:prstGeom>
        </p:spPr>
      </p:pic>
      <p:pic>
        <p:nvPicPr>
          <p:cNvPr id="7" name="Picture 6">
            <a:extLst>
              <a:ext uri="{FF2B5EF4-FFF2-40B4-BE49-F238E27FC236}">
                <a16:creationId xmlns:a16="http://schemas.microsoft.com/office/drawing/2014/main" id="{D4330AB1-1FDE-AA46-A9A0-1757377B94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7400" y="3314700"/>
            <a:ext cx="9423400" cy="4178300"/>
          </a:xfrm>
          <a:prstGeom prst="rect">
            <a:avLst/>
          </a:prstGeom>
        </p:spPr>
      </p:pic>
    </p:spTree>
    <p:extLst>
      <p:ext uri="{BB962C8B-B14F-4D97-AF65-F5344CB8AC3E}">
        <p14:creationId xmlns:p14="http://schemas.microsoft.com/office/powerpoint/2010/main" val="2497019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8A4395-19E6-60A6-03CF-8026CD2CBE5B}"/>
              </a:ext>
            </a:extLst>
          </p:cNvPr>
          <p:cNvSpPr>
            <a:spLocks noGrp="1"/>
          </p:cNvSpPr>
          <p:nvPr>
            <p:ph type="title"/>
          </p:nvPr>
        </p:nvSpPr>
        <p:spPr>
          <a:xfrm>
            <a:off x="705168" y="5981700"/>
            <a:ext cx="14458632" cy="3301612"/>
          </a:xfrm>
        </p:spPr>
        <p:txBody>
          <a:bodyPr/>
          <a:lstStyle/>
          <a:p>
            <a:r>
              <a:rPr lang="en-US" sz="8000" dirty="0"/>
              <a:t>Next: Socialize the question, recruit the answer</a:t>
            </a:r>
            <a:br>
              <a:rPr lang="en-US" sz="8000" dirty="0"/>
            </a:br>
            <a:br>
              <a:rPr lang="en-US" sz="4400" dirty="0"/>
            </a:br>
            <a:br>
              <a:rPr lang="en-US" sz="8000" dirty="0"/>
            </a:br>
            <a:br>
              <a:rPr lang="en-US" sz="8000" dirty="0"/>
            </a:br>
            <a:br>
              <a:rPr lang="en-US" sz="6600" dirty="0"/>
            </a:br>
            <a:r>
              <a:rPr lang="en-US" sz="8800" dirty="0"/>
              <a:t>.</a:t>
            </a:r>
          </a:p>
        </p:txBody>
      </p:sp>
    </p:spTree>
    <p:extLst>
      <p:ext uri="{BB962C8B-B14F-4D97-AF65-F5344CB8AC3E}">
        <p14:creationId xmlns:p14="http://schemas.microsoft.com/office/powerpoint/2010/main" val="3081589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24EE8C-D86F-6843-BB3C-3A9232D13A7C}"/>
              </a:ext>
            </a:extLst>
          </p:cNvPr>
          <p:cNvSpPr>
            <a:spLocks noGrp="1"/>
          </p:cNvSpPr>
          <p:nvPr>
            <p:ph type="body" idx="16"/>
          </p:nvPr>
        </p:nvSpPr>
        <p:spPr/>
        <p:txBody>
          <a:bodyPr/>
          <a:lstStyle/>
          <a:p>
            <a:r>
              <a:rPr lang="en-US" sz="3200" dirty="0"/>
              <a:t>OGC: separate Uncertainty/Confidence out from </a:t>
            </a:r>
            <a:r>
              <a:rPr lang="en-US" sz="3200" dirty="0" err="1"/>
              <a:t>GeoPose</a:t>
            </a:r>
            <a:r>
              <a:rPr lang="en-US" sz="3200" dirty="0"/>
              <a:t> as (generic) Metadata?</a:t>
            </a:r>
          </a:p>
          <a:p>
            <a:r>
              <a:rPr lang="en-US" dirty="0"/>
              <a:t>NGA: Has been solving this problem through Standards for a long time.</a:t>
            </a:r>
          </a:p>
          <a:p>
            <a:pPr lvl="1"/>
            <a:r>
              <a:rPr lang="en-US" dirty="0"/>
              <a:t>So, mightn’t we adopt the NGA solution?</a:t>
            </a:r>
          </a:p>
          <a:p>
            <a:pPr lvl="2"/>
            <a:r>
              <a:rPr lang="en-US" dirty="0"/>
              <a:t>Complete/tested/widely used</a:t>
            </a:r>
          </a:p>
          <a:p>
            <a:pPr lvl="2"/>
            <a:r>
              <a:rPr lang="en-US" dirty="0"/>
              <a:t>(Can everybody access?)</a:t>
            </a:r>
          </a:p>
          <a:p>
            <a:pPr lvl="1"/>
            <a:r>
              <a:rPr lang="en-US" dirty="0"/>
              <a:t>But, mightn’t we propose that NGA adopt an OGC solution?</a:t>
            </a:r>
          </a:p>
          <a:p>
            <a:pPr lvl="2"/>
            <a:r>
              <a:rPr lang="en-US" dirty="0"/>
              <a:t>What would be the payoff to NGA?  Interoperability?</a:t>
            </a:r>
          </a:p>
          <a:p>
            <a:pPr lvl="2"/>
            <a:endParaRPr lang="en-US" dirty="0"/>
          </a:p>
          <a:p>
            <a:pPr lvl="2"/>
            <a:r>
              <a:rPr lang="en-US" dirty="0"/>
              <a:t>So, NEXT: Address the question</a:t>
            </a:r>
          </a:p>
          <a:p>
            <a:pPr lvl="2"/>
            <a:endParaRPr lang="en-US" dirty="0"/>
          </a:p>
          <a:p>
            <a:pPr lvl="2"/>
            <a:endParaRPr lang="en-US" dirty="0"/>
          </a:p>
          <a:p>
            <a:pPr lvl="2"/>
            <a:endParaRPr lang="en-US" dirty="0"/>
          </a:p>
          <a:p>
            <a:pPr lvl="2"/>
            <a:r>
              <a:rPr lang="en-US" dirty="0"/>
              <a:t>This begs for a Cost/Benefit Analysis so a rational decision can be made.</a:t>
            </a:r>
          </a:p>
        </p:txBody>
      </p:sp>
      <p:sp>
        <p:nvSpPr>
          <p:cNvPr id="3" name="Title 2">
            <a:extLst>
              <a:ext uri="{FF2B5EF4-FFF2-40B4-BE49-F238E27FC236}">
                <a16:creationId xmlns:a16="http://schemas.microsoft.com/office/drawing/2014/main" id="{548C6C74-1DD8-554D-97A3-20CDA50F565B}"/>
              </a:ext>
            </a:extLst>
          </p:cNvPr>
          <p:cNvSpPr>
            <a:spLocks noGrp="1"/>
          </p:cNvSpPr>
          <p:nvPr>
            <p:ph type="title"/>
          </p:nvPr>
        </p:nvSpPr>
        <p:spPr/>
        <p:txBody>
          <a:bodyPr/>
          <a:lstStyle/>
          <a:p>
            <a:r>
              <a:rPr lang="en-US" dirty="0"/>
              <a:t>Socialize </a:t>
            </a:r>
            <a:r>
              <a:rPr lang="en-US" dirty="0" err="1"/>
              <a:t>GeoPose</a:t>
            </a:r>
            <a:r>
              <a:rPr lang="en-US" dirty="0"/>
              <a:t> in the NGA and OGC user communities</a:t>
            </a:r>
          </a:p>
        </p:txBody>
      </p:sp>
      <p:sp>
        <p:nvSpPr>
          <p:cNvPr id="7" name="TextBox 6">
            <a:extLst>
              <a:ext uri="{FF2B5EF4-FFF2-40B4-BE49-F238E27FC236}">
                <a16:creationId xmlns:a16="http://schemas.microsoft.com/office/drawing/2014/main" id="{CC753470-9A39-4D40-BC7A-97F597DBD140}"/>
              </a:ext>
            </a:extLst>
          </p:cNvPr>
          <p:cNvSpPr txBox="1"/>
          <p:nvPr/>
        </p:nvSpPr>
        <p:spPr>
          <a:xfrm>
            <a:off x="2133600" y="7353300"/>
            <a:ext cx="12640448" cy="646331"/>
          </a:xfrm>
          <a:prstGeom prst="rect">
            <a:avLst/>
          </a:prstGeom>
          <a:noFill/>
          <a:ln>
            <a:solidFill>
              <a:srgbClr val="FF0000"/>
            </a:solidFill>
          </a:ln>
        </p:spPr>
        <p:txBody>
          <a:bodyPr wrap="none" rtlCol="0">
            <a:spAutoFit/>
          </a:bodyPr>
          <a:lstStyle/>
          <a:p>
            <a:pPr algn="ctr"/>
            <a:r>
              <a:rPr lang="en-US" sz="3600" dirty="0"/>
              <a:t>Why NGA would adopt the OGC solution to Uncertainty vs its own.</a:t>
            </a:r>
          </a:p>
        </p:txBody>
      </p:sp>
    </p:spTree>
    <p:extLst>
      <p:ext uri="{BB962C8B-B14F-4D97-AF65-F5344CB8AC3E}">
        <p14:creationId xmlns:p14="http://schemas.microsoft.com/office/powerpoint/2010/main" val="4129279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02F8C8-9474-DBA6-5C09-FB0084C560D1}"/>
              </a:ext>
            </a:extLst>
          </p:cNvPr>
          <p:cNvSpPr>
            <a:spLocks noGrp="1"/>
          </p:cNvSpPr>
          <p:nvPr>
            <p:ph type="body" sz="half" idx="2"/>
          </p:nvPr>
        </p:nvSpPr>
        <p:spPr/>
        <p:txBody>
          <a:bodyPr vert="horz" lIns="91440" tIns="45720" rIns="91440" bIns="45720" rtlCol="0" anchor="t">
            <a:noAutofit/>
          </a:bodyPr>
          <a:lstStyle/>
          <a:p>
            <a:r>
              <a:rPr lang="en-US" dirty="0">
                <a:solidFill>
                  <a:schemeClr val="accent3">
                    <a:lumMod val="60000"/>
                    <a:lumOff val="40000"/>
                  </a:schemeClr>
                </a:solidFill>
                <a:latin typeface="Aptos SemiBold" panose="020B0004020202020204" pitchFamily="34" charset="0"/>
              </a:rPr>
              <a:t>www.ogc.org</a:t>
            </a:r>
          </a:p>
        </p:txBody>
      </p:sp>
      <p:sp>
        <p:nvSpPr>
          <p:cNvPr id="4" name="Title 3">
            <a:extLst>
              <a:ext uri="{FF2B5EF4-FFF2-40B4-BE49-F238E27FC236}">
                <a16:creationId xmlns:a16="http://schemas.microsoft.com/office/drawing/2014/main" id="{74FC2607-90B6-1BE6-26DA-96BD3BC71DFB}"/>
              </a:ext>
            </a:extLst>
          </p:cNvPr>
          <p:cNvSpPr>
            <a:spLocks noGrp="1"/>
          </p:cNvSpPr>
          <p:nvPr>
            <p:ph type="title"/>
          </p:nvPr>
        </p:nvSpPr>
        <p:spPr>
          <a:xfrm>
            <a:off x="671761" y="3490404"/>
            <a:ext cx="6110039" cy="3306192"/>
          </a:xfrm>
        </p:spPr>
        <p:txBody>
          <a:bodyPr/>
          <a:lstStyle/>
          <a:p>
            <a:pPr>
              <a:lnSpc>
                <a:spcPts val="9800"/>
              </a:lnSpc>
            </a:pPr>
            <a:r>
              <a:rPr lang="en-US" sz="12300" dirty="0">
                <a:latin typeface="Aptos"/>
              </a:rPr>
              <a:t>THANK YOU</a:t>
            </a:r>
          </a:p>
        </p:txBody>
      </p:sp>
      <p:pic>
        <p:nvPicPr>
          <p:cNvPr id="14" name="Picture Placeholder 13">
            <a:extLst>
              <a:ext uri="{FF2B5EF4-FFF2-40B4-BE49-F238E27FC236}">
                <a16:creationId xmlns:a16="http://schemas.microsoft.com/office/drawing/2014/main" id="{99034441-C71F-F0B9-C2CF-43904F4FF5E0}"/>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p:blipFill>
        <p:spPr/>
      </p:pic>
    </p:spTree>
    <p:extLst>
      <p:ext uri="{BB962C8B-B14F-4D97-AF65-F5344CB8AC3E}">
        <p14:creationId xmlns:p14="http://schemas.microsoft.com/office/powerpoint/2010/main" val="3269384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7"/>
          <p:cNvSpPr/>
          <p:nvPr/>
        </p:nvSpPr>
        <p:spPr>
          <a:xfrm>
            <a:off x="2212477" y="5332970"/>
            <a:ext cx="4639034" cy="3015668"/>
          </a:xfrm>
          <a:custGeom>
            <a:avLst/>
            <a:gdLst/>
            <a:ahLst/>
            <a:cxnLst/>
            <a:rect l="l" t="t" r="r" b="b"/>
            <a:pathLst>
              <a:path w="2611119" h="1551672" extrusionOk="0">
                <a:moveTo>
                  <a:pt x="2608301" y="20647"/>
                </a:moveTo>
                <a:cubicBezTo>
                  <a:pt x="2609240" y="445884"/>
                  <a:pt x="2610180" y="871122"/>
                  <a:pt x="2611119" y="1296359"/>
                </a:cubicBezTo>
                <a:cubicBezTo>
                  <a:pt x="2611119" y="1437364"/>
                  <a:pt x="2496811" y="1551672"/>
                  <a:pt x="2355806" y="1551672"/>
                </a:cubicBezTo>
                <a:lnTo>
                  <a:pt x="269150" y="1551672"/>
                </a:lnTo>
                <a:cubicBezTo>
                  <a:pt x="128145" y="1551672"/>
                  <a:pt x="13837" y="1437364"/>
                  <a:pt x="13837" y="1296359"/>
                </a:cubicBezTo>
                <a:lnTo>
                  <a:pt x="0" y="0"/>
                </a:lnTo>
              </a:path>
            </a:pathLst>
          </a:custGeom>
          <a:noFill/>
          <a:ln w="9525" cap="flat" cmpd="sng">
            <a:solidFill>
              <a:srgbClr val="3F3F3F"/>
            </a:solidFill>
            <a:prstDash val="solid"/>
            <a:miter lim="800000"/>
            <a:headEnd type="none" w="sm" len="sm"/>
            <a:tailEnd type="none" w="sm" len="sm"/>
          </a:ln>
        </p:spPr>
        <p:txBody>
          <a:bodyPr spcFirstLastPara="1" wrap="square" lIns="137138" tIns="68550" rIns="137138" bIns="68550" anchor="ctr" anchorCtr="0">
            <a:noAutofit/>
          </a:bodyPr>
          <a:lstStyle/>
          <a:p>
            <a:endParaRPr sz="2700">
              <a:solidFill>
                <a:schemeClr val="lt1"/>
              </a:solidFill>
              <a:latin typeface="Calibri"/>
              <a:ea typeface="Calibri"/>
              <a:cs typeface="Calibri"/>
              <a:sym typeface="Calibri"/>
            </a:endParaRPr>
          </a:p>
        </p:txBody>
      </p:sp>
      <p:sp>
        <p:nvSpPr>
          <p:cNvPr id="218" name="Google Shape;218;p27"/>
          <p:cNvSpPr/>
          <p:nvPr/>
        </p:nvSpPr>
        <p:spPr>
          <a:xfrm>
            <a:off x="6849260" y="1565390"/>
            <a:ext cx="4638600" cy="4075782"/>
          </a:xfrm>
          <a:custGeom>
            <a:avLst/>
            <a:gdLst/>
            <a:ahLst/>
            <a:cxnLst/>
            <a:rect l="l" t="t" r="r" b="b"/>
            <a:pathLst>
              <a:path w="2598704" h="2660129" extrusionOk="0">
                <a:moveTo>
                  <a:pt x="0" y="2608183"/>
                </a:moveTo>
                <a:lnTo>
                  <a:pt x="1422" y="255313"/>
                </a:lnTo>
                <a:cubicBezTo>
                  <a:pt x="1422" y="114308"/>
                  <a:pt x="115730" y="0"/>
                  <a:pt x="256735" y="0"/>
                </a:cubicBezTo>
                <a:lnTo>
                  <a:pt x="2343391" y="0"/>
                </a:lnTo>
                <a:cubicBezTo>
                  <a:pt x="2484396" y="0"/>
                  <a:pt x="2598704" y="114308"/>
                  <a:pt x="2598704" y="255313"/>
                </a:cubicBezTo>
                <a:lnTo>
                  <a:pt x="2590871" y="2660129"/>
                </a:lnTo>
              </a:path>
            </a:pathLst>
          </a:custGeom>
          <a:noFill/>
          <a:ln w="9525" cap="flat" cmpd="sng">
            <a:solidFill>
              <a:srgbClr val="3F3F3F"/>
            </a:solidFill>
            <a:prstDash val="dash"/>
            <a:miter lim="800000"/>
            <a:headEnd type="none" w="sm" len="sm"/>
            <a:tailEnd type="none" w="sm" len="sm"/>
          </a:ln>
        </p:spPr>
        <p:txBody>
          <a:bodyPr spcFirstLastPara="1" wrap="square" lIns="137138" tIns="68550" rIns="137138" bIns="68550" anchor="ctr" anchorCtr="0">
            <a:noAutofit/>
          </a:bodyPr>
          <a:lstStyle/>
          <a:p>
            <a:endParaRPr sz="2700">
              <a:solidFill>
                <a:schemeClr val="lt1"/>
              </a:solidFill>
              <a:latin typeface="Calibri"/>
              <a:ea typeface="Calibri"/>
              <a:cs typeface="Calibri"/>
              <a:sym typeface="Calibri"/>
            </a:endParaRPr>
          </a:p>
        </p:txBody>
      </p:sp>
      <p:sp>
        <p:nvSpPr>
          <p:cNvPr id="219" name="Google Shape;219;p27"/>
          <p:cNvSpPr/>
          <p:nvPr/>
        </p:nvSpPr>
        <p:spPr>
          <a:xfrm>
            <a:off x="2605242" y="2123166"/>
            <a:ext cx="3894231" cy="5644662"/>
          </a:xfrm>
          <a:prstGeom prst="roundRect">
            <a:avLst>
              <a:gd name="adj" fmla="val 7669"/>
            </a:avLst>
          </a:prstGeom>
          <a:solidFill>
            <a:schemeClr val="lt2"/>
          </a:solidFill>
          <a:ln>
            <a:noFill/>
          </a:ln>
          <a:effectLst>
            <a:outerShdw blurRad="63500" algn="ctr" rotWithShape="0">
              <a:srgbClr val="000000">
                <a:alpha val="11764"/>
              </a:srgbClr>
            </a:outerShdw>
          </a:effectLst>
        </p:spPr>
        <p:txBody>
          <a:bodyPr spcFirstLastPara="1" wrap="square" lIns="137138" tIns="68550" rIns="137138" bIns="68550" anchor="ctr" anchorCtr="0">
            <a:noAutofit/>
          </a:bodyPr>
          <a:lstStyle/>
          <a:p>
            <a:pPr>
              <a:buClr>
                <a:schemeClr val="lt1"/>
              </a:buClr>
              <a:buSzPts val="1600"/>
            </a:pPr>
            <a:endParaRPr sz="2400">
              <a:solidFill>
                <a:srgbClr val="FFFFFF"/>
              </a:solidFill>
              <a:latin typeface="Calibri"/>
              <a:ea typeface="Calibri"/>
              <a:cs typeface="Calibri"/>
              <a:sym typeface="Calibri"/>
            </a:endParaRPr>
          </a:p>
        </p:txBody>
      </p:sp>
      <p:sp>
        <p:nvSpPr>
          <p:cNvPr id="220" name="Google Shape;220;p27"/>
          <p:cNvSpPr txBox="1"/>
          <p:nvPr/>
        </p:nvSpPr>
        <p:spPr>
          <a:xfrm>
            <a:off x="2785678" y="4234800"/>
            <a:ext cx="3655073" cy="3185427"/>
          </a:xfrm>
          <a:prstGeom prst="rect">
            <a:avLst/>
          </a:prstGeom>
          <a:noFill/>
          <a:ln>
            <a:noFill/>
          </a:ln>
        </p:spPr>
        <p:txBody>
          <a:bodyPr spcFirstLastPara="1" wrap="square" lIns="137138" tIns="68550" rIns="137138" bIns="68550" anchor="t" anchorCtr="0">
            <a:spAutoFit/>
          </a:bodyPr>
          <a:lstStyle/>
          <a:p>
            <a:pPr marL="257175" indent="-257175">
              <a:buClr>
                <a:schemeClr val="dk1"/>
              </a:buClr>
              <a:buSzPts val="1600"/>
              <a:buFont typeface="Arial"/>
              <a:buChar char="•"/>
            </a:pPr>
            <a:r>
              <a:rPr lang="en-US" sz="2400">
                <a:solidFill>
                  <a:schemeClr val="dk1"/>
                </a:solidFill>
                <a:latin typeface="Calibri"/>
                <a:ea typeface="Calibri"/>
                <a:cs typeface="Calibri"/>
                <a:sym typeface="Calibri"/>
              </a:rPr>
              <a:t>120+ Innovation Initiatives</a:t>
            </a:r>
            <a:endParaRPr sz="3600"/>
          </a:p>
          <a:p>
            <a:pPr marL="257175" indent="-257175">
              <a:spcBef>
                <a:spcPts val="900"/>
              </a:spcBef>
              <a:buClr>
                <a:schemeClr val="dk1"/>
              </a:buClr>
              <a:buSzPts val="1600"/>
              <a:buFont typeface="Arial"/>
              <a:buChar char="•"/>
            </a:pPr>
            <a:r>
              <a:rPr lang="en-US" sz="2400">
                <a:solidFill>
                  <a:schemeClr val="dk1"/>
                </a:solidFill>
                <a:latin typeface="Calibri"/>
                <a:ea typeface="Calibri"/>
                <a:cs typeface="Calibri"/>
                <a:sym typeface="Calibri"/>
              </a:rPr>
              <a:t>380+ Technical reports</a:t>
            </a:r>
            <a:endParaRPr sz="3600"/>
          </a:p>
          <a:p>
            <a:pPr marL="257175" indent="-257175">
              <a:spcBef>
                <a:spcPts val="900"/>
              </a:spcBef>
              <a:buClr>
                <a:schemeClr val="dk1"/>
              </a:buClr>
              <a:buSzPts val="1600"/>
              <a:buFont typeface="Arial"/>
              <a:buChar char="•"/>
            </a:pPr>
            <a:r>
              <a:rPr lang="en-US" sz="2400">
                <a:solidFill>
                  <a:schemeClr val="dk1"/>
                </a:solidFill>
                <a:latin typeface="Calibri"/>
                <a:ea typeface="Calibri"/>
                <a:cs typeface="Calibri"/>
                <a:sym typeface="Calibri"/>
              </a:rPr>
              <a:t>OGC hosted services</a:t>
            </a:r>
            <a:endParaRPr sz="3600"/>
          </a:p>
          <a:p>
            <a:pPr marL="257175" indent="-257175">
              <a:spcBef>
                <a:spcPts val="900"/>
              </a:spcBef>
              <a:buClr>
                <a:schemeClr val="dk1"/>
              </a:buClr>
              <a:buSzPts val="1600"/>
              <a:buFont typeface="Arial"/>
              <a:buChar char="•"/>
            </a:pPr>
            <a:r>
              <a:rPr lang="en-US" sz="2400">
                <a:solidFill>
                  <a:schemeClr val="dk1"/>
                </a:solidFill>
                <a:latin typeface="Calibri"/>
                <a:ea typeface="Calibri"/>
                <a:cs typeface="Calibri"/>
                <a:sym typeface="Calibri"/>
              </a:rPr>
              <a:t>GeoCipher</a:t>
            </a:r>
            <a:endParaRPr sz="2400">
              <a:solidFill>
                <a:schemeClr val="dk1"/>
              </a:solidFill>
              <a:latin typeface="Calibri"/>
              <a:ea typeface="Calibri"/>
              <a:cs typeface="Calibri"/>
              <a:sym typeface="Calibri"/>
            </a:endParaRPr>
          </a:p>
          <a:p>
            <a:pPr marL="257175" indent="-257175">
              <a:spcBef>
                <a:spcPts val="900"/>
              </a:spcBef>
              <a:buClr>
                <a:schemeClr val="dk1"/>
              </a:buClr>
              <a:buSzPts val="1600"/>
              <a:buFont typeface="Arial"/>
              <a:buChar char="•"/>
            </a:pPr>
            <a:r>
              <a:rPr lang="en-US" sz="2400">
                <a:solidFill>
                  <a:schemeClr val="dk1"/>
                </a:solidFill>
                <a:latin typeface="Calibri"/>
                <a:ea typeface="Calibri"/>
                <a:cs typeface="Calibri"/>
                <a:sym typeface="Calibri"/>
              </a:rPr>
              <a:t>OGC Advice and Capabilities building</a:t>
            </a:r>
            <a:endParaRPr sz="3600"/>
          </a:p>
        </p:txBody>
      </p:sp>
      <p:grpSp>
        <p:nvGrpSpPr>
          <p:cNvPr id="221" name="Google Shape;221;p27"/>
          <p:cNvGrpSpPr/>
          <p:nvPr/>
        </p:nvGrpSpPr>
        <p:grpSpPr>
          <a:xfrm>
            <a:off x="2382166" y="3237821"/>
            <a:ext cx="239942" cy="1002690"/>
            <a:chOff x="4237724" y="3166714"/>
            <a:chExt cx="159961" cy="668460"/>
          </a:xfrm>
        </p:grpSpPr>
        <p:sp>
          <p:nvSpPr>
            <p:cNvPr id="222" name="Google Shape;222;p27"/>
            <p:cNvSpPr/>
            <p:nvPr/>
          </p:nvSpPr>
          <p:spPr>
            <a:xfrm rot="10800000">
              <a:off x="4237724" y="3721699"/>
              <a:ext cx="159727" cy="113475"/>
            </a:xfrm>
            <a:prstGeom prst="rtTriangle">
              <a:avLst/>
            </a:prstGeom>
            <a:solidFill>
              <a:srgbClr val="14575E"/>
            </a:solidFill>
            <a:ln>
              <a:noFill/>
            </a:ln>
          </p:spPr>
          <p:txBody>
            <a:bodyPr spcFirstLastPara="1" wrap="square" lIns="137138" tIns="68550" rIns="137138" bIns="68550" anchor="ctr" anchorCtr="0">
              <a:noAutofit/>
            </a:bodyPr>
            <a:lstStyle/>
            <a:p>
              <a:pPr>
                <a:buClr>
                  <a:schemeClr val="lt1"/>
                </a:buClr>
                <a:buSzPts val="1200"/>
              </a:pPr>
              <a:endParaRPr sz="1350">
                <a:solidFill>
                  <a:srgbClr val="FFFFFF"/>
                </a:solidFill>
                <a:latin typeface="Calibri"/>
                <a:ea typeface="Calibri"/>
                <a:cs typeface="Calibri"/>
                <a:sym typeface="Calibri"/>
              </a:endParaRPr>
            </a:p>
          </p:txBody>
        </p:sp>
        <p:sp>
          <p:nvSpPr>
            <p:cNvPr id="223" name="Google Shape;223;p27"/>
            <p:cNvSpPr/>
            <p:nvPr/>
          </p:nvSpPr>
          <p:spPr>
            <a:xfrm flipH="1">
              <a:off x="4237958" y="3166714"/>
              <a:ext cx="159727" cy="113475"/>
            </a:xfrm>
            <a:prstGeom prst="rtTriangle">
              <a:avLst/>
            </a:prstGeom>
            <a:solidFill>
              <a:srgbClr val="14575E"/>
            </a:solidFill>
            <a:ln>
              <a:noFill/>
            </a:ln>
          </p:spPr>
          <p:txBody>
            <a:bodyPr spcFirstLastPara="1" wrap="square" lIns="137138" tIns="68550" rIns="137138" bIns="68550" anchor="ctr" anchorCtr="0">
              <a:noAutofit/>
            </a:bodyPr>
            <a:lstStyle/>
            <a:p>
              <a:pPr>
                <a:buClr>
                  <a:schemeClr val="lt1"/>
                </a:buClr>
                <a:buSzPts val="1200"/>
              </a:pPr>
              <a:endParaRPr sz="1350">
                <a:solidFill>
                  <a:srgbClr val="FFFFFF"/>
                </a:solidFill>
                <a:latin typeface="Calibri"/>
                <a:ea typeface="Calibri"/>
                <a:cs typeface="Calibri"/>
                <a:sym typeface="Calibri"/>
              </a:endParaRPr>
            </a:p>
          </p:txBody>
        </p:sp>
      </p:grpSp>
      <p:sp>
        <p:nvSpPr>
          <p:cNvPr id="224" name="Google Shape;224;p27"/>
          <p:cNvSpPr/>
          <p:nvPr/>
        </p:nvSpPr>
        <p:spPr>
          <a:xfrm>
            <a:off x="2382166" y="3396928"/>
            <a:ext cx="4371422" cy="666047"/>
          </a:xfrm>
          <a:prstGeom prst="homePlate">
            <a:avLst>
              <a:gd name="adj" fmla="val 35099"/>
            </a:avLst>
          </a:prstGeom>
          <a:solidFill>
            <a:srgbClr val="02B1FF"/>
          </a:solidFill>
          <a:ln>
            <a:noFill/>
          </a:ln>
        </p:spPr>
        <p:txBody>
          <a:bodyPr spcFirstLastPara="1" wrap="square" lIns="137138" tIns="68550" rIns="137138" bIns="68550" anchor="ctr" anchorCtr="0">
            <a:noAutofit/>
          </a:bodyPr>
          <a:lstStyle/>
          <a:p>
            <a:pPr>
              <a:buClr>
                <a:schemeClr val="lt1"/>
              </a:buClr>
              <a:buSzPts val="1600"/>
            </a:pPr>
            <a:endParaRPr sz="2400">
              <a:solidFill>
                <a:srgbClr val="FFFFFF"/>
              </a:solidFill>
              <a:latin typeface="Calibri"/>
              <a:ea typeface="Calibri"/>
              <a:cs typeface="Calibri"/>
              <a:sym typeface="Calibri"/>
            </a:endParaRPr>
          </a:p>
        </p:txBody>
      </p:sp>
      <p:sp>
        <p:nvSpPr>
          <p:cNvPr id="225" name="Google Shape;225;p27"/>
          <p:cNvSpPr/>
          <p:nvPr/>
        </p:nvSpPr>
        <p:spPr>
          <a:xfrm flipH="1">
            <a:off x="3582410" y="3429054"/>
            <a:ext cx="1970930" cy="553998"/>
          </a:xfrm>
          <a:prstGeom prst="rect">
            <a:avLst/>
          </a:prstGeom>
          <a:noFill/>
          <a:ln>
            <a:noFill/>
          </a:ln>
        </p:spPr>
        <p:txBody>
          <a:bodyPr spcFirstLastPara="1" wrap="square" lIns="137138" tIns="68550" rIns="137138" bIns="68550" anchor="ctr" anchorCtr="0">
            <a:noAutofit/>
          </a:bodyPr>
          <a:lstStyle/>
          <a:p>
            <a:r>
              <a:rPr lang="en-US" sz="2700" b="1">
                <a:solidFill>
                  <a:schemeClr val="lt2"/>
                </a:solidFill>
                <a:latin typeface="Lato"/>
                <a:ea typeface="Lato"/>
                <a:cs typeface="Lato"/>
                <a:sym typeface="Lato"/>
              </a:rPr>
              <a:t>Innovation</a:t>
            </a:r>
            <a:endParaRPr sz="2400" b="1">
              <a:solidFill>
                <a:schemeClr val="lt2"/>
              </a:solidFill>
              <a:latin typeface="Lato"/>
              <a:ea typeface="Lato"/>
              <a:cs typeface="Lato"/>
              <a:sym typeface="Lato"/>
            </a:endParaRPr>
          </a:p>
        </p:txBody>
      </p:sp>
      <p:sp>
        <p:nvSpPr>
          <p:cNvPr id="226" name="Google Shape;226;p27"/>
          <p:cNvSpPr/>
          <p:nvPr/>
        </p:nvSpPr>
        <p:spPr>
          <a:xfrm>
            <a:off x="7223985" y="2124830"/>
            <a:ext cx="3893400" cy="5642999"/>
          </a:xfrm>
          <a:prstGeom prst="roundRect">
            <a:avLst>
              <a:gd name="adj" fmla="val 7669"/>
            </a:avLst>
          </a:prstGeom>
          <a:solidFill>
            <a:schemeClr val="lt2"/>
          </a:solidFill>
          <a:ln>
            <a:noFill/>
          </a:ln>
          <a:effectLst>
            <a:outerShdw blurRad="63500" algn="ctr" rotWithShape="0">
              <a:srgbClr val="000000">
                <a:alpha val="11764"/>
              </a:srgbClr>
            </a:outerShdw>
          </a:effectLst>
        </p:spPr>
        <p:txBody>
          <a:bodyPr spcFirstLastPara="1" wrap="square" lIns="137138" tIns="68550" rIns="137138" bIns="68550" anchor="ctr" anchorCtr="0">
            <a:noAutofit/>
          </a:bodyPr>
          <a:lstStyle/>
          <a:p>
            <a:pPr>
              <a:buClr>
                <a:schemeClr val="lt1"/>
              </a:buClr>
              <a:buSzPts val="1600"/>
            </a:pPr>
            <a:endParaRPr sz="2400">
              <a:solidFill>
                <a:srgbClr val="FFFFFF"/>
              </a:solidFill>
              <a:latin typeface="Calibri"/>
              <a:ea typeface="Calibri"/>
              <a:cs typeface="Calibri"/>
              <a:sym typeface="Calibri"/>
            </a:endParaRPr>
          </a:p>
        </p:txBody>
      </p:sp>
      <p:sp>
        <p:nvSpPr>
          <p:cNvPr id="227" name="Google Shape;227;p27"/>
          <p:cNvSpPr txBox="1"/>
          <p:nvPr/>
        </p:nvSpPr>
        <p:spPr>
          <a:xfrm>
            <a:off x="7342225" y="4234799"/>
            <a:ext cx="3652292" cy="3554759"/>
          </a:xfrm>
          <a:prstGeom prst="rect">
            <a:avLst/>
          </a:prstGeom>
          <a:noFill/>
          <a:ln>
            <a:noFill/>
          </a:ln>
        </p:spPr>
        <p:txBody>
          <a:bodyPr spcFirstLastPara="1" wrap="square" lIns="137138" tIns="68550" rIns="137138" bIns="68550" anchor="t" anchorCtr="0">
            <a:spAutoFit/>
          </a:bodyPr>
          <a:lstStyle/>
          <a:p>
            <a:pPr marL="257175" indent="-257175">
              <a:buClr>
                <a:schemeClr val="dk1"/>
              </a:buClr>
              <a:buSzPts val="1600"/>
              <a:buFont typeface="Arial"/>
              <a:buChar char="•"/>
            </a:pPr>
            <a:r>
              <a:rPr lang="en-US" sz="2400">
                <a:solidFill>
                  <a:schemeClr val="dk1"/>
                </a:solidFill>
                <a:latin typeface="Calibri"/>
                <a:ea typeface="Calibri"/>
                <a:cs typeface="Calibri"/>
                <a:sym typeface="Calibri"/>
              </a:rPr>
              <a:t>550+ Members</a:t>
            </a:r>
            <a:endParaRPr sz="3600"/>
          </a:p>
          <a:p>
            <a:pPr marL="257175" indent="-257175">
              <a:spcBef>
                <a:spcPts val="900"/>
              </a:spcBef>
              <a:buClr>
                <a:schemeClr val="dk1"/>
              </a:buClr>
              <a:buSzPts val="1600"/>
              <a:buFont typeface="Arial"/>
              <a:buChar char="•"/>
            </a:pPr>
            <a:r>
              <a:rPr lang="en-US" sz="2400">
                <a:solidFill>
                  <a:schemeClr val="dk1"/>
                </a:solidFill>
                <a:latin typeface="Calibri"/>
                <a:ea typeface="Calibri"/>
                <a:cs typeface="Calibri"/>
                <a:sym typeface="Calibri"/>
              </a:rPr>
              <a:t>60+ Alliance partners</a:t>
            </a:r>
            <a:endParaRPr sz="3600"/>
          </a:p>
          <a:p>
            <a:pPr marL="257175" indent="-257175">
              <a:spcBef>
                <a:spcPts val="900"/>
              </a:spcBef>
              <a:buClr>
                <a:schemeClr val="dk1"/>
              </a:buClr>
              <a:buSzPts val="1600"/>
              <a:buFont typeface="Arial"/>
              <a:buChar char="•"/>
            </a:pPr>
            <a:r>
              <a:rPr lang="en-US" sz="2400">
                <a:solidFill>
                  <a:schemeClr val="dk1"/>
                </a:solidFill>
                <a:latin typeface="Calibri"/>
                <a:ea typeface="Calibri"/>
                <a:cs typeface="Calibri"/>
                <a:sym typeface="Calibri"/>
              </a:rPr>
              <a:t>50+ Standards Working Groups</a:t>
            </a:r>
            <a:endParaRPr sz="3600"/>
          </a:p>
          <a:p>
            <a:pPr marL="257175" indent="-257175">
              <a:spcBef>
                <a:spcPts val="900"/>
              </a:spcBef>
              <a:buClr>
                <a:schemeClr val="dk1"/>
              </a:buClr>
              <a:buSzPts val="1600"/>
              <a:buFont typeface="Arial"/>
              <a:buChar char="•"/>
            </a:pPr>
            <a:r>
              <a:rPr lang="en-US" sz="2400">
                <a:solidFill>
                  <a:schemeClr val="dk1"/>
                </a:solidFill>
                <a:latin typeface="Calibri"/>
                <a:ea typeface="Calibri"/>
                <a:cs typeface="Calibri"/>
                <a:sym typeface="Calibri"/>
              </a:rPr>
              <a:t>45+ Domain Working Groups</a:t>
            </a:r>
            <a:endParaRPr sz="3600"/>
          </a:p>
          <a:p>
            <a:pPr marL="257175" indent="-257175">
              <a:spcBef>
                <a:spcPts val="900"/>
              </a:spcBef>
              <a:buClr>
                <a:schemeClr val="dk1"/>
              </a:buClr>
              <a:buSzPts val="1600"/>
              <a:buFont typeface="Arial"/>
              <a:buChar char="•"/>
            </a:pPr>
            <a:r>
              <a:rPr lang="en-US" sz="2400">
                <a:solidFill>
                  <a:schemeClr val="dk1"/>
                </a:solidFill>
                <a:latin typeface="Calibri"/>
                <a:ea typeface="Calibri"/>
                <a:cs typeface="Calibri"/>
                <a:sym typeface="Calibri"/>
              </a:rPr>
              <a:t>25+ Years of Not for Profit Work</a:t>
            </a:r>
            <a:endParaRPr sz="3600"/>
          </a:p>
        </p:txBody>
      </p:sp>
      <p:grpSp>
        <p:nvGrpSpPr>
          <p:cNvPr id="228" name="Google Shape;228;p27"/>
          <p:cNvGrpSpPr/>
          <p:nvPr/>
        </p:nvGrpSpPr>
        <p:grpSpPr>
          <a:xfrm>
            <a:off x="7034018" y="3226496"/>
            <a:ext cx="239942" cy="1002690"/>
            <a:chOff x="4237724" y="3166714"/>
            <a:chExt cx="159961" cy="668460"/>
          </a:xfrm>
        </p:grpSpPr>
        <p:sp>
          <p:nvSpPr>
            <p:cNvPr id="229" name="Google Shape;229;p27"/>
            <p:cNvSpPr/>
            <p:nvPr/>
          </p:nvSpPr>
          <p:spPr>
            <a:xfrm rot="10800000">
              <a:off x="4237724" y="3721699"/>
              <a:ext cx="159727" cy="113475"/>
            </a:xfrm>
            <a:prstGeom prst="rtTriangle">
              <a:avLst/>
            </a:prstGeom>
            <a:solidFill>
              <a:srgbClr val="7F8619"/>
            </a:solidFill>
            <a:ln>
              <a:noFill/>
            </a:ln>
          </p:spPr>
          <p:txBody>
            <a:bodyPr spcFirstLastPara="1" wrap="square" lIns="137138" tIns="68550" rIns="137138" bIns="68550" anchor="ctr" anchorCtr="0">
              <a:noAutofit/>
            </a:bodyPr>
            <a:lstStyle/>
            <a:p>
              <a:pPr>
                <a:buClr>
                  <a:schemeClr val="lt1"/>
                </a:buClr>
                <a:buSzPts val="1200"/>
              </a:pPr>
              <a:endParaRPr sz="1350">
                <a:solidFill>
                  <a:srgbClr val="FFFFFF"/>
                </a:solidFill>
                <a:latin typeface="Calibri"/>
                <a:ea typeface="Calibri"/>
                <a:cs typeface="Calibri"/>
                <a:sym typeface="Calibri"/>
              </a:endParaRPr>
            </a:p>
          </p:txBody>
        </p:sp>
        <p:sp>
          <p:nvSpPr>
            <p:cNvPr id="230" name="Google Shape;230;p27"/>
            <p:cNvSpPr/>
            <p:nvPr/>
          </p:nvSpPr>
          <p:spPr>
            <a:xfrm flipH="1">
              <a:off x="4237958" y="3166714"/>
              <a:ext cx="159727" cy="113475"/>
            </a:xfrm>
            <a:prstGeom prst="rtTriangle">
              <a:avLst/>
            </a:prstGeom>
            <a:solidFill>
              <a:srgbClr val="7F8619"/>
            </a:solidFill>
            <a:ln>
              <a:noFill/>
            </a:ln>
          </p:spPr>
          <p:txBody>
            <a:bodyPr spcFirstLastPara="1" wrap="square" lIns="137138" tIns="68550" rIns="137138" bIns="68550" anchor="ctr" anchorCtr="0">
              <a:noAutofit/>
            </a:bodyPr>
            <a:lstStyle/>
            <a:p>
              <a:pPr>
                <a:buClr>
                  <a:schemeClr val="lt1"/>
                </a:buClr>
                <a:buSzPts val="1200"/>
              </a:pPr>
              <a:endParaRPr sz="1350">
                <a:solidFill>
                  <a:srgbClr val="FFFFFF"/>
                </a:solidFill>
                <a:latin typeface="Calibri"/>
                <a:ea typeface="Calibri"/>
                <a:cs typeface="Calibri"/>
                <a:sym typeface="Calibri"/>
              </a:endParaRPr>
            </a:p>
          </p:txBody>
        </p:sp>
      </p:grpSp>
      <p:sp>
        <p:nvSpPr>
          <p:cNvPr id="231" name="Google Shape;231;p27"/>
          <p:cNvSpPr/>
          <p:nvPr/>
        </p:nvSpPr>
        <p:spPr>
          <a:xfrm>
            <a:off x="7051586" y="3396928"/>
            <a:ext cx="4374000" cy="666047"/>
          </a:xfrm>
          <a:prstGeom prst="homePlate">
            <a:avLst>
              <a:gd name="adj" fmla="val 35099"/>
            </a:avLst>
          </a:prstGeom>
          <a:solidFill>
            <a:schemeClr val="accent2"/>
          </a:solidFill>
          <a:ln>
            <a:noFill/>
          </a:ln>
        </p:spPr>
        <p:txBody>
          <a:bodyPr spcFirstLastPara="1" wrap="square" lIns="137138" tIns="68550" rIns="137138" bIns="68550" anchor="ctr" anchorCtr="0">
            <a:noAutofit/>
          </a:bodyPr>
          <a:lstStyle/>
          <a:p>
            <a:pPr>
              <a:buClr>
                <a:schemeClr val="lt1"/>
              </a:buClr>
              <a:buSzPts val="1600"/>
            </a:pPr>
            <a:endParaRPr sz="2400">
              <a:solidFill>
                <a:srgbClr val="FFFFFF"/>
              </a:solidFill>
              <a:latin typeface="Calibri"/>
              <a:ea typeface="Calibri"/>
              <a:cs typeface="Calibri"/>
              <a:sym typeface="Calibri"/>
            </a:endParaRPr>
          </a:p>
        </p:txBody>
      </p:sp>
      <p:sp>
        <p:nvSpPr>
          <p:cNvPr id="232" name="Google Shape;232;p27"/>
          <p:cNvSpPr/>
          <p:nvPr/>
        </p:nvSpPr>
        <p:spPr>
          <a:xfrm flipH="1">
            <a:off x="7958131" y="3429054"/>
            <a:ext cx="2382461" cy="553998"/>
          </a:xfrm>
          <a:prstGeom prst="rect">
            <a:avLst/>
          </a:prstGeom>
          <a:noFill/>
          <a:ln>
            <a:noFill/>
          </a:ln>
        </p:spPr>
        <p:txBody>
          <a:bodyPr spcFirstLastPara="1" wrap="square" lIns="137138" tIns="68550" rIns="137138" bIns="68550" anchor="ctr" anchorCtr="0">
            <a:noAutofit/>
          </a:bodyPr>
          <a:lstStyle/>
          <a:p>
            <a:r>
              <a:rPr lang="en-US" sz="2700" b="1">
                <a:solidFill>
                  <a:schemeClr val="lt2"/>
                </a:solidFill>
                <a:latin typeface="Lato"/>
                <a:ea typeface="Lato"/>
                <a:cs typeface="Lato"/>
                <a:sym typeface="Lato"/>
              </a:rPr>
              <a:t>Community</a:t>
            </a:r>
            <a:endParaRPr sz="2700" b="1">
              <a:solidFill>
                <a:schemeClr val="lt2"/>
              </a:solidFill>
              <a:latin typeface="Lato"/>
              <a:ea typeface="Lato"/>
              <a:cs typeface="Lato"/>
              <a:sym typeface="Lato"/>
            </a:endParaRPr>
          </a:p>
        </p:txBody>
      </p:sp>
      <p:grpSp>
        <p:nvGrpSpPr>
          <p:cNvPr id="234" name="Google Shape;234;p27"/>
          <p:cNvGrpSpPr/>
          <p:nvPr/>
        </p:nvGrpSpPr>
        <p:grpSpPr>
          <a:xfrm>
            <a:off x="8711909" y="2325351"/>
            <a:ext cx="912983" cy="912987"/>
            <a:chOff x="5568766" y="2190570"/>
            <a:chExt cx="608655" cy="608658"/>
          </a:xfrm>
        </p:grpSpPr>
        <p:grpSp>
          <p:nvGrpSpPr>
            <p:cNvPr id="235" name="Google Shape;235;p27"/>
            <p:cNvGrpSpPr/>
            <p:nvPr/>
          </p:nvGrpSpPr>
          <p:grpSpPr>
            <a:xfrm>
              <a:off x="5568766" y="2190570"/>
              <a:ext cx="608655" cy="608658"/>
              <a:chOff x="4950373" y="1746492"/>
              <a:chExt cx="929088" cy="929091"/>
            </a:xfrm>
          </p:grpSpPr>
          <p:sp>
            <p:nvSpPr>
              <p:cNvPr id="236" name="Google Shape;236;p27"/>
              <p:cNvSpPr/>
              <p:nvPr/>
            </p:nvSpPr>
            <p:spPr>
              <a:xfrm>
                <a:off x="4950373" y="1746492"/>
                <a:ext cx="929088" cy="929091"/>
              </a:xfrm>
              <a:prstGeom prst="ellipse">
                <a:avLst/>
              </a:prstGeom>
              <a:solidFill>
                <a:schemeClr val="accent2"/>
              </a:solidFill>
              <a:ln>
                <a:noFill/>
              </a:ln>
              <a:effectLst>
                <a:outerShdw blurRad="50800" algn="ctr" rotWithShape="0">
                  <a:srgbClr val="000000">
                    <a:alpha val="4705"/>
                  </a:srgbClr>
                </a:outerShdw>
              </a:effectLst>
            </p:spPr>
            <p:txBody>
              <a:bodyPr spcFirstLastPara="1" wrap="square" lIns="137138" tIns="68550" rIns="137138" bIns="68550" anchor="ctr" anchorCtr="0">
                <a:noAutofit/>
              </a:bodyPr>
              <a:lstStyle/>
              <a:p>
                <a:pPr>
                  <a:buClr>
                    <a:schemeClr val="dk1"/>
                  </a:buClr>
                  <a:buSzPts val="1600"/>
                </a:pPr>
                <a:endParaRPr sz="2400">
                  <a:solidFill>
                    <a:srgbClr val="FFFFFF"/>
                  </a:solidFill>
                  <a:latin typeface="Calibri"/>
                  <a:ea typeface="Calibri"/>
                  <a:cs typeface="Calibri"/>
                  <a:sym typeface="Calibri"/>
                </a:endParaRPr>
              </a:p>
            </p:txBody>
          </p:sp>
          <p:sp>
            <p:nvSpPr>
              <p:cNvPr id="237" name="Google Shape;237;p27"/>
              <p:cNvSpPr/>
              <p:nvPr/>
            </p:nvSpPr>
            <p:spPr>
              <a:xfrm>
                <a:off x="5032620" y="1828744"/>
                <a:ext cx="764592" cy="764588"/>
              </a:xfrm>
              <a:prstGeom prst="ellipse">
                <a:avLst/>
              </a:prstGeom>
              <a:solidFill>
                <a:srgbClr val="FFFFFF"/>
              </a:solidFill>
              <a:ln w="19050" cap="flat" cmpd="sng">
                <a:solidFill>
                  <a:srgbClr val="FFFFFF"/>
                </a:solidFill>
                <a:prstDash val="solid"/>
                <a:miter lim="800000"/>
                <a:headEnd type="none" w="sm" len="sm"/>
                <a:tailEnd type="none" w="sm" len="sm"/>
              </a:ln>
              <a:effectLst>
                <a:outerShdw blurRad="63500" sx="102000" sy="102000" algn="ctr" rotWithShape="0">
                  <a:srgbClr val="000000">
                    <a:alpha val="14901"/>
                  </a:srgbClr>
                </a:outerShdw>
              </a:effectLst>
            </p:spPr>
            <p:txBody>
              <a:bodyPr spcFirstLastPara="1" wrap="square" lIns="137138" tIns="68550" rIns="137138" bIns="68550" anchor="ctr" anchorCtr="0">
                <a:noAutofit/>
              </a:bodyPr>
              <a:lstStyle/>
              <a:p>
                <a:pPr>
                  <a:buClr>
                    <a:schemeClr val="dk1"/>
                  </a:buClr>
                  <a:buSzPts val="1600"/>
                </a:pPr>
                <a:endParaRPr sz="2400">
                  <a:solidFill>
                    <a:srgbClr val="FFFFFF"/>
                  </a:solidFill>
                  <a:latin typeface="Arial"/>
                  <a:ea typeface="Arial"/>
                  <a:cs typeface="Arial"/>
                  <a:sym typeface="Arial"/>
                </a:endParaRPr>
              </a:p>
            </p:txBody>
          </p:sp>
        </p:grpSp>
        <p:sp>
          <p:nvSpPr>
            <p:cNvPr id="238" name="Google Shape;238;p27"/>
            <p:cNvSpPr/>
            <p:nvPr/>
          </p:nvSpPr>
          <p:spPr>
            <a:xfrm>
              <a:off x="5702383" y="2335736"/>
              <a:ext cx="347260" cy="333779"/>
            </a:xfrm>
            <a:custGeom>
              <a:avLst/>
              <a:gdLst/>
              <a:ahLst/>
              <a:cxnLst/>
              <a:rect l="l" t="t" r="r" b="b"/>
              <a:pathLst>
                <a:path w="2383388" h="2290850" extrusionOk="0">
                  <a:moveTo>
                    <a:pt x="1720823" y="1655761"/>
                  </a:moveTo>
                  <a:lnTo>
                    <a:pt x="1726834" y="1655761"/>
                  </a:lnTo>
                  <a:lnTo>
                    <a:pt x="1768817" y="1655761"/>
                  </a:lnTo>
                  <a:lnTo>
                    <a:pt x="2253338" y="1655761"/>
                  </a:lnTo>
                  <a:cubicBezTo>
                    <a:pt x="2054301" y="1971778"/>
                    <a:pt x="1715957" y="2204305"/>
                    <a:pt x="1315020" y="2282069"/>
                  </a:cubicBezTo>
                  <a:cubicBezTo>
                    <a:pt x="1426752" y="2219953"/>
                    <a:pt x="1528083" y="2102402"/>
                    <a:pt x="1612336" y="1935424"/>
                  </a:cubicBezTo>
                  <a:cubicBezTo>
                    <a:pt x="1652601" y="1855562"/>
                    <a:pt x="1688192" y="1764821"/>
                    <a:pt x="1717865" y="1665589"/>
                  </a:cubicBezTo>
                  <a:close/>
                  <a:moveTo>
                    <a:pt x="1210252" y="1655761"/>
                  </a:moveTo>
                  <a:lnTo>
                    <a:pt x="1672351" y="1655761"/>
                  </a:lnTo>
                  <a:lnTo>
                    <a:pt x="1684946" y="1655761"/>
                  </a:lnTo>
                  <a:cubicBezTo>
                    <a:pt x="1655844" y="1752894"/>
                    <a:pt x="1621304" y="1841631"/>
                    <a:pt x="1581707" y="1919967"/>
                  </a:cubicBezTo>
                  <a:cubicBezTo>
                    <a:pt x="1490870" y="2099921"/>
                    <a:pt x="1379235" y="2219953"/>
                    <a:pt x="1259869" y="2270810"/>
                  </a:cubicBezTo>
                  <a:cubicBezTo>
                    <a:pt x="1243456" y="2277775"/>
                    <a:pt x="1226949" y="2283500"/>
                    <a:pt x="1210252" y="2287889"/>
                  </a:cubicBezTo>
                  <a:close/>
                  <a:moveTo>
                    <a:pt x="1177144" y="1655667"/>
                  </a:moveTo>
                  <a:lnTo>
                    <a:pt x="1182774" y="1655667"/>
                  </a:lnTo>
                  <a:lnTo>
                    <a:pt x="1182774" y="2290850"/>
                  </a:lnTo>
                  <a:cubicBezTo>
                    <a:pt x="1178576" y="2289896"/>
                    <a:pt x="1174282" y="2288942"/>
                    <a:pt x="1170085" y="2287796"/>
                  </a:cubicBezTo>
                  <a:cubicBezTo>
                    <a:pt x="1161209" y="2285507"/>
                    <a:pt x="1152337" y="2282740"/>
                    <a:pt x="1143463" y="2279686"/>
                  </a:cubicBezTo>
                  <a:lnTo>
                    <a:pt x="1106919" y="2256118"/>
                  </a:lnTo>
                  <a:cubicBezTo>
                    <a:pt x="1001007" y="2187801"/>
                    <a:pt x="907499" y="2080554"/>
                    <a:pt x="828972" y="1937430"/>
                  </a:cubicBezTo>
                  <a:cubicBezTo>
                    <a:pt x="782600" y="1852796"/>
                    <a:pt x="743002" y="1758049"/>
                    <a:pt x="711038" y="1655763"/>
                  </a:cubicBezTo>
                  <a:lnTo>
                    <a:pt x="1170085" y="1655763"/>
                  </a:lnTo>
                  <a:lnTo>
                    <a:pt x="1170942" y="1655763"/>
                  </a:lnTo>
                  <a:lnTo>
                    <a:pt x="1177144" y="1655763"/>
                  </a:lnTo>
                  <a:close/>
                  <a:moveTo>
                    <a:pt x="129862" y="1655667"/>
                  </a:moveTo>
                  <a:lnTo>
                    <a:pt x="614383" y="1655667"/>
                  </a:lnTo>
                  <a:lnTo>
                    <a:pt x="659038" y="1655667"/>
                  </a:lnTo>
                  <a:lnTo>
                    <a:pt x="671920" y="1655667"/>
                  </a:lnTo>
                  <a:lnTo>
                    <a:pt x="672682" y="1655667"/>
                  </a:lnTo>
                  <a:lnTo>
                    <a:pt x="674973" y="1655667"/>
                  </a:lnTo>
                  <a:cubicBezTo>
                    <a:pt x="679075" y="1669312"/>
                    <a:pt x="683274" y="1682766"/>
                    <a:pt x="687662" y="1696123"/>
                  </a:cubicBezTo>
                  <a:cubicBezTo>
                    <a:pt x="692052" y="1709481"/>
                    <a:pt x="696536" y="1722649"/>
                    <a:pt x="701116" y="1735721"/>
                  </a:cubicBezTo>
                  <a:cubicBezTo>
                    <a:pt x="705791" y="1748697"/>
                    <a:pt x="710466" y="1761579"/>
                    <a:pt x="715333" y="1774365"/>
                  </a:cubicBezTo>
                  <a:cubicBezTo>
                    <a:pt x="729836" y="1812626"/>
                    <a:pt x="745484" y="1849456"/>
                    <a:pt x="762183" y="1884855"/>
                  </a:cubicBezTo>
                  <a:cubicBezTo>
                    <a:pt x="767715" y="1896688"/>
                    <a:pt x="773346" y="1908327"/>
                    <a:pt x="779167" y="1919778"/>
                  </a:cubicBezTo>
                  <a:cubicBezTo>
                    <a:pt x="784987" y="1931322"/>
                    <a:pt x="790902" y="1942582"/>
                    <a:pt x="796914" y="1953745"/>
                  </a:cubicBezTo>
                  <a:cubicBezTo>
                    <a:pt x="802830" y="1964718"/>
                    <a:pt x="808936" y="1975692"/>
                    <a:pt x="815138" y="1986377"/>
                  </a:cubicBezTo>
                  <a:cubicBezTo>
                    <a:pt x="833745" y="2018628"/>
                    <a:pt x="853495" y="2049352"/>
                    <a:pt x="874200" y="2078358"/>
                  </a:cubicBezTo>
                  <a:cubicBezTo>
                    <a:pt x="885269" y="2093816"/>
                    <a:pt x="896623" y="2108796"/>
                    <a:pt x="908263" y="2123299"/>
                  </a:cubicBezTo>
                  <a:cubicBezTo>
                    <a:pt x="914084" y="2130551"/>
                    <a:pt x="920000" y="2137707"/>
                    <a:pt x="925915" y="2144673"/>
                  </a:cubicBezTo>
                  <a:cubicBezTo>
                    <a:pt x="955781" y="2179594"/>
                    <a:pt x="987267" y="2211272"/>
                    <a:pt x="1020568" y="2239038"/>
                  </a:cubicBezTo>
                  <a:cubicBezTo>
                    <a:pt x="1040511" y="2255736"/>
                    <a:pt x="1061120" y="2271003"/>
                    <a:pt x="1082111" y="2284742"/>
                  </a:cubicBezTo>
                  <a:cubicBezTo>
                    <a:pt x="1073046" y="2283025"/>
                    <a:pt x="1064077" y="2281212"/>
                    <a:pt x="1055108" y="2279399"/>
                  </a:cubicBezTo>
                  <a:cubicBezTo>
                    <a:pt x="659992" y="2199155"/>
                    <a:pt x="326705" y="1968248"/>
                    <a:pt x="129862" y="1655667"/>
                  </a:cubicBezTo>
                  <a:close/>
                  <a:moveTo>
                    <a:pt x="0" y="1113991"/>
                  </a:moveTo>
                  <a:cubicBezTo>
                    <a:pt x="203236" y="1114087"/>
                    <a:pt x="406471" y="1114277"/>
                    <a:pt x="609707" y="1114373"/>
                  </a:cubicBezTo>
                  <a:cubicBezTo>
                    <a:pt x="613045" y="1114373"/>
                    <a:pt x="616481" y="1114373"/>
                    <a:pt x="619819" y="1114373"/>
                  </a:cubicBezTo>
                  <a:cubicBezTo>
                    <a:pt x="619916" y="1144238"/>
                    <a:pt x="620489" y="1175248"/>
                    <a:pt x="621729" y="1207308"/>
                  </a:cubicBezTo>
                  <a:cubicBezTo>
                    <a:pt x="622588" y="1228681"/>
                    <a:pt x="623732" y="1250436"/>
                    <a:pt x="625164" y="1272764"/>
                  </a:cubicBezTo>
                  <a:cubicBezTo>
                    <a:pt x="626596" y="1294995"/>
                    <a:pt x="628407" y="1317704"/>
                    <a:pt x="630506" y="1340890"/>
                  </a:cubicBezTo>
                  <a:cubicBezTo>
                    <a:pt x="631556" y="1352436"/>
                    <a:pt x="632700" y="1364076"/>
                    <a:pt x="633941" y="1375907"/>
                  </a:cubicBezTo>
                  <a:cubicBezTo>
                    <a:pt x="641004" y="1442699"/>
                    <a:pt x="650259" y="1505578"/>
                    <a:pt x="660944" y="1564259"/>
                  </a:cubicBezTo>
                  <a:cubicBezTo>
                    <a:pt x="664475" y="1583723"/>
                    <a:pt x="668196" y="1602806"/>
                    <a:pt x="672014" y="1621604"/>
                  </a:cubicBezTo>
                  <a:lnTo>
                    <a:pt x="665620" y="1621604"/>
                  </a:lnTo>
                  <a:lnTo>
                    <a:pt x="114880" y="1621604"/>
                  </a:lnTo>
                  <a:cubicBezTo>
                    <a:pt x="108679" y="1606910"/>
                    <a:pt x="102667" y="1592121"/>
                    <a:pt x="96847" y="1577235"/>
                  </a:cubicBezTo>
                  <a:cubicBezTo>
                    <a:pt x="91122" y="1562351"/>
                    <a:pt x="85492" y="1547275"/>
                    <a:pt x="80244" y="1532103"/>
                  </a:cubicBezTo>
                  <a:cubicBezTo>
                    <a:pt x="34350" y="1400716"/>
                    <a:pt x="6583" y="1260169"/>
                    <a:pt x="0" y="1113991"/>
                  </a:cubicBezTo>
                  <a:close/>
                  <a:moveTo>
                    <a:pt x="1217123" y="1113800"/>
                  </a:moveTo>
                  <a:cubicBezTo>
                    <a:pt x="1390971" y="1113800"/>
                    <a:pt x="1564722" y="1113800"/>
                    <a:pt x="1738571" y="1113800"/>
                  </a:cubicBezTo>
                  <a:cubicBezTo>
                    <a:pt x="1743149" y="1113800"/>
                    <a:pt x="1747827" y="1113800"/>
                    <a:pt x="1752406" y="1113800"/>
                  </a:cubicBezTo>
                  <a:cubicBezTo>
                    <a:pt x="1752502" y="1123724"/>
                    <a:pt x="1752502" y="1133742"/>
                    <a:pt x="1752406" y="1143856"/>
                  </a:cubicBezTo>
                  <a:cubicBezTo>
                    <a:pt x="1752310" y="1164276"/>
                    <a:pt x="1751929" y="1185172"/>
                    <a:pt x="1751261" y="1206640"/>
                  </a:cubicBezTo>
                  <a:cubicBezTo>
                    <a:pt x="1749926" y="1249578"/>
                    <a:pt x="1747253" y="1294613"/>
                    <a:pt x="1742865" y="1341654"/>
                  </a:cubicBezTo>
                  <a:cubicBezTo>
                    <a:pt x="1741815" y="1353390"/>
                    <a:pt x="1740671" y="1365221"/>
                    <a:pt x="1739334" y="1377243"/>
                  </a:cubicBezTo>
                  <a:cubicBezTo>
                    <a:pt x="1738190" y="1388408"/>
                    <a:pt x="1736853" y="1399476"/>
                    <a:pt x="1735518" y="1410449"/>
                  </a:cubicBezTo>
                  <a:cubicBezTo>
                    <a:pt x="1726071" y="1486972"/>
                    <a:pt x="1713380" y="1557485"/>
                    <a:pt x="1699258" y="1621413"/>
                  </a:cubicBezTo>
                  <a:lnTo>
                    <a:pt x="1683610" y="1621413"/>
                  </a:lnTo>
                  <a:lnTo>
                    <a:pt x="1682751" y="1621413"/>
                  </a:lnTo>
                  <a:lnTo>
                    <a:pt x="1217123" y="1621413"/>
                  </a:lnTo>
                  <a:close/>
                  <a:moveTo>
                    <a:pt x="654169" y="1113800"/>
                  </a:moveTo>
                  <a:lnTo>
                    <a:pt x="1170274" y="1113800"/>
                  </a:lnTo>
                  <a:lnTo>
                    <a:pt x="1182773" y="1113800"/>
                  </a:lnTo>
                  <a:lnTo>
                    <a:pt x="1182773" y="1621413"/>
                  </a:lnTo>
                  <a:lnTo>
                    <a:pt x="1170274" y="1621413"/>
                  </a:lnTo>
                  <a:lnTo>
                    <a:pt x="1163309" y="1621413"/>
                  </a:lnTo>
                  <a:lnTo>
                    <a:pt x="707029" y="1621413"/>
                  </a:lnTo>
                  <a:lnTo>
                    <a:pt x="705599" y="1614543"/>
                  </a:lnTo>
                  <a:cubicBezTo>
                    <a:pt x="689282" y="1534776"/>
                    <a:pt x="676689" y="1453290"/>
                    <a:pt x="668101" y="1372282"/>
                  </a:cubicBezTo>
                  <a:cubicBezTo>
                    <a:pt x="659035" y="1286885"/>
                    <a:pt x="654360" y="1200056"/>
                    <a:pt x="654169" y="1114182"/>
                  </a:cubicBezTo>
                  <a:close/>
                  <a:moveTo>
                    <a:pt x="1784464" y="1113704"/>
                  </a:moveTo>
                  <a:lnTo>
                    <a:pt x="2383388" y="1113704"/>
                  </a:lnTo>
                  <a:cubicBezTo>
                    <a:pt x="2380335" y="1181163"/>
                    <a:pt x="2372798" y="1247477"/>
                    <a:pt x="2361156" y="1312170"/>
                  </a:cubicBezTo>
                  <a:cubicBezTo>
                    <a:pt x="2357245" y="1333733"/>
                    <a:pt x="2352855" y="1355202"/>
                    <a:pt x="2348084" y="1376384"/>
                  </a:cubicBezTo>
                  <a:cubicBezTo>
                    <a:pt x="2338447" y="1418844"/>
                    <a:pt x="2326998" y="1460541"/>
                    <a:pt x="2313831" y="1501379"/>
                  </a:cubicBezTo>
                  <a:cubicBezTo>
                    <a:pt x="2310491" y="1511684"/>
                    <a:pt x="2307152" y="1521799"/>
                    <a:pt x="2303622" y="1531913"/>
                  </a:cubicBezTo>
                  <a:cubicBezTo>
                    <a:pt x="2298374" y="1547083"/>
                    <a:pt x="2292840" y="1562159"/>
                    <a:pt x="2287114" y="1577043"/>
                  </a:cubicBezTo>
                  <a:cubicBezTo>
                    <a:pt x="2281389" y="1591929"/>
                    <a:pt x="2275378" y="1606718"/>
                    <a:pt x="2269175" y="1621412"/>
                  </a:cubicBezTo>
                  <a:lnTo>
                    <a:pt x="1731604" y="1621412"/>
                  </a:lnTo>
                  <a:cubicBezTo>
                    <a:pt x="1748970" y="1542217"/>
                    <a:pt x="1762231" y="1461400"/>
                    <a:pt x="1771106" y="1380869"/>
                  </a:cubicBezTo>
                  <a:cubicBezTo>
                    <a:pt x="1780742" y="1292514"/>
                    <a:pt x="1785227" y="1202632"/>
                    <a:pt x="1784464" y="1113704"/>
                  </a:cubicBezTo>
                  <a:close/>
                  <a:moveTo>
                    <a:pt x="1952874" y="754545"/>
                  </a:moveTo>
                  <a:lnTo>
                    <a:pt x="2237116" y="754545"/>
                  </a:lnTo>
                  <a:cubicBezTo>
                    <a:pt x="2315643" y="754450"/>
                    <a:pt x="2379285" y="828301"/>
                    <a:pt x="2379285" y="919232"/>
                  </a:cubicBezTo>
                  <a:lnTo>
                    <a:pt x="2379285" y="1084016"/>
                  </a:lnTo>
                  <a:lnTo>
                    <a:pt x="1810799" y="1084016"/>
                  </a:lnTo>
                  <a:lnTo>
                    <a:pt x="1810799" y="919232"/>
                  </a:lnTo>
                  <a:cubicBezTo>
                    <a:pt x="1810799" y="873719"/>
                    <a:pt x="1826734" y="832595"/>
                    <a:pt x="1852400" y="802826"/>
                  </a:cubicBezTo>
                  <a:cubicBezTo>
                    <a:pt x="1878162" y="772960"/>
                    <a:pt x="1913657" y="754545"/>
                    <a:pt x="1952874" y="754545"/>
                  </a:cubicBezTo>
                  <a:close/>
                  <a:moveTo>
                    <a:pt x="182435" y="754545"/>
                  </a:moveTo>
                  <a:lnTo>
                    <a:pt x="466679" y="754545"/>
                  </a:lnTo>
                  <a:cubicBezTo>
                    <a:pt x="545205" y="754450"/>
                    <a:pt x="608847" y="828301"/>
                    <a:pt x="608847" y="919232"/>
                  </a:cubicBezTo>
                  <a:lnTo>
                    <a:pt x="608847" y="1084016"/>
                  </a:lnTo>
                  <a:lnTo>
                    <a:pt x="40361" y="1084016"/>
                  </a:lnTo>
                  <a:lnTo>
                    <a:pt x="40361" y="919232"/>
                  </a:lnTo>
                  <a:cubicBezTo>
                    <a:pt x="40361" y="873719"/>
                    <a:pt x="56295" y="832595"/>
                    <a:pt x="81962" y="802826"/>
                  </a:cubicBezTo>
                  <a:cubicBezTo>
                    <a:pt x="107724" y="772960"/>
                    <a:pt x="143219" y="754545"/>
                    <a:pt x="182435" y="754545"/>
                  </a:cubicBezTo>
                  <a:close/>
                  <a:moveTo>
                    <a:pt x="971381" y="496924"/>
                  </a:moveTo>
                  <a:cubicBezTo>
                    <a:pt x="971381" y="496924"/>
                    <a:pt x="1448461" y="496924"/>
                    <a:pt x="1448461" y="496924"/>
                  </a:cubicBezTo>
                  <a:cubicBezTo>
                    <a:pt x="1517255" y="496924"/>
                    <a:pt x="1581756" y="527839"/>
                    <a:pt x="1630132" y="583944"/>
                  </a:cubicBezTo>
                  <a:cubicBezTo>
                    <a:pt x="1677841" y="639285"/>
                    <a:pt x="1704174" y="712755"/>
                    <a:pt x="1704174" y="790709"/>
                  </a:cubicBezTo>
                  <a:lnTo>
                    <a:pt x="1704174" y="1084398"/>
                  </a:lnTo>
                  <a:lnTo>
                    <a:pt x="715666" y="1084398"/>
                  </a:lnTo>
                  <a:lnTo>
                    <a:pt x="715666" y="1084303"/>
                  </a:lnTo>
                  <a:lnTo>
                    <a:pt x="715666" y="790613"/>
                  </a:lnTo>
                  <a:cubicBezTo>
                    <a:pt x="715666" y="712660"/>
                    <a:pt x="741906" y="639285"/>
                    <a:pt x="789709" y="583944"/>
                  </a:cubicBezTo>
                  <a:cubicBezTo>
                    <a:pt x="838085" y="527839"/>
                    <a:pt x="902681" y="496924"/>
                    <a:pt x="971381" y="496924"/>
                  </a:cubicBezTo>
                  <a:close/>
                  <a:moveTo>
                    <a:pt x="2095999" y="448260"/>
                  </a:moveTo>
                  <a:cubicBezTo>
                    <a:pt x="2174526" y="448260"/>
                    <a:pt x="2238167" y="511903"/>
                    <a:pt x="2238167" y="590334"/>
                  </a:cubicBezTo>
                  <a:cubicBezTo>
                    <a:pt x="2238167" y="668863"/>
                    <a:pt x="2174526" y="732410"/>
                    <a:pt x="2095999" y="732410"/>
                  </a:cubicBezTo>
                  <a:cubicBezTo>
                    <a:pt x="2017470" y="732410"/>
                    <a:pt x="1953924" y="668767"/>
                    <a:pt x="1953924" y="590334"/>
                  </a:cubicBezTo>
                  <a:cubicBezTo>
                    <a:pt x="1953924" y="511808"/>
                    <a:pt x="2017565" y="448260"/>
                    <a:pt x="2095999" y="448260"/>
                  </a:cubicBezTo>
                  <a:close/>
                  <a:moveTo>
                    <a:pt x="325560" y="448260"/>
                  </a:moveTo>
                  <a:cubicBezTo>
                    <a:pt x="404182" y="448260"/>
                    <a:pt x="467729" y="511903"/>
                    <a:pt x="467729" y="590334"/>
                  </a:cubicBezTo>
                  <a:cubicBezTo>
                    <a:pt x="467729" y="668863"/>
                    <a:pt x="404087" y="732410"/>
                    <a:pt x="325560" y="732410"/>
                  </a:cubicBezTo>
                  <a:cubicBezTo>
                    <a:pt x="247032" y="732410"/>
                    <a:pt x="183485" y="668767"/>
                    <a:pt x="183485" y="590334"/>
                  </a:cubicBezTo>
                  <a:cubicBezTo>
                    <a:pt x="183485" y="511808"/>
                    <a:pt x="247127" y="448260"/>
                    <a:pt x="325560" y="448260"/>
                  </a:cubicBezTo>
                  <a:close/>
                  <a:moveTo>
                    <a:pt x="1211351" y="0"/>
                  </a:moveTo>
                  <a:cubicBezTo>
                    <a:pt x="1343120" y="0"/>
                    <a:pt x="1449891" y="106770"/>
                    <a:pt x="1449891" y="238539"/>
                  </a:cubicBezTo>
                  <a:cubicBezTo>
                    <a:pt x="1449891" y="370308"/>
                    <a:pt x="1343120" y="477079"/>
                    <a:pt x="1211351" y="477079"/>
                  </a:cubicBezTo>
                  <a:cubicBezTo>
                    <a:pt x="1079583" y="477079"/>
                    <a:pt x="972812" y="370308"/>
                    <a:pt x="972812" y="238539"/>
                  </a:cubicBezTo>
                  <a:cubicBezTo>
                    <a:pt x="972812" y="106770"/>
                    <a:pt x="1079583" y="0"/>
                    <a:pt x="1211351" y="0"/>
                  </a:cubicBezTo>
                  <a:close/>
                </a:path>
              </a:pathLst>
            </a:custGeom>
            <a:solidFill>
              <a:srgbClr val="3F3F3F"/>
            </a:solidFill>
            <a:ln>
              <a:noFill/>
            </a:ln>
          </p:spPr>
          <p:txBody>
            <a:bodyPr spcFirstLastPara="1" wrap="square" lIns="137138" tIns="68550" rIns="137138" bIns="68550" anchor="ctr" anchorCtr="0">
              <a:noAutofit/>
            </a:bodyPr>
            <a:lstStyle/>
            <a:p>
              <a:pPr algn="l"/>
              <a:endParaRPr sz="2801">
                <a:solidFill>
                  <a:schemeClr val="dk1"/>
                </a:solidFill>
                <a:latin typeface="Calibri"/>
                <a:ea typeface="Calibri"/>
                <a:cs typeface="Calibri"/>
                <a:sym typeface="Calibri"/>
              </a:endParaRPr>
            </a:p>
          </p:txBody>
        </p:sp>
      </p:grpSp>
      <p:grpSp>
        <p:nvGrpSpPr>
          <p:cNvPr id="239" name="Google Shape;239;p27"/>
          <p:cNvGrpSpPr/>
          <p:nvPr/>
        </p:nvGrpSpPr>
        <p:grpSpPr>
          <a:xfrm>
            <a:off x="4061711" y="2325351"/>
            <a:ext cx="912983" cy="912987"/>
            <a:chOff x="3013040" y="2190570"/>
            <a:chExt cx="608655" cy="608658"/>
          </a:xfrm>
        </p:grpSpPr>
        <p:grpSp>
          <p:nvGrpSpPr>
            <p:cNvPr id="240" name="Google Shape;240;p27"/>
            <p:cNvGrpSpPr/>
            <p:nvPr/>
          </p:nvGrpSpPr>
          <p:grpSpPr>
            <a:xfrm>
              <a:off x="3013040" y="2190570"/>
              <a:ext cx="608655" cy="608658"/>
              <a:chOff x="4950373" y="1746492"/>
              <a:chExt cx="929088" cy="929091"/>
            </a:xfrm>
          </p:grpSpPr>
          <p:sp>
            <p:nvSpPr>
              <p:cNvPr id="241" name="Google Shape;241;p27"/>
              <p:cNvSpPr/>
              <p:nvPr/>
            </p:nvSpPr>
            <p:spPr>
              <a:xfrm>
                <a:off x="4950373" y="1746492"/>
                <a:ext cx="929088" cy="929091"/>
              </a:xfrm>
              <a:prstGeom prst="ellipse">
                <a:avLst/>
              </a:prstGeom>
              <a:solidFill>
                <a:srgbClr val="02B1FF"/>
              </a:solidFill>
              <a:ln>
                <a:noFill/>
              </a:ln>
              <a:effectLst>
                <a:outerShdw blurRad="50800" algn="ctr" rotWithShape="0">
                  <a:srgbClr val="000000">
                    <a:alpha val="4705"/>
                  </a:srgbClr>
                </a:outerShdw>
              </a:effectLst>
            </p:spPr>
            <p:txBody>
              <a:bodyPr spcFirstLastPara="1" wrap="square" lIns="137138" tIns="68550" rIns="137138" bIns="68550" anchor="ctr" anchorCtr="0">
                <a:noAutofit/>
              </a:bodyPr>
              <a:lstStyle/>
              <a:p>
                <a:pPr>
                  <a:buClr>
                    <a:schemeClr val="dk1"/>
                  </a:buClr>
                  <a:buSzPts val="1600"/>
                </a:pPr>
                <a:endParaRPr sz="2400">
                  <a:solidFill>
                    <a:srgbClr val="FFFFFF"/>
                  </a:solidFill>
                  <a:latin typeface="Calibri"/>
                  <a:ea typeface="Calibri"/>
                  <a:cs typeface="Calibri"/>
                  <a:sym typeface="Calibri"/>
                </a:endParaRPr>
              </a:p>
            </p:txBody>
          </p:sp>
          <p:sp>
            <p:nvSpPr>
              <p:cNvPr id="242" name="Google Shape;242;p27"/>
              <p:cNvSpPr/>
              <p:nvPr/>
            </p:nvSpPr>
            <p:spPr>
              <a:xfrm>
                <a:off x="5032621" y="1828744"/>
                <a:ext cx="764592" cy="764587"/>
              </a:xfrm>
              <a:prstGeom prst="ellipse">
                <a:avLst/>
              </a:prstGeom>
              <a:solidFill>
                <a:srgbClr val="FFFFFF"/>
              </a:solidFill>
              <a:ln w="19050" cap="flat" cmpd="sng">
                <a:solidFill>
                  <a:srgbClr val="FFFFFF"/>
                </a:solidFill>
                <a:prstDash val="solid"/>
                <a:miter lim="800000"/>
                <a:headEnd type="none" w="sm" len="sm"/>
                <a:tailEnd type="none" w="sm" len="sm"/>
              </a:ln>
              <a:effectLst>
                <a:outerShdw blurRad="63500" sx="102000" sy="102000" algn="ctr" rotWithShape="0">
                  <a:srgbClr val="000000">
                    <a:alpha val="14901"/>
                  </a:srgbClr>
                </a:outerShdw>
              </a:effectLst>
            </p:spPr>
            <p:txBody>
              <a:bodyPr spcFirstLastPara="1" wrap="square" lIns="137138" tIns="68550" rIns="137138" bIns="68550" anchor="ctr" anchorCtr="0">
                <a:noAutofit/>
              </a:bodyPr>
              <a:lstStyle/>
              <a:p>
                <a:pPr>
                  <a:buClr>
                    <a:schemeClr val="dk1"/>
                  </a:buClr>
                  <a:buSzPts val="1600"/>
                </a:pPr>
                <a:endParaRPr sz="2400">
                  <a:solidFill>
                    <a:srgbClr val="FFFFFF"/>
                  </a:solidFill>
                  <a:latin typeface="Arial"/>
                  <a:ea typeface="Arial"/>
                  <a:cs typeface="Arial"/>
                  <a:sym typeface="Arial"/>
                </a:endParaRPr>
              </a:p>
            </p:txBody>
          </p:sp>
        </p:grpSp>
        <p:sp>
          <p:nvSpPr>
            <p:cNvPr id="243" name="Google Shape;243;p27"/>
            <p:cNvSpPr/>
            <p:nvPr/>
          </p:nvSpPr>
          <p:spPr>
            <a:xfrm>
              <a:off x="3182631" y="2311864"/>
              <a:ext cx="287862" cy="381521"/>
            </a:xfrm>
            <a:custGeom>
              <a:avLst/>
              <a:gdLst/>
              <a:ahLst/>
              <a:cxnLst/>
              <a:rect l="l" t="t" r="r" b="b"/>
              <a:pathLst>
                <a:path w="1813956" h="2404142" extrusionOk="0">
                  <a:moveTo>
                    <a:pt x="880439" y="2307907"/>
                  </a:moveTo>
                  <a:lnTo>
                    <a:pt x="882345" y="2348865"/>
                  </a:lnTo>
                  <a:cubicBezTo>
                    <a:pt x="883299" y="2375535"/>
                    <a:pt x="859485" y="2398395"/>
                    <a:pt x="829005" y="2399347"/>
                  </a:cubicBezTo>
                  <a:lnTo>
                    <a:pt x="678511" y="2404111"/>
                  </a:lnTo>
                  <a:cubicBezTo>
                    <a:pt x="648031" y="2405063"/>
                    <a:pt x="622313" y="2384107"/>
                    <a:pt x="621359" y="2357439"/>
                  </a:cubicBezTo>
                  <a:lnTo>
                    <a:pt x="620407" y="2322195"/>
                  </a:lnTo>
                  <a:close/>
                  <a:moveTo>
                    <a:pt x="912827" y="2170747"/>
                  </a:moveTo>
                  <a:cubicBezTo>
                    <a:pt x="932827" y="2169795"/>
                    <a:pt x="949973" y="2190751"/>
                    <a:pt x="949021" y="2217419"/>
                  </a:cubicBezTo>
                  <a:cubicBezTo>
                    <a:pt x="949021" y="2244091"/>
                    <a:pt x="932827" y="2267903"/>
                    <a:pt x="912827" y="2268855"/>
                  </a:cubicBezTo>
                  <a:lnTo>
                    <a:pt x="588975" y="2288857"/>
                  </a:lnTo>
                  <a:cubicBezTo>
                    <a:pt x="568973" y="2290763"/>
                    <a:pt x="552781" y="2268855"/>
                    <a:pt x="552781" y="2242183"/>
                  </a:cubicBezTo>
                  <a:cubicBezTo>
                    <a:pt x="552781" y="2215515"/>
                    <a:pt x="568973" y="2191703"/>
                    <a:pt x="588975" y="2190751"/>
                  </a:cubicBezTo>
                  <a:close/>
                  <a:moveTo>
                    <a:pt x="949021" y="2037397"/>
                  </a:moveTo>
                  <a:cubicBezTo>
                    <a:pt x="972833" y="2036443"/>
                    <a:pt x="992835" y="2057399"/>
                    <a:pt x="993787" y="2084069"/>
                  </a:cubicBezTo>
                  <a:cubicBezTo>
                    <a:pt x="993787" y="2110739"/>
                    <a:pt x="973787" y="2134551"/>
                    <a:pt x="949021" y="2135505"/>
                  </a:cubicBezTo>
                  <a:lnTo>
                    <a:pt x="553733" y="2155507"/>
                  </a:lnTo>
                  <a:cubicBezTo>
                    <a:pt x="528967" y="2157411"/>
                    <a:pt x="508967" y="2135505"/>
                    <a:pt x="508967" y="2108835"/>
                  </a:cubicBezTo>
                  <a:cubicBezTo>
                    <a:pt x="508967" y="2082165"/>
                    <a:pt x="528967" y="2058351"/>
                    <a:pt x="553733" y="2057399"/>
                  </a:cubicBezTo>
                  <a:close/>
                  <a:moveTo>
                    <a:pt x="971879" y="1904999"/>
                  </a:moveTo>
                  <a:cubicBezTo>
                    <a:pt x="998551" y="1904047"/>
                    <a:pt x="1021411" y="1925003"/>
                    <a:pt x="1021411" y="1951671"/>
                  </a:cubicBezTo>
                  <a:cubicBezTo>
                    <a:pt x="1021411" y="1978343"/>
                    <a:pt x="999503" y="2002155"/>
                    <a:pt x="971879" y="2003107"/>
                  </a:cubicBezTo>
                  <a:lnTo>
                    <a:pt x="530873" y="2023111"/>
                  </a:lnTo>
                  <a:cubicBezTo>
                    <a:pt x="503251" y="2025015"/>
                    <a:pt x="481343" y="2003107"/>
                    <a:pt x="481343" y="1976437"/>
                  </a:cubicBezTo>
                  <a:cubicBezTo>
                    <a:pt x="481343" y="1949767"/>
                    <a:pt x="503251" y="1925955"/>
                    <a:pt x="530873" y="1925003"/>
                  </a:cubicBezTo>
                  <a:close/>
                  <a:moveTo>
                    <a:pt x="408953" y="761048"/>
                  </a:moveTo>
                  <a:lnTo>
                    <a:pt x="713753" y="761048"/>
                  </a:lnTo>
                  <a:cubicBezTo>
                    <a:pt x="727087" y="761048"/>
                    <a:pt x="738519" y="772478"/>
                    <a:pt x="738519" y="785813"/>
                  </a:cubicBezTo>
                  <a:lnTo>
                    <a:pt x="738519" y="887730"/>
                  </a:lnTo>
                  <a:cubicBezTo>
                    <a:pt x="722325" y="866775"/>
                    <a:pt x="697559" y="854393"/>
                    <a:pt x="670891" y="854393"/>
                  </a:cubicBezTo>
                  <a:cubicBezTo>
                    <a:pt x="624219" y="854393"/>
                    <a:pt x="586119" y="892493"/>
                    <a:pt x="586119" y="939165"/>
                  </a:cubicBezTo>
                  <a:cubicBezTo>
                    <a:pt x="586119" y="985838"/>
                    <a:pt x="624219" y="1023938"/>
                    <a:pt x="670891" y="1023938"/>
                  </a:cubicBezTo>
                  <a:cubicBezTo>
                    <a:pt x="697559" y="1023938"/>
                    <a:pt x="722325" y="1011555"/>
                    <a:pt x="738519" y="990600"/>
                  </a:cubicBezTo>
                  <a:lnTo>
                    <a:pt x="738519" y="1091565"/>
                  </a:lnTo>
                  <a:cubicBezTo>
                    <a:pt x="738519" y="1104900"/>
                    <a:pt x="727087" y="1116330"/>
                    <a:pt x="713753" y="1116330"/>
                  </a:cubicBezTo>
                  <a:lnTo>
                    <a:pt x="576593" y="1116330"/>
                  </a:lnTo>
                  <a:lnTo>
                    <a:pt x="576593" y="1176338"/>
                  </a:lnTo>
                  <a:lnTo>
                    <a:pt x="585165" y="1181100"/>
                  </a:lnTo>
                  <a:cubicBezTo>
                    <a:pt x="601359" y="1189673"/>
                    <a:pt x="610883" y="1206819"/>
                    <a:pt x="610883" y="1224915"/>
                  </a:cubicBezTo>
                  <a:cubicBezTo>
                    <a:pt x="610883" y="1252539"/>
                    <a:pt x="588023" y="1275399"/>
                    <a:pt x="560399" y="1275399"/>
                  </a:cubicBezTo>
                  <a:cubicBezTo>
                    <a:pt x="532779" y="1275399"/>
                    <a:pt x="509919" y="1253491"/>
                    <a:pt x="510871" y="1226819"/>
                  </a:cubicBezTo>
                  <a:cubicBezTo>
                    <a:pt x="510871" y="1208723"/>
                    <a:pt x="520395" y="1191578"/>
                    <a:pt x="536587" y="1183005"/>
                  </a:cubicBezTo>
                  <a:lnTo>
                    <a:pt x="545159" y="1178243"/>
                  </a:lnTo>
                  <a:lnTo>
                    <a:pt x="545159" y="1118235"/>
                  </a:lnTo>
                  <a:lnTo>
                    <a:pt x="407999" y="1118235"/>
                  </a:lnTo>
                  <a:cubicBezTo>
                    <a:pt x="394665" y="1118235"/>
                    <a:pt x="383235" y="1106805"/>
                    <a:pt x="383235" y="1093470"/>
                  </a:cubicBezTo>
                  <a:lnTo>
                    <a:pt x="383235" y="956310"/>
                  </a:lnTo>
                  <a:lnTo>
                    <a:pt x="323227" y="956310"/>
                  </a:lnTo>
                  <a:lnTo>
                    <a:pt x="318465" y="964883"/>
                  </a:lnTo>
                  <a:cubicBezTo>
                    <a:pt x="309893" y="981075"/>
                    <a:pt x="292747" y="990600"/>
                    <a:pt x="274651" y="990600"/>
                  </a:cubicBezTo>
                  <a:cubicBezTo>
                    <a:pt x="247027" y="990600"/>
                    <a:pt x="224167" y="967740"/>
                    <a:pt x="224167" y="940118"/>
                  </a:cubicBezTo>
                  <a:cubicBezTo>
                    <a:pt x="224167" y="912495"/>
                    <a:pt x="247027" y="889635"/>
                    <a:pt x="274651" y="889635"/>
                  </a:cubicBezTo>
                  <a:cubicBezTo>
                    <a:pt x="292747" y="889635"/>
                    <a:pt x="309893" y="899160"/>
                    <a:pt x="318465" y="915353"/>
                  </a:cubicBezTo>
                  <a:lnTo>
                    <a:pt x="323227" y="923925"/>
                  </a:lnTo>
                  <a:lnTo>
                    <a:pt x="384187" y="923925"/>
                  </a:lnTo>
                  <a:lnTo>
                    <a:pt x="384187" y="785813"/>
                  </a:lnTo>
                  <a:cubicBezTo>
                    <a:pt x="384187" y="772478"/>
                    <a:pt x="395619" y="761048"/>
                    <a:pt x="408953" y="761048"/>
                  </a:cubicBezTo>
                  <a:close/>
                  <a:moveTo>
                    <a:pt x="559447" y="603885"/>
                  </a:moveTo>
                  <a:cubicBezTo>
                    <a:pt x="587071" y="603885"/>
                    <a:pt x="609931" y="626745"/>
                    <a:pt x="609931" y="654367"/>
                  </a:cubicBezTo>
                  <a:cubicBezTo>
                    <a:pt x="609931" y="672465"/>
                    <a:pt x="600407" y="689610"/>
                    <a:pt x="584213" y="698182"/>
                  </a:cubicBezTo>
                  <a:lnTo>
                    <a:pt x="575641" y="702945"/>
                  </a:lnTo>
                  <a:lnTo>
                    <a:pt x="575641" y="728662"/>
                  </a:lnTo>
                  <a:lnTo>
                    <a:pt x="544207" y="728662"/>
                  </a:lnTo>
                  <a:lnTo>
                    <a:pt x="544207" y="702945"/>
                  </a:lnTo>
                  <a:lnTo>
                    <a:pt x="535635" y="698182"/>
                  </a:lnTo>
                  <a:cubicBezTo>
                    <a:pt x="519443" y="689610"/>
                    <a:pt x="509919" y="672465"/>
                    <a:pt x="508967" y="654367"/>
                  </a:cubicBezTo>
                  <a:cubicBezTo>
                    <a:pt x="508967" y="626745"/>
                    <a:pt x="531827" y="603885"/>
                    <a:pt x="559447" y="603885"/>
                  </a:cubicBezTo>
                  <a:close/>
                  <a:moveTo>
                    <a:pt x="560401" y="567690"/>
                  </a:moveTo>
                  <a:cubicBezTo>
                    <a:pt x="513727" y="567690"/>
                    <a:pt x="475627" y="605790"/>
                    <a:pt x="475627" y="652462"/>
                  </a:cubicBezTo>
                  <a:cubicBezTo>
                    <a:pt x="475627" y="679132"/>
                    <a:pt x="488011" y="703897"/>
                    <a:pt x="509919" y="720090"/>
                  </a:cubicBezTo>
                  <a:lnTo>
                    <a:pt x="509919" y="725805"/>
                  </a:lnTo>
                  <a:lnTo>
                    <a:pt x="407047" y="725805"/>
                  </a:lnTo>
                  <a:cubicBezTo>
                    <a:pt x="374663" y="725805"/>
                    <a:pt x="347993" y="752475"/>
                    <a:pt x="347993" y="784860"/>
                  </a:cubicBezTo>
                  <a:lnTo>
                    <a:pt x="347993" y="887730"/>
                  </a:lnTo>
                  <a:lnTo>
                    <a:pt x="342279" y="887730"/>
                  </a:lnTo>
                  <a:cubicBezTo>
                    <a:pt x="326087" y="866775"/>
                    <a:pt x="300367" y="853440"/>
                    <a:pt x="273699" y="853440"/>
                  </a:cubicBezTo>
                  <a:cubicBezTo>
                    <a:pt x="227027" y="853440"/>
                    <a:pt x="188927" y="891540"/>
                    <a:pt x="188927" y="938212"/>
                  </a:cubicBezTo>
                  <a:cubicBezTo>
                    <a:pt x="188927" y="984885"/>
                    <a:pt x="227027" y="1022985"/>
                    <a:pt x="273699" y="1022985"/>
                  </a:cubicBezTo>
                  <a:cubicBezTo>
                    <a:pt x="301321" y="1022985"/>
                    <a:pt x="326087" y="1010602"/>
                    <a:pt x="342279" y="988695"/>
                  </a:cubicBezTo>
                  <a:lnTo>
                    <a:pt x="347993" y="988695"/>
                  </a:lnTo>
                  <a:lnTo>
                    <a:pt x="347993" y="1091565"/>
                  </a:lnTo>
                  <a:cubicBezTo>
                    <a:pt x="347993" y="1123950"/>
                    <a:pt x="374663" y="1150620"/>
                    <a:pt x="407047" y="1150620"/>
                  </a:cubicBezTo>
                  <a:lnTo>
                    <a:pt x="509919" y="1150620"/>
                  </a:lnTo>
                  <a:lnTo>
                    <a:pt x="509919" y="1156335"/>
                  </a:lnTo>
                  <a:cubicBezTo>
                    <a:pt x="488963" y="1172527"/>
                    <a:pt x="475627" y="1198245"/>
                    <a:pt x="475627" y="1224915"/>
                  </a:cubicBezTo>
                  <a:cubicBezTo>
                    <a:pt x="475627" y="1271587"/>
                    <a:pt x="513727" y="1311591"/>
                    <a:pt x="560401" y="1311591"/>
                  </a:cubicBezTo>
                  <a:cubicBezTo>
                    <a:pt x="607073" y="1311591"/>
                    <a:pt x="645173" y="1273491"/>
                    <a:pt x="645173" y="1226819"/>
                  </a:cubicBezTo>
                  <a:cubicBezTo>
                    <a:pt x="645173" y="1199197"/>
                    <a:pt x="632791" y="1174432"/>
                    <a:pt x="610883" y="1158240"/>
                  </a:cubicBezTo>
                  <a:lnTo>
                    <a:pt x="610883" y="1152525"/>
                  </a:lnTo>
                  <a:lnTo>
                    <a:pt x="713753" y="1152525"/>
                  </a:lnTo>
                  <a:cubicBezTo>
                    <a:pt x="746139" y="1152525"/>
                    <a:pt x="772809" y="1125855"/>
                    <a:pt x="772809" y="1093470"/>
                  </a:cubicBezTo>
                  <a:lnTo>
                    <a:pt x="772809" y="956310"/>
                  </a:lnTo>
                  <a:lnTo>
                    <a:pt x="719467" y="956310"/>
                  </a:lnTo>
                  <a:lnTo>
                    <a:pt x="714707" y="964882"/>
                  </a:lnTo>
                  <a:cubicBezTo>
                    <a:pt x="706135" y="981075"/>
                    <a:pt x="688987" y="990600"/>
                    <a:pt x="670891" y="990600"/>
                  </a:cubicBezTo>
                  <a:cubicBezTo>
                    <a:pt x="643267" y="990600"/>
                    <a:pt x="620409" y="967740"/>
                    <a:pt x="620409" y="940117"/>
                  </a:cubicBezTo>
                  <a:cubicBezTo>
                    <a:pt x="620409" y="912495"/>
                    <a:pt x="643267" y="889635"/>
                    <a:pt x="670891" y="889635"/>
                  </a:cubicBezTo>
                  <a:cubicBezTo>
                    <a:pt x="688987" y="889635"/>
                    <a:pt x="706135" y="899160"/>
                    <a:pt x="714707" y="915352"/>
                  </a:cubicBezTo>
                  <a:lnTo>
                    <a:pt x="719467" y="923925"/>
                  </a:lnTo>
                  <a:lnTo>
                    <a:pt x="772809" y="923925"/>
                  </a:lnTo>
                  <a:lnTo>
                    <a:pt x="772809" y="785812"/>
                  </a:lnTo>
                  <a:cubicBezTo>
                    <a:pt x="772809" y="753427"/>
                    <a:pt x="746139" y="726757"/>
                    <a:pt x="713753" y="726757"/>
                  </a:cubicBezTo>
                  <a:lnTo>
                    <a:pt x="610883" y="726757"/>
                  </a:lnTo>
                  <a:lnTo>
                    <a:pt x="610883" y="721042"/>
                  </a:lnTo>
                  <a:cubicBezTo>
                    <a:pt x="631839" y="704850"/>
                    <a:pt x="645173" y="679132"/>
                    <a:pt x="645173" y="652462"/>
                  </a:cubicBezTo>
                  <a:cubicBezTo>
                    <a:pt x="645173" y="605790"/>
                    <a:pt x="607073" y="567690"/>
                    <a:pt x="560401" y="567690"/>
                  </a:cubicBezTo>
                  <a:close/>
                  <a:moveTo>
                    <a:pt x="870915" y="953"/>
                  </a:moveTo>
                  <a:lnTo>
                    <a:pt x="928067" y="953"/>
                  </a:lnTo>
                  <a:cubicBezTo>
                    <a:pt x="953783" y="953"/>
                    <a:pt x="978547" y="9525"/>
                    <a:pt x="998551" y="26670"/>
                  </a:cubicBezTo>
                  <a:cubicBezTo>
                    <a:pt x="1018553" y="43815"/>
                    <a:pt x="1031887" y="66675"/>
                    <a:pt x="1035699" y="92393"/>
                  </a:cubicBezTo>
                  <a:lnTo>
                    <a:pt x="1060463" y="234315"/>
                  </a:lnTo>
                  <a:cubicBezTo>
                    <a:pt x="1122375" y="250508"/>
                    <a:pt x="1182383" y="275273"/>
                    <a:pt x="1237627" y="307658"/>
                  </a:cubicBezTo>
                  <a:lnTo>
                    <a:pt x="1353833" y="224790"/>
                  </a:lnTo>
                  <a:cubicBezTo>
                    <a:pt x="1374787" y="210503"/>
                    <a:pt x="1400507" y="203835"/>
                    <a:pt x="1426223" y="205740"/>
                  </a:cubicBezTo>
                  <a:cubicBezTo>
                    <a:pt x="1451941" y="207645"/>
                    <a:pt x="1475753" y="219075"/>
                    <a:pt x="1493851" y="237173"/>
                  </a:cubicBezTo>
                  <a:lnTo>
                    <a:pt x="1578623" y="321945"/>
                  </a:lnTo>
                  <a:cubicBezTo>
                    <a:pt x="1596721" y="340043"/>
                    <a:pt x="1608151" y="363855"/>
                    <a:pt x="1610055" y="389573"/>
                  </a:cubicBezTo>
                  <a:cubicBezTo>
                    <a:pt x="1611961" y="415290"/>
                    <a:pt x="1605293" y="441008"/>
                    <a:pt x="1590053" y="461963"/>
                  </a:cubicBezTo>
                  <a:lnTo>
                    <a:pt x="1507187" y="580073"/>
                  </a:lnTo>
                  <a:cubicBezTo>
                    <a:pt x="1539571" y="636270"/>
                    <a:pt x="1564335" y="695325"/>
                    <a:pt x="1580527" y="757238"/>
                  </a:cubicBezTo>
                  <a:lnTo>
                    <a:pt x="1722451" y="782003"/>
                  </a:lnTo>
                  <a:cubicBezTo>
                    <a:pt x="1748167" y="786765"/>
                    <a:pt x="1771027" y="799148"/>
                    <a:pt x="1788173" y="819150"/>
                  </a:cubicBezTo>
                  <a:cubicBezTo>
                    <a:pt x="1805319" y="839153"/>
                    <a:pt x="1814843" y="863918"/>
                    <a:pt x="1813891" y="888683"/>
                  </a:cubicBezTo>
                  <a:lnTo>
                    <a:pt x="1813891" y="1010603"/>
                  </a:lnTo>
                  <a:cubicBezTo>
                    <a:pt x="1813891" y="1036320"/>
                    <a:pt x="1805319" y="1061085"/>
                    <a:pt x="1788173" y="1081088"/>
                  </a:cubicBezTo>
                  <a:cubicBezTo>
                    <a:pt x="1771027" y="1101090"/>
                    <a:pt x="1748167" y="1114425"/>
                    <a:pt x="1722451" y="1118235"/>
                  </a:cubicBezTo>
                  <a:lnTo>
                    <a:pt x="1580527" y="1143000"/>
                  </a:lnTo>
                  <a:cubicBezTo>
                    <a:pt x="1564335" y="1204913"/>
                    <a:pt x="1539571" y="1264919"/>
                    <a:pt x="1507187" y="1320165"/>
                  </a:cubicBezTo>
                  <a:lnTo>
                    <a:pt x="1590053" y="1436371"/>
                  </a:lnTo>
                  <a:cubicBezTo>
                    <a:pt x="1604341" y="1457325"/>
                    <a:pt x="1611007" y="1483043"/>
                    <a:pt x="1609103" y="1508759"/>
                  </a:cubicBezTo>
                  <a:cubicBezTo>
                    <a:pt x="1607199" y="1534479"/>
                    <a:pt x="1595767" y="1558291"/>
                    <a:pt x="1577671" y="1576387"/>
                  </a:cubicBezTo>
                  <a:lnTo>
                    <a:pt x="1492899" y="1661159"/>
                  </a:lnTo>
                  <a:cubicBezTo>
                    <a:pt x="1474801" y="1679259"/>
                    <a:pt x="1450989" y="1690687"/>
                    <a:pt x="1425271" y="1692593"/>
                  </a:cubicBezTo>
                  <a:cubicBezTo>
                    <a:pt x="1399553" y="1695451"/>
                    <a:pt x="1373835" y="1687831"/>
                    <a:pt x="1352881" y="1673543"/>
                  </a:cubicBezTo>
                  <a:lnTo>
                    <a:pt x="1234771" y="1590675"/>
                  </a:lnTo>
                  <a:cubicBezTo>
                    <a:pt x="1178573" y="1623059"/>
                    <a:pt x="1119519" y="1647825"/>
                    <a:pt x="1057607" y="1664019"/>
                  </a:cubicBezTo>
                  <a:cubicBezTo>
                    <a:pt x="1057607" y="1664019"/>
                    <a:pt x="1032841" y="1805939"/>
                    <a:pt x="1032841" y="1805939"/>
                  </a:cubicBezTo>
                  <a:cubicBezTo>
                    <a:pt x="1029983" y="1821179"/>
                    <a:pt x="1024267" y="1835467"/>
                    <a:pt x="1016647" y="1848803"/>
                  </a:cubicBezTo>
                  <a:cubicBezTo>
                    <a:pt x="1011887" y="1858327"/>
                    <a:pt x="1004267" y="1868805"/>
                    <a:pt x="993787" y="1871663"/>
                  </a:cubicBezTo>
                  <a:cubicBezTo>
                    <a:pt x="988073" y="1872615"/>
                    <a:pt x="981407" y="1872615"/>
                    <a:pt x="974739" y="1872615"/>
                  </a:cubicBezTo>
                  <a:cubicBezTo>
                    <a:pt x="955687" y="1872615"/>
                    <a:pt x="936639" y="1873567"/>
                    <a:pt x="917587" y="1874519"/>
                  </a:cubicBezTo>
                  <a:cubicBezTo>
                    <a:pt x="902347" y="1875473"/>
                    <a:pt x="886155" y="1875473"/>
                    <a:pt x="870915" y="1876425"/>
                  </a:cubicBezTo>
                  <a:lnTo>
                    <a:pt x="870915" y="1292543"/>
                  </a:lnTo>
                  <a:cubicBezTo>
                    <a:pt x="875679" y="1292543"/>
                    <a:pt x="881393" y="1292543"/>
                    <a:pt x="886155" y="1292543"/>
                  </a:cubicBezTo>
                  <a:cubicBezTo>
                    <a:pt x="1075703" y="1292543"/>
                    <a:pt x="1229055" y="1139190"/>
                    <a:pt x="1229055" y="949643"/>
                  </a:cubicBezTo>
                  <a:cubicBezTo>
                    <a:pt x="1229055" y="760095"/>
                    <a:pt x="1075703" y="606743"/>
                    <a:pt x="886155" y="606743"/>
                  </a:cubicBezTo>
                  <a:cubicBezTo>
                    <a:pt x="881393" y="606743"/>
                    <a:pt x="875679" y="606743"/>
                    <a:pt x="870915" y="606743"/>
                  </a:cubicBezTo>
                  <a:close/>
                  <a:moveTo>
                    <a:pt x="775667" y="0"/>
                  </a:moveTo>
                  <a:lnTo>
                    <a:pt x="837579" y="0"/>
                  </a:lnTo>
                  <a:lnTo>
                    <a:pt x="837579" y="1876425"/>
                  </a:lnTo>
                  <a:lnTo>
                    <a:pt x="525159" y="1888807"/>
                  </a:lnTo>
                  <a:lnTo>
                    <a:pt x="456579" y="1888807"/>
                  </a:lnTo>
                  <a:cubicBezTo>
                    <a:pt x="298463" y="1378267"/>
                    <a:pt x="89867" y="1341119"/>
                    <a:pt x="18427" y="995362"/>
                  </a:cubicBezTo>
                  <a:lnTo>
                    <a:pt x="3187" y="889635"/>
                  </a:lnTo>
                  <a:cubicBezTo>
                    <a:pt x="-36817" y="449580"/>
                    <a:pt x="304179" y="30480"/>
                    <a:pt x="775667" y="0"/>
                  </a:cubicBezTo>
                  <a:close/>
                </a:path>
              </a:pathLst>
            </a:custGeom>
            <a:solidFill>
              <a:srgbClr val="404040"/>
            </a:solidFill>
            <a:ln w="9525" cap="flat" cmpd="sng">
              <a:solidFill>
                <a:schemeClr val="lt1"/>
              </a:solidFill>
              <a:prstDash val="solid"/>
              <a:miter lim="800000"/>
              <a:headEnd type="none" w="sm" len="sm"/>
              <a:tailEnd type="none" w="sm" len="sm"/>
            </a:ln>
          </p:spPr>
          <p:txBody>
            <a:bodyPr spcFirstLastPara="1" wrap="square" lIns="137138" tIns="68550" rIns="137138" bIns="68550" anchor="ctr" anchorCtr="0">
              <a:noAutofit/>
            </a:bodyPr>
            <a:lstStyle/>
            <a:p>
              <a:pPr algn="l">
                <a:buClr>
                  <a:schemeClr val="lt1"/>
                </a:buClr>
                <a:buSzPts val="1800"/>
              </a:pPr>
              <a:endParaRPr sz="2700">
                <a:solidFill>
                  <a:srgbClr val="000000"/>
                </a:solidFill>
                <a:latin typeface="Calibri"/>
                <a:ea typeface="Calibri"/>
                <a:cs typeface="Calibri"/>
                <a:sym typeface="Calibri"/>
              </a:endParaRPr>
            </a:p>
          </p:txBody>
        </p:sp>
      </p:grpSp>
      <p:sp>
        <p:nvSpPr>
          <p:cNvPr id="244" name="Google Shape;244;p27"/>
          <p:cNvSpPr/>
          <p:nvPr/>
        </p:nvSpPr>
        <p:spPr>
          <a:xfrm>
            <a:off x="11478335" y="5607552"/>
            <a:ext cx="4639034" cy="2781054"/>
          </a:xfrm>
          <a:custGeom>
            <a:avLst/>
            <a:gdLst/>
            <a:ahLst/>
            <a:cxnLst/>
            <a:rect l="l" t="t" r="r" b="b"/>
            <a:pathLst>
              <a:path w="2611119" h="1551672" extrusionOk="0">
                <a:moveTo>
                  <a:pt x="2608301" y="20647"/>
                </a:moveTo>
                <a:cubicBezTo>
                  <a:pt x="2609240" y="445884"/>
                  <a:pt x="2610180" y="871122"/>
                  <a:pt x="2611119" y="1296359"/>
                </a:cubicBezTo>
                <a:cubicBezTo>
                  <a:pt x="2611119" y="1437364"/>
                  <a:pt x="2496811" y="1551672"/>
                  <a:pt x="2355806" y="1551672"/>
                </a:cubicBezTo>
                <a:lnTo>
                  <a:pt x="269150" y="1551672"/>
                </a:lnTo>
                <a:cubicBezTo>
                  <a:pt x="128145" y="1551672"/>
                  <a:pt x="13837" y="1437364"/>
                  <a:pt x="13837" y="1296359"/>
                </a:cubicBezTo>
                <a:lnTo>
                  <a:pt x="0" y="0"/>
                </a:lnTo>
              </a:path>
            </a:pathLst>
          </a:custGeom>
          <a:noFill/>
          <a:ln w="9525" cap="flat" cmpd="sng">
            <a:solidFill>
              <a:srgbClr val="3F3F3F"/>
            </a:solidFill>
            <a:prstDash val="solid"/>
            <a:miter lim="800000"/>
            <a:headEnd type="none" w="sm" len="sm"/>
            <a:tailEnd type="none" w="sm" len="sm"/>
          </a:ln>
        </p:spPr>
        <p:txBody>
          <a:bodyPr spcFirstLastPara="1" wrap="square" lIns="137138" tIns="68550" rIns="137138" bIns="68550" anchor="ctr" anchorCtr="0">
            <a:noAutofit/>
          </a:bodyPr>
          <a:lstStyle/>
          <a:p>
            <a:endParaRPr sz="2700">
              <a:solidFill>
                <a:schemeClr val="lt1"/>
              </a:solidFill>
              <a:latin typeface="Calibri"/>
              <a:ea typeface="Calibri"/>
              <a:cs typeface="Calibri"/>
              <a:sym typeface="Calibri"/>
            </a:endParaRPr>
          </a:p>
        </p:txBody>
      </p:sp>
      <p:grpSp>
        <p:nvGrpSpPr>
          <p:cNvPr id="245" name="Google Shape;245;p27"/>
          <p:cNvGrpSpPr/>
          <p:nvPr/>
        </p:nvGrpSpPr>
        <p:grpSpPr>
          <a:xfrm>
            <a:off x="11630127" y="2126752"/>
            <a:ext cx="4374000" cy="5642999"/>
            <a:chOff x="7764873" y="1417835"/>
            <a:chExt cx="2916000" cy="3761999"/>
          </a:xfrm>
        </p:grpSpPr>
        <p:sp>
          <p:nvSpPr>
            <p:cNvPr id="246" name="Google Shape;246;p27"/>
            <p:cNvSpPr/>
            <p:nvPr/>
          </p:nvSpPr>
          <p:spPr>
            <a:xfrm>
              <a:off x="7919206" y="1417835"/>
              <a:ext cx="2596154" cy="3761999"/>
            </a:xfrm>
            <a:prstGeom prst="roundRect">
              <a:avLst>
                <a:gd name="adj" fmla="val 7669"/>
              </a:avLst>
            </a:prstGeom>
            <a:solidFill>
              <a:schemeClr val="lt2"/>
            </a:solidFill>
            <a:ln>
              <a:noFill/>
            </a:ln>
            <a:effectLst>
              <a:outerShdw blurRad="63500" algn="ctr" rotWithShape="0">
                <a:srgbClr val="000000">
                  <a:alpha val="11764"/>
                </a:srgbClr>
              </a:outerShdw>
            </a:effectLst>
          </p:spPr>
          <p:txBody>
            <a:bodyPr spcFirstLastPara="1" wrap="square" lIns="137138" tIns="68550" rIns="137138" bIns="68550" anchor="ctr" anchorCtr="0">
              <a:noAutofit/>
            </a:bodyPr>
            <a:lstStyle/>
            <a:p>
              <a:pPr>
                <a:buClr>
                  <a:schemeClr val="lt1"/>
                </a:buClr>
                <a:buSzPts val="1600"/>
              </a:pPr>
              <a:endParaRPr sz="2400">
                <a:solidFill>
                  <a:srgbClr val="FFFFFF"/>
                </a:solidFill>
                <a:latin typeface="Calibri"/>
                <a:ea typeface="Calibri"/>
                <a:cs typeface="Calibri"/>
                <a:sym typeface="Calibri"/>
              </a:endParaRPr>
            </a:p>
          </p:txBody>
        </p:sp>
        <p:sp>
          <p:nvSpPr>
            <p:cNvPr id="247" name="Google Shape;247;p27"/>
            <p:cNvSpPr/>
            <p:nvPr/>
          </p:nvSpPr>
          <p:spPr>
            <a:xfrm rot="10800000">
              <a:off x="7766412" y="2707496"/>
              <a:ext cx="159727" cy="113475"/>
            </a:xfrm>
            <a:prstGeom prst="rtTriangle">
              <a:avLst/>
            </a:prstGeom>
            <a:solidFill>
              <a:srgbClr val="1B334E"/>
            </a:solidFill>
            <a:ln>
              <a:noFill/>
            </a:ln>
          </p:spPr>
          <p:txBody>
            <a:bodyPr spcFirstLastPara="1" wrap="square" lIns="137138" tIns="68550" rIns="137138" bIns="68550" anchor="ctr" anchorCtr="0">
              <a:noAutofit/>
            </a:bodyPr>
            <a:lstStyle/>
            <a:p>
              <a:pPr>
                <a:buClr>
                  <a:schemeClr val="lt1"/>
                </a:buClr>
                <a:buSzPts val="1200"/>
              </a:pPr>
              <a:endParaRPr sz="1350">
                <a:solidFill>
                  <a:srgbClr val="FFFFFF"/>
                </a:solidFill>
                <a:latin typeface="Calibri"/>
                <a:ea typeface="Calibri"/>
                <a:cs typeface="Calibri"/>
                <a:sym typeface="Calibri"/>
              </a:endParaRPr>
            </a:p>
          </p:txBody>
        </p:sp>
        <p:sp>
          <p:nvSpPr>
            <p:cNvPr id="248" name="Google Shape;248;p27"/>
            <p:cNvSpPr/>
            <p:nvPr/>
          </p:nvSpPr>
          <p:spPr>
            <a:xfrm flipH="1">
              <a:off x="7766646" y="2152511"/>
              <a:ext cx="159727" cy="113475"/>
            </a:xfrm>
            <a:prstGeom prst="rtTriangle">
              <a:avLst/>
            </a:prstGeom>
            <a:solidFill>
              <a:srgbClr val="1B334E"/>
            </a:solidFill>
            <a:ln>
              <a:noFill/>
            </a:ln>
          </p:spPr>
          <p:txBody>
            <a:bodyPr spcFirstLastPara="1" wrap="square" lIns="137138" tIns="68550" rIns="137138" bIns="68550" anchor="ctr" anchorCtr="0">
              <a:noAutofit/>
            </a:bodyPr>
            <a:lstStyle/>
            <a:p>
              <a:pPr>
                <a:buClr>
                  <a:schemeClr val="lt1"/>
                </a:buClr>
                <a:buSzPts val="1200"/>
              </a:pPr>
              <a:endParaRPr sz="1350">
                <a:solidFill>
                  <a:srgbClr val="FFFFFF"/>
                </a:solidFill>
                <a:latin typeface="Calibri"/>
                <a:ea typeface="Calibri"/>
                <a:cs typeface="Calibri"/>
                <a:sym typeface="Calibri"/>
              </a:endParaRPr>
            </a:p>
          </p:txBody>
        </p:sp>
        <p:sp>
          <p:nvSpPr>
            <p:cNvPr id="249" name="Google Shape;249;p27"/>
            <p:cNvSpPr/>
            <p:nvPr/>
          </p:nvSpPr>
          <p:spPr>
            <a:xfrm>
              <a:off x="7764873" y="2264618"/>
              <a:ext cx="2916000" cy="444031"/>
            </a:xfrm>
            <a:prstGeom prst="homePlate">
              <a:avLst>
                <a:gd name="adj" fmla="val 35099"/>
              </a:avLst>
            </a:prstGeom>
            <a:solidFill>
              <a:schemeClr val="accent3"/>
            </a:solidFill>
            <a:ln>
              <a:noFill/>
            </a:ln>
          </p:spPr>
          <p:txBody>
            <a:bodyPr spcFirstLastPara="1" wrap="square" lIns="137138" tIns="68550" rIns="137138" bIns="68550" anchor="ctr" anchorCtr="0">
              <a:noAutofit/>
            </a:bodyPr>
            <a:lstStyle/>
            <a:p>
              <a:pPr>
                <a:buClr>
                  <a:schemeClr val="lt1"/>
                </a:buClr>
                <a:buSzPts val="1600"/>
              </a:pPr>
              <a:endParaRPr sz="2400">
                <a:solidFill>
                  <a:srgbClr val="FFFFFF"/>
                </a:solidFill>
                <a:latin typeface="Calibri"/>
                <a:ea typeface="Calibri"/>
                <a:cs typeface="Calibri"/>
                <a:sym typeface="Calibri"/>
              </a:endParaRPr>
            </a:p>
          </p:txBody>
        </p:sp>
        <p:grpSp>
          <p:nvGrpSpPr>
            <p:cNvPr id="250" name="Google Shape;250;p27"/>
            <p:cNvGrpSpPr/>
            <p:nvPr/>
          </p:nvGrpSpPr>
          <p:grpSpPr>
            <a:xfrm>
              <a:off x="8912956" y="1550234"/>
              <a:ext cx="608655" cy="608658"/>
              <a:chOff x="8145123" y="2190570"/>
              <a:chExt cx="608655" cy="608658"/>
            </a:xfrm>
          </p:grpSpPr>
          <p:grpSp>
            <p:nvGrpSpPr>
              <p:cNvPr id="251" name="Google Shape;251;p27"/>
              <p:cNvGrpSpPr/>
              <p:nvPr/>
            </p:nvGrpSpPr>
            <p:grpSpPr>
              <a:xfrm>
                <a:off x="8145123" y="2190570"/>
                <a:ext cx="608655" cy="608658"/>
                <a:chOff x="4950373" y="1746492"/>
                <a:chExt cx="929088" cy="929091"/>
              </a:xfrm>
            </p:grpSpPr>
            <p:sp>
              <p:nvSpPr>
                <p:cNvPr id="252" name="Google Shape;252;p27"/>
                <p:cNvSpPr/>
                <p:nvPr/>
              </p:nvSpPr>
              <p:spPr>
                <a:xfrm>
                  <a:off x="4950373" y="1746492"/>
                  <a:ext cx="929088" cy="929091"/>
                </a:xfrm>
                <a:prstGeom prst="ellipse">
                  <a:avLst/>
                </a:prstGeom>
                <a:solidFill>
                  <a:schemeClr val="accent3"/>
                </a:solidFill>
                <a:ln>
                  <a:noFill/>
                </a:ln>
                <a:effectLst>
                  <a:outerShdw blurRad="50800" algn="ctr" rotWithShape="0">
                    <a:srgbClr val="000000">
                      <a:alpha val="4705"/>
                    </a:srgbClr>
                  </a:outerShdw>
                </a:effectLst>
              </p:spPr>
              <p:txBody>
                <a:bodyPr spcFirstLastPara="1" wrap="square" lIns="137138" tIns="68550" rIns="137138" bIns="68550" anchor="ctr" anchorCtr="0">
                  <a:noAutofit/>
                </a:bodyPr>
                <a:lstStyle/>
                <a:p>
                  <a:pPr>
                    <a:buClr>
                      <a:schemeClr val="dk1"/>
                    </a:buClr>
                    <a:buSzPts val="1600"/>
                  </a:pPr>
                  <a:endParaRPr sz="2400">
                    <a:solidFill>
                      <a:srgbClr val="FFFFFF"/>
                    </a:solidFill>
                    <a:latin typeface="Calibri"/>
                    <a:ea typeface="Calibri"/>
                    <a:cs typeface="Calibri"/>
                    <a:sym typeface="Calibri"/>
                  </a:endParaRPr>
                </a:p>
              </p:txBody>
            </p:sp>
            <p:sp>
              <p:nvSpPr>
                <p:cNvPr id="253" name="Google Shape;253;p27"/>
                <p:cNvSpPr/>
                <p:nvPr/>
              </p:nvSpPr>
              <p:spPr>
                <a:xfrm>
                  <a:off x="5032621" y="1828744"/>
                  <a:ext cx="764592" cy="764587"/>
                </a:xfrm>
                <a:prstGeom prst="ellipse">
                  <a:avLst/>
                </a:prstGeom>
                <a:solidFill>
                  <a:srgbClr val="FFFFFF"/>
                </a:solidFill>
                <a:ln w="19050" cap="flat" cmpd="sng">
                  <a:solidFill>
                    <a:srgbClr val="FFFFFF"/>
                  </a:solidFill>
                  <a:prstDash val="solid"/>
                  <a:miter lim="800000"/>
                  <a:headEnd type="none" w="sm" len="sm"/>
                  <a:tailEnd type="none" w="sm" len="sm"/>
                </a:ln>
                <a:effectLst>
                  <a:outerShdw blurRad="63500" sx="102000" sy="102000" algn="ctr" rotWithShape="0">
                    <a:srgbClr val="000000">
                      <a:alpha val="14901"/>
                    </a:srgbClr>
                  </a:outerShdw>
                </a:effectLst>
              </p:spPr>
              <p:txBody>
                <a:bodyPr spcFirstLastPara="1" wrap="square" lIns="137138" tIns="68550" rIns="137138" bIns="68550" anchor="ctr" anchorCtr="0">
                  <a:noAutofit/>
                </a:bodyPr>
                <a:lstStyle/>
                <a:p>
                  <a:pPr>
                    <a:buClr>
                      <a:schemeClr val="dk1"/>
                    </a:buClr>
                    <a:buSzPts val="1600"/>
                  </a:pPr>
                  <a:endParaRPr sz="2400">
                    <a:solidFill>
                      <a:srgbClr val="FFFFFF"/>
                    </a:solidFill>
                    <a:latin typeface="Arial"/>
                    <a:ea typeface="Arial"/>
                    <a:cs typeface="Arial"/>
                    <a:sym typeface="Arial"/>
                  </a:endParaRPr>
                </a:p>
              </p:txBody>
            </p:sp>
          </p:grpSp>
          <p:sp>
            <p:nvSpPr>
              <p:cNvPr id="254" name="Google Shape;254;p27"/>
              <p:cNvSpPr/>
              <p:nvPr/>
            </p:nvSpPr>
            <p:spPr>
              <a:xfrm>
                <a:off x="8290668" y="2355682"/>
                <a:ext cx="358930" cy="278432"/>
              </a:xfrm>
              <a:custGeom>
                <a:avLst/>
                <a:gdLst/>
                <a:ahLst/>
                <a:cxnLst/>
                <a:rect l="l" t="t" r="r" b="b"/>
                <a:pathLst>
                  <a:path w="8834576" h="6853199" extrusionOk="0">
                    <a:moveTo>
                      <a:pt x="6087375" y="4976652"/>
                    </a:moveTo>
                    <a:cubicBezTo>
                      <a:pt x="6022556" y="4976652"/>
                      <a:pt x="5968140" y="5030267"/>
                      <a:pt x="5968140" y="5095886"/>
                    </a:cubicBezTo>
                    <a:cubicBezTo>
                      <a:pt x="5968140" y="5161506"/>
                      <a:pt x="6021756" y="5215121"/>
                      <a:pt x="6087375" y="5215121"/>
                    </a:cubicBezTo>
                    <a:cubicBezTo>
                      <a:pt x="6155395" y="5215121"/>
                      <a:pt x="6208210" y="5161506"/>
                      <a:pt x="6206610" y="5095886"/>
                    </a:cubicBezTo>
                    <a:cubicBezTo>
                      <a:pt x="6206610" y="5030267"/>
                      <a:pt x="6152995" y="4976652"/>
                      <a:pt x="6087375" y="4976652"/>
                    </a:cubicBezTo>
                    <a:close/>
                    <a:moveTo>
                      <a:pt x="5718467" y="4913433"/>
                    </a:moveTo>
                    <a:cubicBezTo>
                      <a:pt x="5653649" y="4913433"/>
                      <a:pt x="5599233" y="4967049"/>
                      <a:pt x="5599233" y="5032668"/>
                    </a:cubicBezTo>
                    <a:cubicBezTo>
                      <a:pt x="5599233" y="5098287"/>
                      <a:pt x="5652849" y="5151903"/>
                      <a:pt x="5718467" y="5151903"/>
                    </a:cubicBezTo>
                    <a:cubicBezTo>
                      <a:pt x="5784087" y="5151903"/>
                      <a:pt x="5837702" y="5098287"/>
                      <a:pt x="5837702" y="5032668"/>
                    </a:cubicBezTo>
                    <a:cubicBezTo>
                      <a:pt x="5837702" y="4967049"/>
                      <a:pt x="5784087" y="4913433"/>
                      <a:pt x="5718467" y="4913433"/>
                    </a:cubicBezTo>
                    <a:close/>
                    <a:moveTo>
                      <a:pt x="5327954" y="4819806"/>
                    </a:moveTo>
                    <a:cubicBezTo>
                      <a:pt x="5268737" y="4819806"/>
                      <a:pt x="5219122" y="4863819"/>
                      <a:pt x="5211120" y="4921435"/>
                    </a:cubicBezTo>
                    <a:lnTo>
                      <a:pt x="5259134" y="4999058"/>
                    </a:lnTo>
                    <a:lnTo>
                      <a:pt x="5235927" y="5013462"/>
                    </a:lnTo>
                    <a:cubicBezTo>
                      <a:pt x="5257533" y="5040670"/>
                      <a:pt x="5290343" y="5058275"/>
                      <a:pt x="5327954" y="5058275"/>
                    </a:cubicBezTo>
                    <a:cubicBezTo>
                      <a:pt x="5393573" y="5058275"/>
                      <a:pt x="5447189" y="5002259"/>
                      <a:pt x="5447189" y="4939041"/>
                    </a:cubicBezTo>
                    <a:cubicBezTo>
                      <a:pt x="5447189" y="4873421"/>
                      <a:pt x="5393573" y="4819806"/>
                      <a:pt x="5327954" y="4819806"/>
                    </a:cubicBezTo>
                    <a:close/>
                    <a:moveTo>
                      <a:pt x="6087375" y="3780303"/>
                    </a:moveTo>
                    <a:cubicBezTo>
                      <a:pt x="6021756" y="3780303"/>
                      <a:pt x="5968140" y="3833918"/>
                      <a:pt x="5968140" y="3899537"/>
                    </a:cubicBezTo>
                    <a:cubicBezTo>
                      <a:pt x="5968140" y="3965156"/>
                      <a:pt x="6021756" y="4018772"/>
                      <a:pt x="6087375" y="4018772"/>
                    </a:cubicBezTo>
                    <a:cubicBezTo>
                      <a:pt x="6155395" y="4018772"/>
                      <a:pt x="6209011" y="3965156"/>
                      <a:pt x="6206610" y="3899537"/>
                    </a:cubicBezTo>
                    <a:cubicBezTo>
                      <a:pt x="6206610" y="3833918"/>
                      <a:pt x="6152995" y="3780303"/>
                      <a:pt x="6087375" y="3780303"/>
                    </a:cubicBezTo>
                    <a:close/>
                    <a:moveTo>
                      <a:pt x="5718467" y="3717084"/>
                    </a:moveTo>
                    <a:cubicBezTo>
                      <a:pt x="5652849" y="3717084"/>
                      <a:pt x="5599233" y="3770700"/>
                      <a:pt x="5599233" y="3836319"/>
                    </a:cubicBezTo>
                    <a:cubicBezTo>
                      <a:pt x="5599233" y="3901938"/>
                      <a:pt x="5652849" y="3955554"/>
                      <a:pt x="5718467" y="3955554"/>
                    </a:cubicBezTo>
                    <a:cubicBezTo>
                      <a:pt x="5784087" y="3955554"/>
                      <a:pt x="5837702" y="3900338"/>
                      <a:pt x="5837702" y="3836319"/>
                    </a:cubicBezTo>
                    <a:cubicBezTo>
                      <a:pt x="5837702" y="3770700"/>
                      <a:pt x="5784087" y="3717084"/>
                      <a:pt x="5718467" y="3717084"/>
                    </a:cubicBezTo>
                    <a:close/>
                    <a:moveTo>
                      <a:pt x="5327954" y="3623457"/>
                    </a:moveTo>
                    <a:cubicBezTo>
                      <a:pt x="5262334" y="3623457"/>
                      <a:pt x="5208719" y="3677072"/>
                      <a:pt x="5208719" y="3742692"/>
                    </a:cubicBezTo>
                    <a:cubicBezTo>
                      <a:pt x="5208719" y="3808311"/>
                      <a:pt x="5262334" y="3861926"/>
                      <a:pt x="5327954" y="3861926"/>
                    </a:cubicBezTo>
                    <a:cubicBezTo>
                      <a:pt x="5393573" y="3861926"/>
                      <a:pt x="5447189" y="3806710"/>
                      <a:pt x="5447189" y="3742692"/>
                    </a:cubicBezTo>
                    <a:cubicBezTo>
                      <a:pt x="5447189" y="3677072"/>
                      <a:pt x="5393573" y="3623457"/>
                      <a:pt x="5327954" y="3623457"/>
                    </a:cubicBezTo>
                    <a:close/>
                    <a:moveTo>
                      <a:pt x="2370291" y="3583445"/>
                    </a:moveTo>
                    <a:lnTo>
                      <a:pt x="1466828" y="5202317"/>
                    </a:lnTo>
                    <a:cubicBezTo>
                      <a:pt x="1658884" y="5346359"/>
                      <a:pt x="1791722" y="5564023"/>
                      <a:pt x="1825332" y="5813696"/>
                    </a:cubicBezTo>
                    <a:lnTo>
                      <a:pt x="2808819" y="5813696"/>
                    </a:lnTo>
                    <a:cubicBezTo>
                      <a:pt x="2843229" y="5553620"/>
                      <a:pt x="2987271" y="5327954"/>
                      <a:pt x="3192931" y="5183912"/>
                    </a:cubicBezTo>
                    <a:close/>
                    <a:moveTo>
                      <a:pt x="6087375" y="2587955"/>
                    </a:moveTo>
                    <a:cubicBezTo>
                      <a:pt x="6021755" y="2587955"/>
                      <a:pt x="5968140" y="2641570"/>
                      <a:pt x="5968140" y="2707189"/>
                    </a:cubicBezTo>
                    <a:cubicBezTo>
                      <a:pt x="5968140" y="2772809"/>
                      <a:pt x="6021755" y="2826424"/>
                      <a:pt x="6087375" y="2826424"/>
                    </a:cubicBezTo>
                    <a:cubicBezTo>
                      <a:pt x="6155394" y="2826424"/>
                      <a:pt x="6209010" y="2772809"/>
                      <a:pt x="6206609" y="2707189"/>
                    </a:cubicBezTo>
                    <a:cubicBezTo>
                      <a:pt x="6206609" y="2641570"/>
                      <a:pt x="6152994" y="2587955"/>
                      <a:pt x="6087375" y="2587955"/>
                    </a:cubicBezTo>
                    <a:close/>
                    <a:moveTo>
                      <a:pt x="5718467" y="2524736"/>
                    </a:moveTo>
                    <a:cubicBezTo>
                      <a:pt x="5652848" y="2524736"/>
                      <a:pt x="5599232" y="2578352"/>
                      <a:pt x="5599232" y="2643971"/>
                    </a:cubicBezTo>
                    <a:cubicBezTo>
                      <a:pt x="5599232" y="2709590"/>
                      <a:pt x="5652848" y="2763206"/>
                      <a:pt x="5718467" y="2763206"/>
                    </a:cubicBezTo>
                    <a:cubicBezTo>
                      <a:pt x="5784086" y="2763206"/>
                      <a:pt x="5837702" y="2707189"/>
                      <a:pt x="5837702" y="2643971"/>
                    </a:cubicBezTo>
                    <a:cubicBezTo>
                      <a:pt x="5837702" y="2578352"/>
                      <a:pt x="5784086" y="2524736"/>
                      <a:pt x="5718467" y="2524736"/>
                    </a:cubicBezTo>
                    <a:close/>
                    <a:moveTo>
                      <a:pt x="5327953" y="2431109"/>
                    </a:moveTo>
                    <a:cubicBezTo>
                      <a:pt x="5262334" y="2431109"/>
                      <a:pt x="5208718" y="2484725"/>
                      <a:pt x="5208718" y="2550344"/>
                    </a:cubicBezTo>
                    <a:cubicBezTo>
                      <a:pt x="5208718" y="2615963"/>
                      <a:pt x="5262334" y="2669578"/>
                      <a:pt x="5327953" y="2669578"/>
                    </a:cubicBezTo>
                    <a:cubicBezTo>
                      <a:pt x="5393572" y="2669578"/>
                      <a:pt x="5447188" y="2614362"/>
                      <a:pt x="5447188" y="2550344"/>
                    </a:cubicBezTo>
                    <a:cubicBezTo>
                      <a:pt x="5447188" y="2484725"/>
                      <a:pt x="5393572" y="2431109"/>
                      <a:pt x="5327953" y="2431109"/>
                    </a:cubicBezTo>
                    <a:close/>
                    <a:moveTo>
                      <a:pt x="5077480" y="1879748"/>
                    </a:moveTo>
                    <a:cubicBezTo>
                      <a:pt x="5175109" y="1947768"/>
                      <a:pt x="5341557" y="2006985"/>
                      <a:pt x="5577626" y="2056600"/>
                    </a:cubicBezTo>
                    <a:cubicBezTo>
                      <a:pt x="5946533" y="2131822"/>
                      <a:pt x="6437077" y="2175834"/>
                      <a:pt x="6956428" y="2175834"/>
                    </a:cubicBezTo>
                    <a:cubicBezTo>
                      <a:pt x="7476580" y="2175834"/>
                      <a:pt x="7966322" y="2134222"/>
                      <a:pt x="8335230" y="2056600"/>
                    </a:cubicBezTo>
                    <a:cubicBezTo>
                      <a:pt x="8571299" y="2006985"/>
                      <a:pt x="8737748" y="1950169"/>
                      <a:pt x="8833776" y="1880548"/>
                    </a:cubicBezTo>
                    <a:lnTo>
                      <a:pt x="8833776" y="2828025"/>
                    </a:lnTo>
                    <a:cubicBezTo>
                      <a:pt x="8833776" y="2872037"/>
                      <a:pt x="8724944" y="2972867"/>
                      <a:pt x="8312023" y="3058492"/>
                    </a:cubicBezTo>
                    <a:cubicBezTo>
                      <a:pt x="7951118" y="3133714"/>
                      <a:pt x="7469378" y="3175326"/>
                      <a:pt x="6955628" y="3175326"/>
                    </a:cubicBezTo>
                    <a:cubicBezTo>
                      <a:pt x="6441878" y="3175326"/>
                      <a:pt x="5962538" y="3133714"/>
                      <a:pt x="5599232" y="3058492"/>
                    </a:cubicBezTo>
                    <a:cubicBezTo>
                      <a:pt x="5186312" y="2972867"/>
                      <a:pt x="5077480" y="2872037"/>
                      <a:pt x="5077480" y="2828025"/>
                    </a:cubicBezTo>
                    <a:close/>
                    <a:moveTo>
                      <a:pt x="6954027" y="1287575"/>
                    </a:moveTo>
                    <a:cubicBezTo>
                      <a:pt x="7467777" y="1287575"/>
                      <a:pt x="7947116" y="1329187"/>
                      <a:pt x="8310422" y="1404409"/>
                    </a:cubicBezTo>
                    <a:cubicBezTo>
                      <a:pt x="8723343" y="1490034"/>
                      <a:pt x="8832174" y="1590864"/>
                      <a:pt x="8832174" y="1634876"/>
                    </a:cubicBezTo>
                    <a:cubicBezTo>
                      <a:pt x="8832174" y="1678889"/>
                      <a:pt x="8723343" y="1779719"/>
                      <a:pt x="8310422" y="1865344"/>
                    </a:cubicBezTo>
                    <a:cubicBezTo>
                      <a:pt x="7949517" y="1940566"/>
                      <a:pt x="7467777" y="1982178"/>
                      <a:pt x="6954027" y="1982178"/>
                    </a:cubicBezTo>
                    <a:cubicBezTo>
                      <a:pt x="6440277" y="1982178"/>
                      <a:pt x="5960937" y="1940566"/>
                      <a:pt x="5597631" y="1865344"/>
                    </a:cubicBezTo>
                    <a:cubicBezTo>
                      <a:pt x="5185511" y="1778118"/>
                      <a:pt x="5074278" y="1678889"/>
                      <a:pt x="5075879" y="1634876"/>
                    </a:cubicBezTo>
                    <a:cubicBezTo>
                      <a:pt x="5075879" y="1590864"/>
                      <a:pt x="5184711" y="1490034"/>
                      <a:pt x="5597631" y="1404409"/>
                    </a:cubicBezTo>
                    <a:cubicBezTo>
                      <a:pt x="5958536" y="1329187"/>
                      <a:pt x="6440277" y="1287575"/>
                      <a:pt x="6954027" y="1287575"/>
                    </a:cubicBezTo>
                    <a:close/>
                    <a:moveTo>
                      <a:pt x="1825332" y="1040303"/>
                    </a:moveTo>
                    <a:cubicBezTo>
                      <a:pt x="1799725" y="1229959"/>
                      <a:pt x="1716501" y="1401209"/>
                      <a:pt x="1594065" y="1535648"/>
                    </a:cubicBezTo>
                    <a:lnTo>
                      <a:pt x="2379094" y="3063293"/>
                    </a:lnTo>
                    <a:lnTo>
                      <a:pt x="3167324" y="1651682"/>
                    </a:lnTo>
                    <a:cubicBezTo>
                      <a:pt x="2975268" y="1507640"/>
                      <a:pt x="2842429" y="1289976"/>
                      <a:pt x="2808819" y="1040303"/>
                    </a:cubicBezTo>
                    <a:close/>
                    <a:moveTo>
                      <a:pt x="917067" y="0"/>
                    </a:moveTo>
                    <a:cubicBezTo>
                      <a:pt x="1381203" y="0"/>
                      <a:pt x="1765315" y="345701"/>
                      <a:pt x="1825332" y="794632"/>
                    </a:cubicBezTo>
                    <a:lnTo>
                      <a:pt x="2808819" y="794632"/>
                    </a:lnTo>
                    <a:cubicBezTo>
                      <a:pt x="2868837" y="345701"/>
                      <a:pt x="3252148" y="0"/>
                      <a:pt x="3717084" y="0"/>
                    </a:cubicBezTo>
                    <a:cubicBezTo>
                      <a:pt x="4222832" y="0"/>
                      <a:pt x="4633351" y="410520"/>
                      <a:pt x="4634151" y="917868"/>
                    </a:cubicBezTo>
                    <a:cubicBezTo>
                      <a:pt x="4634151" y="1424415"/>
                      <a:pt x="4223632" y="1834935"/>
                      <a:pt x="3717084" y="1834935"/>
                    </a:cubicBezTo>
                    <a:cubicBezTo>
                      <a:pt x="3597849" y="1834935"/>
                      <a:pt x="3485016" y="1811728"/>
                      <a:pt x="3380986" y="1770917"/>
                    </a:cubicBezTo>
                    <a:lnTo>
                      <a:pt x="2525537" y="3304164"/>
                    </a:lnTo>
                    <a:lnTo>
                      <a:pt x="5077481" y="3304164"/>
                    </a:lnTo>
                    <a:lnTo>
                      <a:pt x="5077481" y="3074497"/>
                    </a:lnTo>
                    <a:cubicBezTo>
                      <a:pt x="5175109" y="3142517"/>
                      <a:pt x="5341558" y="3201734"/>
                      <a:pt x="5577627" y="3251348"/>
                    </a:cubicBezTo>
                    <a:cubicBezTo>
                      <a:pt x="5946534" y="3326570"/>
                      <a:pt x="6437077" y="3370583"/>
                      <a:pt x="6956429" y="3370583"/>
                    </a:cubicBezTo>
                    <a:cubicBezTo>
                      <a:pt x="7475780" y="3370583"/>
                      <a:pt x="7966323" y="3326570"/>
                      <a:pt x="8332830" y="3251348"/>
                    </a:cubicBezTo>
                    <a:cubicBezTo>
                      <a:pt x="8568899" y="3201734"/>
                      <a:pt x="8733747" y="3141716"/>
                      <a:pt x="8832976" y="3074497"/>
                    </a:cubicBezTo>
                    <a:lnTo>
                      <a:pt x="8832976" y="4022773"/>
                    </a:lnTo>
                    <a:cubicBezTo>
                      <a:pt x="8832976" y="4066786"/>
                      <a:pt x="8724143" y="4167615"/>
                      <a:pt x="8311223" y="4253241"/>
                    </a:cubicBezTo>
                    <a:cubicBezTo>
                      <a:pt x="7950318" y="4328463"/>
                      <a:pt x="7468578" y="4370075"/>
                      <a:pt x="6954828" y="4370075"/>
                    </a:cubicBezTo>
                    <a:cubicBezTo>
                      <a:pt x="6441079" y="4370075"/>
                      <a:pt x="5961739" y="4328463"/>
                      <a:pt x="5598432" y="4253241"/>
                    </a:cubicBezTo>
                    <a:cubicBezTo>
                      <a:pt x="5185512" y="4167615"/>
                      <a:pt x="5076681" y="4066786"/>
                      <a:pt x="5076681" y="4022773"/>
                    </a:cubicBezTo>
                    <a:lnTo>
                      <a:pt x="5076681" y="3549035"/>
                    </a:lnTo>
                    <a:lnTo>
                      <a:pt x="2627166" y="3549035"/>
                    </a:lnTo>
                    <a:lnTo>
                      <a:pt x="3408994" y="5071079"/>
                    </a:lnTo>
                    <a:cubicBezTo>
                      <a:pt x="3505022" y="5036669"/>
                      <a:pt x="3608252" y="5018264"/>
                      <a:pt x="3715483" y="5018264"/>
                    </a:cubicBezTo>
                    <a:cubicBezTo>
                      <a:pt x="3961155" y="5018264"/>
                      <a:pt x="4183620" y="5115092"/>
                      <a:pt x="4348468" y="5272738"/>
                    </a:cubicBezTo>
                    <a:lnTo>
                      <a:pt x="5076681" y="4821406"/>
                    </a:lnTo>
                    <a:lnTo>
                      <a:pt x="5076681" y="4270045"/>
                    </a:lnTo>
                    <a:cubicBezTo>
                      <a:pt x="5174309" y="4338065"/>
                      <a:pt x="5340758" y="4397283"/>
                      <a:pt x="5576827" y="4446897"/>
                    </a:cubicBezTo>
                    <a:cubicBezTo>
                      <a:pt x="5945734" y="4522119"/>
                      <a:pt x="6436277" y="4566132"/>
                      <a:pt x="6955628" y="4566132"/>
                    </a:cubicBezTo>
                    <a:cubicBezTo>
                      <a:pt x="7475780" y="4566132"/>
                      <a:pt x="7965523" y="4522119"/>
                      <a:pt x="8334430" y="4446897"/>
                    </a:cubicBezTo>
                    <a:cubicBezTo>
                      <a:pt x="8570499" y="4397283"/>
                      <a:pt x="8735347" y="4337265"/>
                      <a:pt x="8834576" y="4270045"/>
                    </a:cubicBezTo>
                    <a:lnTo>
                      <a:pt x="8834576" y="5218322"/>
                    </a:lnTo>
                    <a:cubicBezTo>
                      <a:pt x="8834576" y="5262335"/>
                      <a:pt x="8725744" y="5363164"/>
                      <a:pt x="8312825" y="5448789"/>
                    </a:cubicBezTo>
                    <a:cubicBezTo>
                      <a:pt x="7951919" y="5524011"/>
                      <a:pt x="7470178" y="5565623"/>
                      <a:pt x="6956429" y="5565623"/>
                    </a:cubicBezTo>
                    <a:cubicBezTo>
                      <a:pt x="6442679" y="5565623"/>
                      <a:pt x="5963339" y="5524011"/>
                      <a:pt x="5600033" y="5448789"/>
                    </a:cubicBezTo>
                    <a:cubicBezTo>
                      <a:pt x="5187113" y="5363164"/>
                      <a:pt x="5078281" y="5262335"/>
                      <a:pt x="5078281" y="5218322"/>
                    </a:cubicBezTo>
                    <a:lnTo>
                      <a:pt x="5078281" y="5110290"/>
                    </a:lnTo>
                    <a:lnTo>
                      <a:pt x="4504514" y="5466394"/>
                    </a:lnTo>
                    <a:cubicBezTo>
                      <a:pt x="4586938" y="5604034"/>
                      <a:pt x="4634151" y="5764081"/>
                      <a:pt x="4634151" y="5936131"/>
                    </a:cubicBezTo>
                    <a:cubicBezTo>
                      <a:pt x="4634151" y="6442679"/>
                      <a:pt x="4223632" y="6853199"/>
                      <a:pt x="3717084" y="6853199"/>
                    </a:cubicBezTo>
                    <a:cubicBezTo>
                      <a:pt x="3252148" y="6853199"/>
                      <a:pt x="2868837" y="6507498"/>
                      <a:pt x="2808819" y="6058567"/>
                    </a:cubicBezTo>
                    <a:lnTo>
                      <a:pt x="1825332" y="6058567"/>
                    </a:lnTo>
                    <a:cubicBezTo>
                      <a:pt x="1765315" y="6507498"/>
                      <a:pt x="1382003" y="6853199"/>
                      <a:pt x="917067" y="6853199"/>
                    </a:cubicBezTo>
                    <a:cubicBezTo>
                      <a:pt x="410520" y="6853199"/>
                      <a:pt x="0" y="6442679"/>
                      <a:pt x="0" y="5936131"/>
                    </a:cubicBezTo>
                    <a:cubicBezTo>
                      <a:pt x="0" y="5429584"/>
                      <a:pt x="410520" y="5019064"/>
                      <a:pt x="916267" y="5019064"/>
                    </a:cubicBezTo>
                    <a:cubicBezTo>
                      <a:pt x="1035502" y="5019064"/>
                      <a:pt x="1148335" y="5042271"/>
                      <a:pt x="1252365" y="5083083"/>
                    </a:cubicBezTo>
                    <a:lnTo>
                      <a:pt x="2107815" y="3549035"/>
                    </a:lnTo>
                    <a:lnTo>
                      <a:pt x="1825332" y="3549035"/>
                    </a:lnTo>
                    <a:cubicBezTo>
                      <a:pt x="1765315" y="3997966"/>
                      <a:pt x="1382003" y="4343667"/>
                      <a:pt x="917067" y="4343667"/>
                    </a:cubicBezTo>
                    <a:cubicBezTo>
                      <a:pt x="410520" y="4343667"/>
                      <a:pt x="0" y="3933147"/>
                      <a:pt x="0" y="3426600"/>
                    </a:cubicBezTo>
                    <a:cubicBezTo>
                      <a:pt x="0" y="2920052"/>
                      <a:pt x="410520" y="2509532"/>
                      <a:pt x="917067" y="2509532"/>
                    </a:cubicBezTo>
                    <a:cubicBezTo>
                      <a:pt x="1382003" y="2509532"/>
                      <a:pt x="1765315" y="2855233"/>
                      <a:pt x="1825332" y="3304164"/>
                    </a:cubicBezTo>
                    <a:lnTo>
                      <a:pt x="2227049" y="3304164"/>
                    </a:lnTo>
                    <a:lnTo>
                      <a:pt x="1401209" y="1696495"/>
                    </a:lnTo>
                    <a:cubicBezTo>
                      <a:pt x="1260368" y="1784520"/>
                      <a:pt x="1094719" y="1834935"/>
                      <a:pt x="917067" y="1834935"/>
                    </a:cubicBezTo>
                    <a:cubicBezTo>
                      <a:pt x="410520" y="1834935"/>
                      <a:pt x="0" y="1424415"/>
                      <a:pt x="0" y="917067"/>
                    </a:cubicBezTo>
                    <a:cubicBezTo>
                      <a:pt x="0" y="410520"/>
                      <a:pt x="410520" y="0"/>
                      <a:pt x="917067" y="0"/>
                    </a:cubicBezTo>
                    <a:close/>
                  </a:path>
                </a:pathLst>
              </a:custGeom>
              <a:solidFill>
                <a:srgbClr val="3F3F3F"/>
              </a:solidFill>
              <a:ln>
                <a:noFill/>
              </a:ln>
            </p:spPr>
            <p:txBody>
              <a:bodyPr spcFirstLastPara="1" wrap="square" lIns="137138" tIns="68550" rIns="137138" bIns="68550" anchor="ctr" anchorCtr="0">
                <a:noAutofit/>
              </a:bodyPr>
              <a:lstStyle/>
              <a:p>
                <a:pPr algn="l"/>
                <a:endParaRPr sz="2700">
                  <a:solidFill>
                    <a:schemeClr val="dk1"/>
                  </a:solidFill>
                  <a:latin typeface="Calibri"/>
                  <a:ea typeface="Calibri"/>
                  <a:cs typeface="Calibri"/>
                  <a:sym typeface="Calibri"/>
                </a:endParaRPr>
              </a:p>
            </p:txBody>
          </p:sp>
        </p:grpSp>
        <p:sp>
          <p:nvSpPr>
            <p:cNvPr id="255" name="Google Shape;255;p27"/>
            <p:cNvSpPr txBox="1"/>
            <p:nvPr/>
          </p:nvSpPr>
          <p:spPr>
            <a:xfrm>
              <a:off x="8028487" y="2771705"/>
              <a:ext cx="2436715" cy="1969729"/>
            </a:xfrm>
            <a:prstGeom prst="rect">
              <a:avLst/>
            </a:prstGeom>
            <a:noFill/>
            <a:ln>
              <a:noFill/>
            </a:ln>
          </p:spPr>
          <p:txBody>
            <a:bodyPr spcFirstLastPara="1" wrap="square" lIns="137138" tIns="68550" rIns="137138" bIns="68550" anchor="t" anchorCtr="0">
              <a:spAutoFit/>
            </a:bodyPr>
            <a:lstStyle/>
            <a:p>
              <a:pPr marL="257175" indent="-257175">
                <a:buClr>
                  <a:schemeClr val="dk1"/>
                </a:buClr>
                <a:buSzPts val="1600"/>
                <a:buFont typeface="Arial"/>
                <a:buChar char="•"/>
              </a:pPr>
              <a:r>
                <a:rPr lang="en-US" sz="2400">
                  <a:solidFill>
                    <a:schemeClr val="dk1"/>
                  </a:solidFill>
                  <a:latin typeface="Calibri"/>
                  <a:ea typeface="Calibri"/>
                  <a:cs typeface="Calibri"/>
                  <a:sym typeface="Calibri"/>
                </a:rPr>
                <a:t>65+ Adopted Standards</a:t>
              </a:r>
              <a:endParaRPr sz="3600"/>
            </a:p>
            <a:p>
              <a:pPr marL="257175" indent="-257175">
                <a:spcBef>
                  <a:spcPts val="900"/>
                </a:spcBef>
                <a:buClr>
                  <a:schemeClr val="dk1"/>
                </a:buClr>
                <a:buSzPts val="1600"/>
                <a:buFont typeface="Arial"/>
                <a:buChar char="•"/>
              </a:pPr>
              <a:r>
                <a:rPr lang="en-US" sz="2400">
                  <a:solidFill>
                    <a:schemeClr val="dk1"/>
                  </a:solidFill>
                  <a:latin typeface="Calibri"/>
                  <a:ea typeface="Calibri"/>
                  <a:cs typeface="Calibri"/>
                  <a:sym typeface="Calibri"/>
                </a:rPr>
                <a:t>300+ products with 1000+ certified implementations</a:t>
              </a:r>
              <a:endParaRPr sz="3600"/>
            </a:p>
            <a:p>
              <a:pPr marL="257175" indent="-257175">
                <a:spcBef>
                  <a:spcPts val="900"/>
                </a:spcBef>
                <a:buClr>
                  <a:schemeClr val="dk1"/>
                </a:buClr>
                <a:buSzPts val="1600"/>
                <a:buFont typeface="Arial"/>
                <a:buChar char="•"/>
              </a:pPr>
              <a:r>
                <a:rPr lang="en-US" sz="2400">
                  <a:solidFill>
                    <a:schemeClr val="dk1"/>
                  </a:solidFill>
                  <a:latin typeface="Calibri"/>
                  <a:ea typeface="Calibri"/>
                  <a:cs typeface="Calibri"/>
                  <a:sym typeface="Calibri"/>
                </a:rPr>
                <a:t>1,700,000+ Operational Data Sets Using OGC Standards</a:t>
              </a:r>
              <a:endParaRPr sz="3600"/>
            </a:p>
          </p:txBody>
        </p:sp>
        <p:sp>
          <p:nvSpPr>
            <p:cNvPr id="256" name="Google Shape;256;p27"/>
            <p:cNvSpPr/>
            <p:nvPr/>
          </p:nvSpPr>
          <p:spPr>
            <a:xfrm flipH="1">
              <a:off x="8589867" y="2286036"/>
              <a:ext cx="1313953" cy="369332"/>
            </a:xfrm>
            <a:prstGeom prst="rect">
              <a:avLst/>
            </a:prstGeom>
            <a:noFill/>
            <a:ln>
              <a:noFill/>
            </a:ln>
          </p:spPr>
          <p:txBody>
            <a:bodyPr spcFirstLastPara="1" wrap="square" lIns="137138" tIns="68550" rIns="137138" bIns="68550" anchor="ctr" anchorCtr="0">
              <a:noAutofit/>
            </a:bodyPr>
            <a:lstStyle/>
            <a:p>
              <a:r>
                <a:rPr lang="en-US" sz="2700" b="1">
                  <a:solidFill>
                    <a:schemeClr val="lt2"/>
                  </a:solidFill>
                  <a:latin typeface="Lato"/>
                  <a:ea typeface="Lato"/>
                  <a:cs typeface="Lato"/>
                  <a:sym typeface="Lato"/>
                </a:rPr>
                <a:t>Standards</a:t>
              </a:r>
              <a:endParaRPr sz="2700" b="1">
                <a:solidFill>
                  <a:schemeClr val="lt2"/>
                </a:solidFill>
                <a:latin typeface="Lato"/>
                <a:ea typeface="Lato"/>
                <a:cs typeface="Lato"/>
                <a:sym typeface="Lato"/>
              </a:endParaRPr>
            </a:p>
          </p:txBody>
        </p:sp>
      </p:grpSp>
      <p:sp>
        <p:nvSpPr>
          <p:cNvPr id="257" name="Google Shape;257;p27"/>
          <p:cNvSpPr txBox="1">
            <a:spLocks noGrp="1"/>
          </p:cNvSpPr>
          <p:nvPr>
            <p:ph type="title"/>
          </p:nvPr>
        </p:nvSpPr>
        <p:spPr>
          <a:xfrm>
            <a:off x="1257300" y="-244"/>
            <a:ext cx="15773400" cy="1515077"/>
          </a:xfrm>
          <a:prstGeom prst="rect">
            <a:avLst/>
          </a:prstGeom>
          <a:noFill/>
          <a:ln>
            <a:noFill/>
          </a:ln>
        </p:spPr>
        <p:txBody>
          <a:bodyPr spcFirstLastPara="1" vert="horz" wrap="square" lIns="137138" tIns="68550" rIns="137138" bIns="68550" rtlCol="0" anchor="ctr" anchorCtr="0">
            <a:normAutofit/>
          </a:bodyPr>
          <a:lstStyle/>
          <a:p>
            <a:pPr algn="ctr"/>
            <a:endParaRPr dirty="0"/>
          </a:p>
        </p:txBody>
      </p:sp>
      <p:sp>
        <p:nvSpPr>
          <p:cNvPr id="2" name="Title 2">
            <a:extLst>
              <a:ext uri="{FF2B5EF4-FFF2-40B4-BE49-F238E27FC236}">
                <a16:creationId xmlns:a16="http://schemas.microsoft.com/office/drawing/2014/main" id="{7C3779CC-9019-918B-7BB1-69A990DF1AE6}"/>
              </a:ext>
            </a:extLst>
          </p:cNvPr>
          <p:cNvSpPr txBox="1">
            <a:spLocks/>
          </p:cNvSpPr>
          <p:nvPr/>
        </p:nvSpPr>
        <p:spPr>
          <a:xfrm>
            <a:off x="12347489" y="9554332"/>
            <a:ext cx="4297062" cy="448865"/>
          </a:xfrm>
          <a:prstGeom prst="rect">
            <a:avLst/>
          </a:prstGeom>
          <a:noFill/>
          <a:ln>
            <a:noFill/>
          </a:ln>
        </p:spPr>
        <p:txBody>
          <a:bodyPr spcFirstLastPara="1" wrap="square" lIns="137138" tIns="68550" rIns="137138" bIns="6855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2B1FF"/>
              </a:buClr>
              <a:buSzPts val="3200"/>
              <a:buFont typeface="Lato"/>
              <a:buNone/>
              <a:defRPr sz="3200" b="0" i="0" u="none" strike="noStrike" cap="none">
                <a:solidFill>
                  <a:srgbClr val="02B1FF"/>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1650" dirty="0"/>
              <a:t>Testbed 19 Demonstration and Outreach |</a:t>
            </a:r>
            <a:endParaRPr lang="en-US" sz="4800" dirty="0"/>
          </a:p>
        </p:txBody>
      </p:sp>
    </p:spTree>
    <p:extLst>
      <p:ext uri="{BB962C8B-B14F-4D97-AF65-F5344CB8AC3E}">
        <p14:creationId xmlns:p14="http://schemas.microsoft.com/office/powerpoint/2010/main" val="3966446747"/>
      </p:ext>
    </p:extLst>
  </p:cSld>
  <p:clrMapOvr>
    <a:masterClrMapping/>
  </p:clrMapOvr>
</p:sld>
</file>

<file path=ppt/theme/theme1.xml><?xml version="1.0" encoding="utf-8"?>
<a:theme xmlns:a="http://schemas.openxmlformats.org/drawingml/2006/main" name="Office Theme">
  <a:themeElements>
    <a:clrScheme name="OGC BRAND COLOURS">
      <a:dk1>
        <a:srgbClr val="000000"/>
      </a:dk1>
      <a:lt1>
        <a:srgbClr val="FFFFFF"/>
      </a:lt1>
      <a:dk2>
        <a:srgbClr val="1F497D"/>
      </a:dk2>
      <a:lt2>
        <a:srgbClr val="E3EFFC"/>
      </a:lt2>
      <a:accent1>
        <a:srgbClr val="1A2483"/>
      </a:accent1>
      <a:accent2>
        <a:srgbClr val="263BD3"/>
      </a:accent2>
      <a:accent3>
        <a:srgbClr val="D6E832"/>
      </a:accent3>
      <a:accent4>
        <a:srgbClr val="92DEFF"/>
      </a:accent4>
      <a:accent5>
        <a:srgbClr val="BAD6FF"/>
      </a:accent5>
      <a:accent6>
        <a:srgbClr val="AAB50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esktop version - PPT MASTER" id="{7FEBD1E3-3883-9049-8AF0-44F39D7ACA2B}" vid="{45FF2EAE-8C52-A747-9309-B2C3AB4E5F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d591f4a-b750-44ad-8ebf-06d36ba90675" xsi:nil="true"/>
    <lcf76f155ced4ddcb4097134ff3c332f xmlns="d6fbc86c-d850-4140-ac77-9d31bd829bd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E9E3310CD124948B4E279413993BB0E" ma:contentTypeVersion="13" ma:contentTypeDescription="Create a new document." ma:contentTypeScope="" ma:versionID="0a4033e78b75580e944694f4110b9443">
  <xsd:schema xmlns:xsd="http://www.w3.org/2001/XMLSchema" xmlns:xs="http://www.w3.org/2001/XMLSchema" xmlns:p="http://schemas.microsoft.com/office/2006/metadata/properties" xmlns:ns2="d6fbc86c-d850-4140-ac77-9d31bd829bdd" xmlns:ns3="9d591f4a-b750-44ad-8ebf-06d36ba90675" targetNamespace="http://schemas.microsoft.com/office/2006/metadata/properties" ma:root="true" ma:fieldsID="efd5ec2613c3be04dd453b3842ae1d37" ns2:_="" ns3:_="">
    <xsd:import namespace="d6fbc86c-d850-4140-ac77-9d31bd829bdd"/>
    <xsd:import namespace="9d591f4a-b750-44ad-8ebf-06d36ba906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fbc86c-d850-4140-ac77-9d31bd829b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e216777-a1e1-495c-93e8-2566215d527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91f4a-b750-44ad-8ebf-06d36ba9067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c77d112-1c04-4fa5-a3ca-824683e69c49}" ma:internalName="TaxCatchAll" ma:showField="CatchAllData" ma:web="9d591f4a-b750-44ad-8ebf-06d36ba906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83FC41-384C-4416-9A4E-6653321403C3}">
  <ds:schemaRefs>
    <ds:schemaRef ds:uri="http://schemas.microsoft.com/office/2006/metadata/properties"/>
    <ds:schemaRef ds:uri="http://schemas.microsoft.com/office/infopath/2007/PartnerControls"/>
    <ds:schemaRef ds:uri="9d591f4a-b750-44ad-8ebf-06d36ba90675"/>
    <ds:schemaRef ds:uri="d6fbc86c-d850-4140-ac77-9d31bd829bdd"/>
  </ds:schemaRefs>
</ds:datastoreItem>
</file>

<file path=customXml/itemProps2.xml><?xml version="1.0" encoding="utf-8"?>
<ds:datastoreItem xmlns:ds="http://schemas.openxmlformats.org/officeDocument/2006/customXml" ds:itemID="{A028D80A-D8F1-4E9F-96FE-EDED6B38411B}">
  <ds:schemaRefs>
    <ds:schemaRef ds:uri="http://schemas.microsoft.com/sharepoint/v3/contenttype/forms"/>
  </ds:schemaRefs>
</ds:datastoreItem>
</file>

<file path=customXml/itemProps3.xml><?xml version="1.0" encoding="utf-8"?>
<ds:datastoreItem xmlns:ds="http://schemas.openxmlformats.org/officeDocument/2006/customXml" ds:itemID="{311F3D4D-EBA0-40F5-94E2-7634A01ED3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fbc86c-d850-4140-ac77-9d31bd829bdd"/>
    <ds:schemaRef ds:uri="9d591f4a-b750-44ad-8ebf-06d36ba906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320</TotalTime>
  <Words>3362</Words>
  <Application>Microsoft Macintosh PowerPoint</Application>
  <PresentationFormat>Custom</PresentationFormat>
  <Paragraphs>307</Paragraphs>
  <Slides>23</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Noto Sans Medium</vt:lpstr>
      <vt:lpstr>Aptos SemiBold</vt:lpstr>
      <vt:lpstr>Calibri</vt:lpstr>
      <vt:lpstr>Aptos</vt:lpstr>
      <vt:lpstr>Aptos Display</vt:lpstr>
      <vt:lpstr>Helvetica Neue Medium</vt:lpstr>
      <vt:lpstr>Arial</vt:lpstr>
      <vt:lpstr>Google Sans</vt:lpstr>
      <vt:lpstr>Mont Book</vt:lpstr>
      <vt:lpstr>Lato</vt:lpstr>
      <vt:lpstr>Office Theme</vt:lpstr>
      <vt:lpstr>Jim Antonisse, WiSC/NGA-TAEB  Supporting Mirsada Beganovic, NGA/TAEB 28 October 2025</vt:lpstr>
      <vt:lpstr>NGA Interest in GeoPose Uncertainty/Confidence</vt:lpstr>
      <vt:lpstr>Agenda</vt:lpstr>
      <vt:lpstr>Status: Apps seldom expose uncertainty </vt:lpstr>
      <vt:lpstr>OGC GeoPose SWG: v.2 Work Package item #7</vt:lpstr>
      <vt:lpstr>Goal: Syntactically share levels of confidence    .</vt:lpstr>
      <vt:lpstr> Would like a Standard way to express uncertainty/confidence in GeoPose</vt:lpstr>
      <vt:lpstr>Current focus: Syntax/Language for exchanging vs computing Uncertainty</vt:lpstr>
      <vt:lpstr>Approach: Recover Previous Work </vt:lpstr>
      <vt:lpstr>Lean on Previous Work</vt:lpstr>
      <vt:lpstr>Progress: Some possible solutions found </vt:lpstr>
      <vt:lpstr>Review of earlier approaches</vt:lpstr>
      <vt:lpstr>ChatGPT Analysis Summary (?) of GeoPose Uncert/Confidence options</vt:lpstr>
      <vt:lpstr>ChatGPT GeoPose Uncert/Confidence options in different system contexts</vt:lpstr>
      <vt:lpstr>Example: Motion Imagery Standards Board</vt:lpstr>
      <vt:lpstr>Example: NGA Standardizations</vt:lpstr>
      <vt:lpstr>Example: NGA Community Sensor Model</vt:lpstr>
      <vt:lpstr>NGA – core representations</vt:lpstr>
      <vt:lpstr>NGA focus has been on Spherical and Linear Errors, CoVariance</vt:lpstr>
      <vt:lpstr>Next: Socialize the question, recruit the answer     .</vt:lpstr>
      <vt:lpstr>Socialize GeoPose in the NGA and OGC user communities</vt:lpstr>
      <vt:lpstr>THANK YOU</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Author name | Affiliation DD October 2025</dc:title>
  <dc:creator>Scott Simmons</dc:creator>
  <cp:lastModifiedBy>Jim Antonisse</cp:lastModifiedBy>
  <cp:revision>30</cp:revision>
  <dcterms:created xsi:type="dcterms:W3CDTF">2025-04-29T18:14:43Z</dcterms:created>
  <dcterms:modified xsi:type="dcterms:W3CDTF">2025-10-28T03:40:09Z</dcterms:modified>
  <dc:identifier>DAGYbemYEzg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0x0101002E9E3310CD124948B4E279413993BB0E</vt:lpwstr>
  </property>
  <property fmtid="{D5CDD505-2E9C-101B-9397-08002B2CF9AE}" pid="3" name="MediaServiceImageTags">
    <vt:lpwstr/>
  </property>
</Properties>
</file>