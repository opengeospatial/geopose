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379" r:id="rId5"/>
    <p:sldId id="404" r:id="rId6"/>
    <p:sldId id="402" r:id="rId7"/>
    <p:sldId id="405" r:id="rId8"/>
    <p:sldId id="362" r:id="rId9"/>
    <p:sldId id="410" r:id="rId10"/>
    <p:sldId id="411" r:id="rId11"/>
    <p:sldId id="348" r:id="rId12"/>
    <p:sldId id="403" r:id="rId13"/>
    <p:sldId id="409" r:id="rId14"/>
    <p:sldId id="406" r:id="rId15"/>
    <p:sldId id="407" r:id="rId16"/>
    <p:sldId id="408" r:id="rId17"/>
  </p:sldIdLst>
  <p:sldSz cx="18288000" cy="10287000"/>
  <p:notesSz cx="6858000" cy="9144000"/>
  <p:embeddedFontLst>
    <p:embeddedFont>
      <p:font typeface="Aptos SemiBold" panose="020B0004020202020204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2" autoAdjust="0"/>
    <p:restoredTop sz="96197" autoAdjust="0"/>
  </p:normalViewPr>
  <p:slideViewPr>
    <p:cSldViewPr>
      <p:cViewPr varScale="1">
        <p:scale>
          <a:sx n="58" d="100"/>
          <a:sy n="58" d="100"/>
        </p:scale>
        <p:origin x="576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10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hyperlink" Target="https://www.youtube.com/@opengeospatial" TargetMode="External"/><Relationship Id="rId4" Type="http://schemas.openxmlformats.org/officeDocument/2006/relationships/image" Target="../media/image8.svg"/><Relationship Id="rId9" Type="http://schemas.openxmlformats.org/officeDocument/2006/relationships/image" Target="../media/image1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431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 flip="none" rotWithShape="1"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45447" y="91059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Christine Perey, Steve Smyth</a:t>
            </a:r>
            <a:br>
              <a:rPr lang="en-US" dirty="0"/>
            </a:br>
            <a:r>
              <a:rPr lang="en-US" dirty="0"/>
              <a:t>28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5800" y="1409700"/>
            <a:ext cx="10929730" cy="2971800"/>
          </a:xfrm>
        </p:spPr>
        <p:txBody>
          <a:bodyPr/>
          <a:lstStyle/>
          <a:p>
            <a:r>
              <a:rPr lang="en-US" dirty="0" err="1"/>
              <a:t>GeoPose</a:t>
            </a:r>
            <a:r>
              <a:rPr lang="en-US" dirty="0"/>
              <a:t> SWG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04C5659-F089-BE9E-C7F7-FBEDD19FB92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722031" y="4477662"/>
            <a:ext cx="8267298" cy="1961238"/>
          </a:xfrm>
        </p:spPr>
        <p:txBody>
          <a:bodyPr>
            <a:noAutofit/>
          </a:bodyPr>
          <a:lstStyle>
            <a:lvl1pPr marL="0" indent="0">
              <a:buNone/>
              <a:defRPr sz="6500" b="0" i="0" baseline="300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IN" dirty="0"/>
              <a:t>The 133rd OGC Member Meeting, Boulder, Colorado USA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47668-DC0C-CC05-D56F-7CB07FA39D00}"/>
              </a:ext>
            </a:extLst>
          </p:cNvPr>
          <p:cNvSpPr txBox="1">
            <a:spLocks/>
          </p:cNvSpPr>
          <p:nvPr/>
        </p:nvSpPr>
        <p:spPr>
          <a:xfrm>
            <a:off x="14401800" y="8041128"/>
            <a:ext cx="2700130" cy="4612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14620"/>
              </a:lnSpc>
              <a:spcBef>
                <a:spcPct val="0"/>
              </a:spcBef>
              <a:buNone/>
              <a:defRPr sz="2500" b="1" i="0" kern="1200">
                <a:solidFill>
                  <a:srgbClr val="1A2584"/>
                </a:solidFill>
                <a:latin typeface="Aptos" panose="020B0004020202020204" pitchFamily="34" charset="0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Meeting Sponsor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E35AB0-4FF0-EF82-272A-890B9A7DBCF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55335" y="8479631"/>
            <a:ext cx="6610260" cy="13916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EC680E-B842-6D42-4433-9D266C09E91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35000" y="8618500"/>
            <a:ext cx="4567985" cy="111389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3D05C34-0D44-19A4-90B4-351543D5F06E}"/>
              </a:ext>
            </a:extLst>
          </p:cNvPr>
          <p:cNvSpPr txBox="1">
            <a:spLocks/>
          </p:cNvSpPr>
          <p:nvPr/>
        </p:nvSpPr>
        <p:spPr>
          <a:xfrm>
            <a:off x="8534400" y="7810499"/>
            <a:ext cx="2700130" cy="4612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14620"/>
              </a:lnSpc>
              <a:spcBef>
                <a:spcPct val="0"/>
              </a:spcBef>
              <a:buNone/>
              <a:defRPr sz="2500" b="1" i="0" kern="1200">
                <a:solidFill>
                  <a:srgbClr val="1A2584"/>
                </a:solidFill>
                <a:latin typeface="Aptos" panose="020B0004020202020204" pitchFamily="34" charset="0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Meeting Host</a:t>
            </a:r>
          </a:p>
        </p:txBody>
      </p:sp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20FE9A0-8BA4-3DA8-36CD-E1C738B8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Members: please record your attendance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3A0E430-A7DE-6C8F-DB62-98DCB5A19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84350" y="4908550"/>
            <a:ext cx="14719300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E9CDEE45-F301-07F4-D91B-2E4AC9316156}"/>
              </a:ext>
            </a:extLst>
          </p:cNvPr>
          <p:cNvSpPr/>
          <p:nvPr/>
        </p:nvSpPr>
        <p:spPr>
          <a:xfrm>
            <a:off x="2057400" y="2406650"/>
            <a:ext cx="2590800" cy="1670050"/>
          </a:xfrm>
          <a:prstGeom prst="wedgeRectCallout">
            <a:avLst>
              <a:gd name="adj1" fmla="val -20833"/>
              <a:gd name="adj2" fmla="val 13358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8F04B-E287-7A64-8649-74ADD56A7924}"/>
              </a:ext>
            </a:extLst>
          </p:cNvPr>
          <p:cNvSpPr txBox="1"/>
          <p:nvPr/>
        </p:nvSpPr>
        <p:spPr>
          <a:xfrm>
            <a:off x="2362200" y="2691749"/>
            <a:ext cx="2514600" cy="1143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Find the Appropriate Project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96077D-7207-36F7-2C69-5A8F6008F5B9}"/>
              </a:ext>
            </a:extLst>
          </p:cNvPr>
          <p:cNvSpPr/>
          <p:nvPr/>
        </p:nvSpPr>
        <p:spPr>
          <a:xfrm>
            <a:off x="1645635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8C9780-A753-B217-FD40-6DBAD568475D}"/>
              </a:ext>
            </a:extLst>
          </p:cNvPr>
          <p:cNvSpPr txBox="1"/>
          <p:nvPr/>
        </p:nvSpPr>
        <p:spPr>
          <a:xfrm>
            <a:off x="1760061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9" name="Rectangular Callout 8">
            <a:extLst>
              <a:ext uri="{FF2B5EF4-FFF2-40B4-BE49-F238E27FC236}">
                <a16:creationId xmlns:a16="http://schemas.microsoft.com/office/drawing/2014/main" id="{F099759E-4F16-C067-EADD-1417D277DBB6}"/>
              </a:ext>
            </a:extLst>
          </p:cNvPr>
          <p:cNvSpPr/>
          <p:nvPr/>
        </p:nvSpPr>
        <p:spPr>
          <a:xfrm>
            <a:off x="7267354" y="2406650"/>
            <a:ext cx="2590800" cy="1670050"/>
          </a:xfrm>
          <a:prstGeom prst="wedgeRectCallout">
            <a:avLst>
              <a:gd name="adj1" fmla="val -51202"/>
              <a:gd name="adj2" fmla="val 20425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62DD9-F45C-73FF-8985-A14DAC9A822C}"/>
              </a:ext>
            </a:extLst>
          </p:cNvPr>
          <p:cNvSpPr txBox="1"/>
          <p:nvPr/>
        </p:nvSpPr>
        <p:spPr>
          <a:xfrm>
            <a:off x="7572154" y="2691749"/>
            <a:ext cx="2514600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Go to the Attendance Tab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691D0A-16AC-FA4E-7364-D2052076A8F3}"/>
              </a:ext>
            </a:extLst>
          </p:cNvPr>
          <p:cNvSpPr/>
          <p:nvPr/>
        </p:nvSpPr>
        <p:spPr>
          <a:xfrm>
            <a:off x="6855589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8FC91-7410-B001-E0CB-A7DF4F1E8543}"/>
              </a:ext>
            </a:extLst>
          </p:cNvPr>
          <p:cNvSpPr txBox="1"/>
          <p:nvPr/>
        </p:nvSpPr>
        <p:spPr>
          <a:xfrm>
            <a:off x="6970015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Rectangular Callout 12">
            <a:extLst>
              <a:ext uri="{FF2B5EF4-FFF2-40B4-BE49-F238E27FC236}">
                <a16:creationId xmlns:a16="http://schemas.microsoft.com/office/drawing/2014/main" id="{1254FBC1-C2AC-51DC-ACF8-C3EA53AB966C}"/>
              </a:ext>
            </a:extLst>
          </p:cNvPr>
          <p:cNvSpPr/>
          <p:nvPr/>
        </p:nvSpPr>
        <p:spPr>
          <a:xfrm>
            <a:off x="12336660" y="2406650"/>
            <a:ext cx="2590800" cy="1670050"/>
          </a:xfrm>
          <a:prstGeom prst="wedgeRectCallout">
            <a:avLst>
              <a:gd name="adj1" fmla="val 70160"/>
              <a:gd name="adj2" fmla="val 25516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FB793B-748E-9F1C-535A-0C052F78684C}"/>
              </a:ext>
            </a:extLst>
          </p:cNvPr>
          <p:cNvSpPr txBox="1"/>
          <p:nvPr/>
        </p:nvSpPr>
        <p:spPr>
          <a:xfrm>
            <a:off x="12641460" y="2691749"/>
            <a:ext cx="2022625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Add Yourself to the Session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41512-AFFB-664D-36F6-8652D4C92524}"/>
              </a:ext>
            </a:extLst>
          </p:cNvPr>
          <p:cNvSpPr/>
          <p:nvPr/>
        </p:nvSpPr>
        <p:spPr>
          <a:xfrm>
            <a:off x="11924895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3F5EB5-40BD-675D-35E8-CED6082E4D10}"/>
              </a:ext>
            </a:extLst>
          </p:cNvPr>
          <p:cNvSpPr txBox="1"/>
          <p:nvPr/>
        </p:nvSpPr>
        <p:spPr>
          <a:xfrm>
            <a:off x="12039321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63503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D95E8B-46FB-DAED-3980-A4115267D575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Administrivia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Review the Monday </a:t>
            </a:r>
            <a:r>
              <a:rPr lang="en-US" dirty="0" err="1"/>
              <a:t>GeoPose</a:t>
            </a:r>
            <a:r>
              <a:rPr lang="en-US" dirty="0"/>
              <a:t> Summit: Christine P. [15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Report on status of the </a:t>
            </a:r>
            <a:r>
              <a:rPr lang="en-US" dirty="0" err="1"/>
              <a:t>glTF</a:t>
            </a:r>
            <a:r>
              <a:rPr lang="en-US" dirty="0"/>
              <a:t> 2 extension: Steve S. [10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Review the </a:t>
            </a:r>
            <a:r>
              <a:rPr lang="en-US" dirty="0" err="1"/>
              <a:t>GeoPose</a:t>
            </a:r>
            <a:r>
              <a:rPr lang="en-US" dirty="0"/>
              <a:t> 1.x by Work Package: SWH/WP Leaders [15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Presentation on Cost/benefit Analysis of Standards Features: Jim Antonisse [15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Note on MSF benchmarking (if time allows) [5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Any other business and next meetings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F395F5-0DF7-5C8D-7692-B319211B5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Agenda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02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1361F3-E0BC-3826-E876-D32CE506BD8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Chairs: please write a series of bullets to describe what your Working Group does – this should be presented at the beginning of each session</a:t>
            </a:r>
          </a:p>
          <a:p>
            <a:endParaRPr lang="en-US" dirty="0"/>
          </a:p>
          <a:p>
            <a:r>
              <a:rPr lang="en-US" dirty="0"/>
              <a:t>No need to be comprehensive or spend more than a few minutes, consider what you want new attendees to learn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03C7FE-A343-D404-B7C1-1411A49F0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Working Group</a:t>
            </a:r>
          </a:p>
        </p:txBody>
      </p:sp>
    </p:spTree>
    <p:extLst>
      <p:ext uri="{BB962C8B-B14F-4D97-AF65-F5344CB8AC3E}">
        <p14:creationId xmlns:p14="http://schemas.microsoft.com/office/powerpoint/2010/main" val="2319777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8A4395-19E6-60A6-03CF-8026CD2CB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Presentations</a:t>
            </a:r>
          </a:p>
        </p:txBody>
      </p:sp>
    </p:spTree>
    <p:extLst>
      <p:ext uri="{BB962C8B-B14F-4D97-AF65-F5344CB8AC3E}">
        <p14:creationId xmlns:p14="http://schemas.microsoft.com/office/powerpoint/2010/main" val="3448002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494E9-E862-41C8-E668-687CC68E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4300DC-A1AD-366F-5C4C-7C8F83B261FD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en-US" dirty="0"/>
              <a:t>Christine P.:  </a:t>
            </a:r>
            <a:r>
              <a:rPr lang="en-US" dirty="0" err="1"/>
              <a:t>GeoPose</a:t>
            </a:r>
            <a:r>
              <a:rPr lang="en-US" dirty="0"/>
              <a:t> Summit [15 minutes]</a:t>
            </a:r>
          </a:p>
          <a:p>
            <a:pPr marL="514350" indent="-514350">
              <a:buFont typeface="+mj-lt"/>
              <a:buAutoNum type="arabicParenR"/>
            </a:pPr>
            <a:r>
              <a:rPr lang="en-US" dirty="0"/>
              <a:t>Steve S.: Status of the </a:t>
            </a:r>
            <a:r>
              <a:rPr lang="en-US" dirty="0" err="1"/>
              <a:t>glTF</a:t>
            </a:r>
            <a:r>
              <a:rPr lang="en-US" dirty="0"/>
              <a:t> 2 Extension [10 minutes]</a:t>
            </a:r>
          </a:p>
          <a:p>
            <a:pPr marL="514350" indent="-514350">
              <a:buFont typeface="+mj-lt"/>
              <a:buAutoNum type="arabicParenR"/>
            </a:pPr>
            <a:r>
              <a:rPr lang="en-US" dirty="0"/>
              <a:t>Jim A.: Cost/benefit Analysis of Standards Features [15 minutes]</a:t>
            </a:r>
          </a:p>
          <a:p>
            <a:pPr marL="514350" indent="-514350">
              <a:buFont typeface="+mj-lt"/>
              <a:buAutoNum type="arabicParenR"/>
            </a:pPr>
            <a:r>
              <a:rPr lang="en-US" dirty="0"/>
              <a:t>SWG/WP Leaders: </a:t>
            </a:r>
            <a:r>
              <a:rPr lang="en-US" dirty="0" err="1"/>
              <a:t>GeoPose</a:t>
            </a:r>
            <a:r>
              <a:rPr lang="en-US" dirty="0"/>
              <a:t> 1.x by Work Package [15 minutes]</a:t>
            </a:r>
          </a:p>
          <a:p>
            <a:pPr marL="914400" lvl="1" indent="-514350">
              <a:buFont typeface="+mj-lt"/>
              <a:buAutoNum type="arabicParenR"/>
            </a:pPr>
            <a:r>
              <a:rPr lang="en-US" dirty="0"/>
              <a:t> [Are there any that we should close due to lack of interest?]</a:t>
            </a:r>
          </a:p>
          <a:p>
            <a:pPr marL="914400" lvl="1" indent="-514350">
              <a:buFont typeface="+mj-lt"/>
              <a:buAutoNum type="arabicParenR"/>
            </a:pPr>
            <a:r>
              <a:rPr lang="en-US" dirty="0"/>
              <a:t>[Are there any where we need a leader?]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ADF55A-7DD0-7F15-771F-85D703728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Presenters and Presentations</a:t>
            </a:r>
          </a:p>
        </p:txBody>
      </p:sp>
    </p:spTree>
    <p:extLst>
      <p:ext uri="{BB962C8B-B14F-4D97-AF65-F5344CB8AC3E}">
        <p14:creationId xmlns:p14="http://schemas.microsoft.com/office/powerpoint/2010/main" val="3166509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26719-AA92-747B-AEC0-67CB01100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4496-8934-E279-2121-EB99179FB92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5979D1-9104-24FC-9F96-FFB96C19A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Any Other Business and Next Meetings</a:t>
            </a:r>
          </a:p>
        </p:txBody>
      </p:sp>
    </p:spTree>
    <p:extLst>
      <p:ext uri="{BB962C8B-B14F-4D97-AF65-F5344CB8AC3E}">
        <p14:creationId xmlns:p14="http://schemas.microsoft.com/office/powerpoint/2010/main" val="267575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</a:rPr>
              <a:t>www.ogc.org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761" y="3490404"/>
            <a:ext cx="6110039" cy="3306192"/>
          </a:xfrm>
        </p:spPr>
        <p:txBody>
          <a:bodyPr/>
          <a:lstStyle/>
          <a:p>
            <a:pPr>
              <a:lnSpc>
                <a:spcPts val="9800"/>
              </a:lnSpc>
            </a:pPr>
            <a:r>
              <a:rPr lang="en-US" sz="123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CCA88-BD6A-AE7C-40E5-04AD1B4B0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B277D6-12A1-0670-D6BB-E318C401284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CC504-3C61-B7CF-89C2-C8B6E73A9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Backup Slides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960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A197D-0862-7FEB-D5B1-5A1519BD0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BB9346-2B36-BCFB-D3BC-2639E0E8C15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approves &lt;an action&gt;.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B854F4-51C7-7CCD-5CFE-A088B570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Template for WG Action Motion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9377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D06895-13DC-EEE9-D4A7-4974C3BE690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approves the following individuals as Chairs of this Working Group. </a:t>
            </a:r>
          </a:p>
          <a:p>
            <a:r>
              <a:rPr lang="en-US" dirty="0"/>
              <a:t>&lt;list of names and affiliations&gt;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00755-6BFF-E6B1-41D4-BDE81EAF9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for Chair Election</a:t>
            </a:r>
          </a:p>
        </p:txBody>
      </p:sp>
    </p:spTree>
    <p:extLst>
      <p:ext uri="{BB962C8B-B14F-4D97-AF65-F5344CB8AC3E}">
        <p14:creationId xmlns:p14="http://schemas.microsoft.com/office/powerpoint/2010/main" val="819643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77757D-6DC7-2010-3F43-188DCFE71A9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recommends that the OGC Technical Committee approve release of [OGC Document Number] “&lt;OGC Document Name&gt;” as an OGC &lt;White Paper/Discussion Paper/ Engineering Report&gt;. </a:t>
            </a:r>
          </a:p>
          <a:p>
            <a:pPr lvl="1"/>
            <a:r>
              <a:rPr lang="en-US" dirty="0"/>
              <a:t>Pending any final edits and review by OGC staff </a:t>
            </a:r>
          </a:p>
          <a:p>
            <a:pPr lvl="1"/>
            <a:r>
              <a:rPr lang="en-US" dirty="0"/>
              <a:t>&lt;Any Discussion Points that the TC needs to be aware of&gt;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r>
              <a:rPr lang="en-US" dirty="0"/>
              <a:t>Short abstract of the document shall go here 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E137F5-D4A7-496E-D388-10EFD7E1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for TC Document Approval Motion</a:t>
            </a:r>
          </a:p>
        </p:txBody>
      </p:sp>
    </p:spTree>
    <p:extLst>
      <p:ext uri="{BB962C8B-B14F-4D97-AF65-F5344CB8AC3E}">
        <p14:creationId xmlns:p14="http://schemas.microsoft.com/office/powerpoint/2010/main" val="2421401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4E912E5-BE70-E166-9C14-A01C2CB2CD5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recommends that the OGC Technical Committee approve an electronic vote to approve release of &lt;OGC Document Number&gt; “&lt;OGC Document Name&gt;” as an OGC &lt;Best Practice/Standard&gt;. </a:t>
            </a:r>
          </a:p>
          <a:p>
            <a:pPr lvl="1"/>
            <a:r>
              <a:rPr lang="en-US" dirty="0"/>
              <a:t>Pending any final edits and review by OGC staff </a:t>
            </a:r>
          </a:p>
          <a:p>
            <a:pPr lvl="1"/>
            <a:r>
              <a:rPr lang="en-US" dirty="0"/>
              <a:t>&lt;Any Discussion Points that the TC needs to be aware of&gt;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AA52A3-9149-1633-182A-2DB65D732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to Request a TC Electronic Vote</a:t>
            </a:r>
          </a:p>
        </p:txBody>
      </p:sp>
    </p:spTree>
    <p:extLst>
      <p:ext uri="{BB962C8B-B14F-4D97-AF65-F5344CB8AC3E}">
        <p14:creationId xmlns:p14="http://schemas.microsoft.com/office/powerpoint/2010/main" val="2453074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GC BRAND COLOURS">
      <a:dk1>
        <a:srgbClr val="000000"/>
      </a:dk1>
      <a:lt1>
        <a:srgbClr val="FFFFFF"/>
      </a:lt1>
      <a:dk2>
        <a:srgbClr val="1F497D"/>
      </a:dk2>
      <a:lt2>
        <a:srgbClr val="E3EFFC"/>
      </a:lt2>
      <a:accent1>
        <a:srgbClr val="1A2483"/>
      </a:accent1>
      <a:accent2>
        <a:srgbClr val="263BD3"/>
      </a:accent2>
      <a:accent3>
        <a:srgbClr val="D6E832"/>
      </a:accent3>
      <a:accent4>
        <a:srgbClr val="92DEFF"/>
      </a:accent4>
      <a:accent5>
        <a:srgbClr val="BAD6FF"/>
      </a:accent5>
      <a:accent6>
        <a:srgbClr val="AAB50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9E3310CD124948B4E279413993BB0E" ma:contentTypeVersion="13" ma:contentTypeDescription="Create a new document." ma:contentTypeScope="" ma:versionID="0a4033e78b75580e944694f4110b9443">
  <xsd:schema xmlns:xsd="http://www.w3.org/2001/XMLSchema" xmlns:xs="http://www.w3.org/2001/XMLSchema" xmlns:p="http://schemas.microsoft.com/office/2006/metadata/properties" xmlns:ns2="d6fbc86c-d850-4140-ac77-9d31bd829bdd" xmlns:ns3="9d591f4a-b750-44ad-8ebf-06d36ba90675" targetNamespace="http://schemas.microsoft.com/office/2006/metadata/properties" ma:root="true" ma:fieldsID="efd5ec2613c3be04dd453b3842ae1d37" ns2:_="" ns3:_="">
    <xsd:import namespace="d6fbc86c-d850-4140-ac77-9d31bd829bdd"/>
    <xsd:import namespace="9d591f4a-b750-44ad-8ebf-06d36ba9067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fbc86c-d850-4140-ac77-9d31bd829b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e216777-a1e1-495c-93e8-2566215d527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591f4a-b750-44ad-8ebf-06d36ba90675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c77d112-1c04-4fa5-a3ca-824683e69c49}" ma:internalName="TaxCatchAll" ma:showField="CatchAllData" ma:web="9d591f4a-b750-44ad-8ebf-06d36ba9067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d591f4a-b750-44ad-8ebf-06d36ba90675" xsi:nil="true"/>
    <lcf76f155ced4ddcb4097134ff3c332f xmlns="d6fbc86c-d850-4140-ac77-9d31bd829bd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1F3D4D-EBA0-40F5-94E2-7634A01ED3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fbc86c-d850-4140-ac77-9d31bd829bdd"/>
    <ds:schemaRef ds:uri="9d591f4a-b750-44ad-8ebf-06d36ba90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microsoft.com/office/2006/metadata/properties"/>
    <ds:schemaRef ds:uri="http://schemas.microsoft.com/office/infopath/2007/PartnerControls"/>
    <ds:schemaRef ds:uri="9d591f4a-b750-44ad-8ebf-06d36ba90675"/>
    <ds:schemaRef ds:uri="d6fbc86c-d850-4140-ac77-9d31bd829bd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2621</TotalTime>
  <Words>678</Words>
  <Application>Microsoft Office PowerPoint</Application>
  <PresentationFormat>Custom</PresentationFormat>
  <Paragraphs>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 Display</vt:lpstr>
      <vt:lpstr>Aptos SemiBold</vt:lpstr>
      <vt:lpstr>Calibri</vt:lpstr>
      <vt:lpstr>Aptos</vt:lpstr>
      <vt:lpstr>Arial</vt:lpstr>
      <vt:lpstr>Office Theme</vt:lpstr>
      <vt:lpstr>Christine Perey, Steve Smyth 28 October 2025</vt:lpstr>
      <vt:lpstr>Online Members: please record your attendance</vt:lpstr>
      <vt:lpstr>Agenda</vt:lpstr>
      <vt:lpstr>About this Working Group</vt:lpstr>
      <vt:lpstr>Presentations</vt:lpstr>
      <vt:lpstr>Presenters and Presentations</vt:lpstr>
      <vt:lpstr>Any Other Business and Next Meetings</vt:lpstr>
      <vt:lpstr>THANK YOU</vt:lpstr>
      <vt:lpstr>Backup Slides</vt:lpstr>
      <vt:lpstr>Template for WG Action Motion</vt:lpstr>
      <vt:lpstr>Template for Chair Election</vt:lpstr>
      <vt:lpstr>Template for TC Document Approval Motion</vt:lpstr>
      <vt:lpstr>Template to Request a TC Electronic Vote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Simmons</dc:creator>
  <cp:lastModifiedBy>Steve Smyth</cp:lastModifiedBy>
  <cp:revision>27</cp:revision>
  <dcterms:created xsi:type="dcterms:W3CDTF">2025-04-29T18:14:43Z</dcterms:created>
  <dcterms:modified xsi:type="dcterms:W3CDTF">2025-10-25T05:46:31Z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0x0101002E9E3310CD124948B4E279413993BB0E</vt:lpwstr>
  </property>
  <property fmtid="{D5CDD505-2E9C-101B-9397-08002B2CF9AE}" pid="3" name="MediaServiceImageTags">
    <vt:lpwstr/>
  </property>
</Properties>
</file>