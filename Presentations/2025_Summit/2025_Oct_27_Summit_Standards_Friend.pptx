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4"/>
  </p:sldMasterIdLst>
  <p:notesMasterIdLst>
    <p:notesMasterId r:id="rId11"/>
  </p:notesMasterIdLst>
  <p:handoutMasterIdLst>
    <p:handoutMasterId r:id="rId12"/>
  </p:handoutMasterIdLst>
  <p:sldIdLst>
    <p:sldId id="379" r:id="rId5"/>
    <p:sldId id="432" r:id="rId6"/>
    <p:sldId id="461" r:id="rId7"/>
    <p:sldId id="462" r:id="rId8"/>
    <p:sldId id="463" r:id="rId9"/>
    <p:sldId id="348" r:id="rId10"/>
  </p:sldIdLst>
  <p:sldSz cx="18288000" cy="10287000"/>
  <p:notesSz cx="6858000" cy="9144000"/>
  <p:embeddedFontLst>
    <p:embeddedFont>
      <p:font typeface="Aptos SemiBold" panose="020B0004020202020204" pitchFamily="34" charset="0"/>
      <p:regular r:id="rId13"/>
      <p:bold r:id="rId14"/>
      <p:italic r:id="rId15"/>
      <p:boldItalic r:id="rId1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EB3D8A3E-2763-BBE8-2B15-E74F1DB7656D}" name="Simon Chester" initials="SC" userId="S::schester@ogc.org::fefb1974-f0e7-428b-b44e-2b26a8de5167" providerId="AD"/>
  <p188:author id="{0933B96F-A88B-F1B0-C2BF-5C1F50CDD902}" name="Deepti Kala" initials="DK" userId="2b002ef7cfccb829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263BD3"/>
    <a:srgbClr val="EDF786"/>
    <a:srgbClr val="ECF456"/>
    <a:srgbClr val="1A31A0"/>
    <a:srgbClr val="1A2584"/>
    <a:srgbClr val="191CB5"/>
    <a:srgbClr val="191C71"/>
    <a:srgbClr val="261AEA"/>
    <a:srgbClr val="CAD31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93" autoAdjust="0"/>
    <p:restoredTop sz="96197" autoAdjust="0"/>
  </p:normalViewPr>
  <p:slideViewPr>
    <p:cSldViewPr>
      <p:cViewPr varScale="1">
        <p:scale>
          <a:sx n="58" d="100"/>
          <a:sy n="58" d="100"/>
        </p:scale>
        <p:origin x="499" y="27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>
      <p:cViewPr varScale="1">
        <p:scale>
          <a:sx n="93" d="100"/>
          <a:sy n="93" d="100"/>
        </p:scale>
        <p:origin x="3784" y="21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font" Target="fonts/font1.fntdata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microsoft.com/office/2018/10/relationships/authors" Target="authors.xml"/><Relationship Id="rId7" Type="http://schemas.openxmlformats.org/officeDocument/2006/relationships/slide" Target="slides/slide3.xml"/><Relationship Id="rId12" Type="http://schemas.openxmlformats.org/officeDocument/2006/relationships/handoutMaster" Target="handoutMasters/handoutMaster1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font" Target="fonts/font4.fntdata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font" Target="fonts/font3.fntdata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font" Target="fonts/font2.fntdata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207179B-905C-4FB0-8F36-1A14349F5A2F}" type="doc">
      <dgm:prSet loTypeId="urn:microsoft.com/office/officeart/2005/8/layout/hierarchy1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8CAFE76E-9505-457F-ADE0-4257BF1B8124}">
      <dgm:prSet/>
      <dgm:spPr/>
      <dgm:t>
        <a:bodyPr/>
        <a:lstStyle/>
        <a:p>
          <a:r>
            <a:rPr lang="en-US" dirty="0" err="1"/>
            <a:t>GeoPose</a:t>
          </a:r>
          <a:r>
            <a:rPr lang="en-US" dirty="0"/>
            <a:t> is a simple but precise way to locate and orient a space.</a:t>
          </a:r>
        </a:p>
      </dgm:t>
    </dgm:pt>
    <dgm:pt modelId="{0027A9D7-4D00-4B2A-B7EE-090E934BD63E}" type="parTrans" cxnId="{AA7239D5-262E-46A1-AEF8-22098F15C8F1}">
      <dgm:prSet/>
      <dgm:spPr/>
      <dgm:t>
        <a:bodyPr/>
        <a:lstStyle/>
        <a:p>
          <a:endParaRPr lang="en-US"/>
        </a:p>
      </dgm:t>
    </dgm:pt>
    <dgm:pt modelId="{9E4DAEF1-F12C-4943-A3EF-DE70FB303617}" type="sibTrans" cxnId="{AA7239D5-262E-46A1-AEF8-22098F15C8F1}">
      <dgm:prSet/>
      <dgm:spPr/>
      <dgm:t>
        <a:bodyPr/>
        <a:lstStyle/>
        <a:p>
          <a:endParaRPr lang="en-US"/>
        </a:p>
      </dgm:t>
    </dgm:pt>
    <dgm:pt modelId="{9A6A81DA-0401-4F81-ADE7-E2C7352F6E15}">
      <dgm:prSet/>
      <dgm:spPr/>
      <dgm:t>
        <a:bodyPr/>
        <a:lstStyle/>
        <a:p>
          <a:r>
            <a:rPr lang="en-US" dirty="0" err="1"/>
            <a:t>GeoPose</a:t>
          </a:r>
          <a:r>
            <a:rPr lang="en-US" dirty="0"/>
            <a:t> is well-documented with easy conformance testing.</a:t>
          </a:r>
        </a:p>
      </dgm:t>
    </dgm:pt>
    <dgm:pt modelId="{618823F5-A047-4F41-993A-D84C4C7F066F}" type="parTrans" cxnId="{0C36D1C6-54CC-4512-A5D0-84E567501A5F}">
      <dgm:prSet/>
      <dgm:spPr/>
      <dgm:t>
        <a:bodyPr/>
        <a:lstStyle/>
        <a:p>
          <a:endParaRPr lang="en-US"/>
        </a:p>
      </dgm:t>
    </dgm:pt>
    <dgm:pt modelId="{5BFB3999-B1CF-4611-80ED-996DDC240DDF}" type="sibTrans" cxnId="{0C36D1C6-54CC-4512-A5D0-84E567501A5F}">
      <dgm:prSet/>
      <dgm:spPr/>
      <dgm:t>
        <a:bodyPr/>
        <a:lstStyle/>
        <a:p>
          <a:endParaRPr lang="en-US"/>
        </a:p>
      </dgm:t>
    </dgm:pt>
    <dgm:pt modelId="{ADAD1D57-9FB0-43FD-9685-A2DEC192F48B}">
      <dgm:prSet/>
      <dgm:spPr/>
      <dgm:t>
        <a:bodyPr/>
        <a:lstStyle/>
        <a:p>
          <a:r>
            <a:rPr lang="en-US" dirty="0"/>
            <a:t>You can use it in your standard to avoid re-implementing the same concept.</a:t>
          </a:r>
        </a:p>
      </dgm:t>
    </dgm:pt>
    <dgm:pt modelId="{D4716E6B-3F61-4B7B-8819-708DD05D0FB0}" type="parTrans" cxnId="{3A3910AF-1E1F-42C0-AF9B-1A71912E3DE1}">
      <dgm:prSet/>
      <dgm:spPr/>
      <dgm:t>
        <a:bodyPr/>
        <a:lstStyle/>
        <a:p>
          <a:endParaRPr lang="en-US"/>
        </a:p>
      </dgm:t>
    </dgm:pt>
    <dgm:pt modelId="{A4FF6AB0-D7CA-449F-8523-156D965088A4}" type="sibTrans" cxnId="{3A3910AF-1E1F-42C0-AF9B-1A71912E3DE1}">
      <dgm:prSet/>
      <dgm:spPr/>
      <dgm:t>
        <a:bodyPr/>
        <a:lstStyle/>
        <a:p>
          <a:endParaRPr lang="en-US"/>
        </a:p>
      </dgm:t>
    </dgm:pt>
    <dgm:pt modelId="{BCA95835-2885-46A3-B432-905F0A2C148F}" type="pres">
      <dgm:prSet presAssocID="{C207179B-905C-4FB0-8F36-1A14349F5A2F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4034780F-7B08-4728-A2D8-C1D542631AFC}" type="pres">
      <dgm:prSet presAssocID="{8CAFE76E-9505-457F-ADE0-4257BF1B8124}" presName="hierRoot1" presStyleCnt="0"/>
      <dgm:spPr/>
    </dgm:pt>
    <dgm:pt modelId="{25017B52-38A7-4953-96B7-9BE7412672E7}" type="pres">
      <dgm:prSet presAssocID="{8CAFE76E-9505-457F-ADE0-4257BF1B8124}" presName="composite" presStyleCnt="0"/>
      <dgm:spPr/>
    </dgm:pt>
    <dgm:pt modelId="{D9E8DEC5-6ACE-41EA-A26E-96D1302D1F57}" type="pres">
      <dgm:prSet presAssocID="{8CAFE76E-9505-457F-ADE0-4257BF1B8124}" presName="background" presStyleLbl="node0" presStyleIdx="0" presStyleCnt="3"/>
      <dgm:spPr/>
    </dgm:pt>
    <dgm:pt modelId="{0C3913E7-4E36-418B-8F37-A1912C015640}" type="pres">
      <dgm:prSet presAssocID="{8CAFE76E-9505-457F-ADE0-4257BF1B8124}" presName="text" presStyleLbl="fgAcc0" presStyleIdx="0" presStyleCnt="3">
        <dgm:presLayoutVars>
          <dgm:chPref val="3"/>
        </dgm:presLayoutVars>
      </dgm:prSet>
      <dgm:spPr/>
    </dgm:pt>
    <dgm:pt modelId="{F12C5E00-A2B3-45FE-AC34-79BFC9D15EC2}" type="pres">
      <dgm:prSet presAssocID="{8CAFE76E-9505-457F-ADE0-4257BF1B8124}" presName="hierChild2" presStyleCnt="0"/>
      <dgm:spPr/>
    </dgm:pt>
    <dgm:pt modelId="{130D1922-D0BD-4BAE-9BD8-E6E6DE3C17C4}" type="pres">
      <dgm:prSet presAssocID="{9A6A81DA-0401-4F81-ADE7-E2C7352F6E15}" presName="hierRoot1" presStyleCnt="0"/>
      <dgm:spPr/>
    </dgm:pt>
    <dgm:pt modelId="{073DC46C-047A-4D76-99BE-891DE5805CC9}" type="pres">
      <dgm:prSet presAssocID="{9A6A81DA-0401-4F81-ADE7-E2C7352F6E15}" presName="composite" presStyleCnt="0"/>
      <dgm:spPr/>
    </dgm:pt>
    <dgm:pt modelId="{EB02E32F-7AFC-498F-97AE-BB9C01D254F8}" type="pres">
      <dgm:prSet presAssocID="{9A6A81DA-0401-4F81-ADE7-E2C7352F6E15}" presName="background" presStyleLbl="node0" presStyleIdx="1" presStyleCnt="3"/>
      <dgm:spPr/>
    </dgm:pt>
    <dgm:pt modelId="{F86F224E-DEB2-4B58-934A-39C441476962}" type="pres">
      <dgm:prSet presAssocID="{9A6A81DA-0401-4F81-ADE7-E2C7352F6E15}" presName="text" presStyleLbl="fgAcc0" presStyleIdx="1" presStyleCnt="3">
        <dgm:presLayoutVars>
          <dgm:chPref val="3"/>
        </dgm:presLayoutVars>
      </dgm:prSet>
      <dgm:spPr/>
    </dgm:pt>
    <dgm:pt modelId="{3A424184-D2AC-4EA3-92D4-A0D5F7C5D863}" type="pres">
      <dgm:prSet presAssocID="{9A6A81DA-0401-4F81-ADE7-E2C7352F6E15}" presName="hierChild2" presStyleCnt="0"/>
      <dgm:spPr/>
    </dgm:pt>
    <dgm:pt modelId="{C44170CF-9050-406F-AF0A-BF4158081A95}" type="pres">
      <dgm:prSet presAssocID="{ADAD1D57-9FB0-43FD-9685-A2DEC192F48B}" presName="hierRoot1" presStyleCnt="0"/>
      <dgm:spPr/>
    </dgm:pt>
    <dgm:pt modelId="{9B6BE692-01B2-4F51-A57C-1CD9645B4BA2}" type="pres">
      <dgm:prSet presAssocID="{ADAD1D57-9FB0-43FD-9685-A2DEC192F48B}" presName="composite" presStyleCnt="0"/>
      <dgm:spPr/>
    </dgm:pt>
    <dgm:pt modelId="{CA738EE1-2A6F-424F-9681-3CCBC85D29A6}" type="pres">
      <dgm:prSet presAssocID="{ADAD1D57-9FB0-43FD-9685-A2DEC192F48B}" presName="background" presStyleLbl="node0" presStyleIdx="2" presStyleCnt="3"/>
      <dgm:spPr/>
    </dgm:pt>
    <dgm:pt modelId="{206E067B-F1A0-4B2A-97F2-58D7082A0B78}" type="pres">
      <dgm:prSet presAssocID="{ADAD1D57-9FB0-43FD-9685-A2DEC192F48B}" presName="text" presStyleLbl="fgAcc0" presStyleIdx="2" presStyleCnt="3">
        <dgm:presLayoutVars>
          <dgm:chPref val="3"/>
        </dgm:presLayoutVars>
      </dgm:prSet>
      <dgm:spPr/>
    </dgm:pt>
    <dgm:pt modelId="{23B2C8BB-0EF4-4E02-BC7C-F7671B5991F1}" type="pres">
      <dgm:prSet presAssocID="{ADAD1D57-9FB0-43FD-9685-A2DEC192F48B}" presName="hierChild2" presStyleCnt="0"/>
      <dgm:spPr/>
    </dgm:pt>
  </dgm:ptLst>
  <dgm:cxnLst>
    <dgm:cxn modelId="{3BD9E319-6902-4BAD-95A9-B1BF4279066A}" type="presOf" srcId="{ADAD1D57-9FB0-43FD-9685-A2DEC192F48B}" destId="{206E067B-F1A0-4B2A-97F2-58D7082A0B78}" srcOrd="0" destOrd="0" presId="urn:microsoft.com/office/officeart/2005/8/layout/hierarchy1"/>
    <dgm:cxn modelId="{82385D66-4DC2-4B40-8E66-8BD9C1934526}" type="presOf" srcId="{9A6A81DA-0401-4F81-ADE7-E2C7352F6E15}" destId="{F86F224E-DEB2-4B58-934A-39C441476962}" srcOrd="0" destOrd="0" presId="urn:microsoft.com/office/officeart/2005/8/layout/hierarchy1"/>
    <dgm:cxn modelId="{F2D4004E-0832-4094-A423-C47347C224EC}" type="presOf" srcId="{C207179B-905C-4FB0-8F36-1A14349F5A2F}" destId="{BCA95835-2885-46A3-B432-905F0A2C148F}" srcOrd="0" destOrd="0" presId="urn:microsoft.com/office/officeart/2005/8/layout/hierarchy1"/>
    <dgm:cxn modelId="{3A3910AF-1E1F-42C0-AF9B-1A71912E3DE1}" srcId="{C207179B-905C-4FB0-8F36-1A14349F5A2F}" destId="{ADAD1D57-9FB0-43FD-9685-A2DEC192F48B}" srcOrd="2" destOrd="0" parTransId="{D4716E6B-3F61-4B7B-8819-708DD05D0FB0}" sibTransId="{A4FF6AB0-D7CA-449F-8523-156D965088A4}"/>
    <dgm:cxn modelId="{0C36D1C6-54CC-4512-A5D0-84E567501A5F}" srcId="{C207179B-905C-4FB0-8F36-1A14349F5A2F}" destId="{9A6A81DA-0401-4F81-ADE7-E2C7352F6E15}" srcOrd="1" destOrd="0" parTransId="{618823F5-A047-4F41-993A-D84C4C7F066F}" sibTransId="{5BFB3999-B1CF-4611-80ED-996DDC240DDF}"/>
    <dgm:cxn modelId="{C03C36CA-6674-483A-BFA8-293DAF01E616}" type="presOf" srcId="{8CAFE76E-9505-457F-ADE0-4257BF1B8124}" destId="{0C3913E7-4E36-418B-8F37-A1912C015640}" srcOrd="0" destOrd="0" presId="urn:microsoft.com/office/officeart/2005/8/layout/hierarchy1"/>
    <dgm:cxn modelId="{AA7239D5-262E-46A1-AEF8-22098F15C8F1}" srcId="{C207179B-905C-4FB0-8F36-1A14349F5A2F}" destId="{8CAFE76E-9505-457F-ADE0-4257BF1B8124}" srcOrd="0" destOrd="0" parTransId="{0027A9D7-4D00-4B2A-B7EE-090E934BD63E}" sibTransId="{9E4DAEF1-F12C-4943-A3EF-DE70FB303617}"/>
    <dgm:cxn modelId="{B25615CB-45F1-4923-A2BF-7D9D102CCCB7}" type="presParOf" srcId="{BCA95835-2885-46A3-B432-905F0A2C148F}" destId="{4034780F-7B08-4728-A2D8-C1D542631AFC}" srcOrd="0" destOrd="0" presId="urn:microsoft.com/office/officeart/2005/8/layout/hierarchy1"/>
    <dgm:cxn modelId="{DC6EBF5A-938F-4C79-ADF7-EC14B43016E1}" type="presParOf" srcId="{4034780F-7B08-4728-A2D8-C1D542631AFC}" destId="{25017B52-38A7-4953-96B7-9BE7412672E7}" srcOrd="0" destOrd="0" presId="urn:microsoft.com/office/officeart/2005/8/layout/hierarchy1"/>
    <dgm:cxn modelId="{78D82F9D-2B76-43FB-9737-7A30DB21B63B}" type="presParOf" srcId="{25017B52-38A7-4953-96B7-9BE7412672E7}" destId="{D9E8DEC5-6ACE-41EA-A26E-96D1302D1F57}" srcOrd="0" destOrd="0" presId="urn:microsoft.com/office/officeart/2005/8/layout/hierarchy1"/>
    <dgm:cxn modelId="{4D6B5EC1-987E-47B6-8B10-37A646731732}" type="presParOf" srcId="{25017B52-38A7-4953-96B7-9BE7412672E7}" destId="{0C3913E7-4E36-418B-8F37-A1912C015640}" srcOrd="1" destOrd="0" presId="urn:microsoft.com/office/officeart/2005/8/layout/hierarchy1"/>
    <dgm:cxn modelId="{48AE3F46-28E4-4DAD-8D86-752E554070FB}" type="presParOf" srcId="{4034780F-7B08-4728-A2D8-C1D542631AFC}" destId="{F12C5E00-A2B3-45FE-AC34-79BFC9D15EC2}" srcOrd="1" destOrd="0" presId="urn:microsoft.com/office/officeart/2005/8/layout/hierarchy1"/>
    <dgm:cxn modelId="{25739B1C-974E-473A-81A8-02796AC27CAB}" type="presParOf" srcId="{BCA95835-2885-46A3-B432-905F0A2C148F}" destId="{130D1922-D0BD-4BAE-9BD8-E6E6DE3C17C4}" srcOrd="1" destOrd="0" presId="urn:microsoft.com/office/officeart/2005/8/layout/hierarchy1"/>
    <dgm:cxn modelId="{39501522-841B-4019-A06C-5EEE49F4485F}" type="presParOf" srcId="{130D1922-D0BD-4BAE-9BD8-E6E6DE3C17C4}" destId="{073DC46C-047A-4D76-99BE-891DE5805CC9}" srcOrd="0" destOrd="0" presId="urn:microsoft.com/office/officeart/2005/8/layout/hierarchy1"/>
    <dgm:cxn modelId="{AC8B45DB-0743-47F8-9668-D134C0831541}" type="presParOf" srcId="{073DC46C-047A-4D76-99BE-891DE5805CC9}" destId="{EB02E32F-7AFC-498F-97AE-BB9C01D254F8}" srcOrd="0" destOrd="0" presId="urn:microsoft.com/office/officeart/2005/8/layout/hierarchy1"/>
    <dgm:cxn modelId="{19E664D6-7314-4A28-B58D-29D62D4E3B78}" type="presParOf" srcId="{073DC46C-047A-4D76-99BE-891DE5805CC9}" destId="{F86F224E-DEB2-4B58-934A-39C441476962}" srcOrd="1" destOrd="0" presId="urn:microsoft.com/office/officeart/2005/8/layout/hierarchy1"/>
    <dgm:cxn modelId="{F6B82392-5851-48BA-AEBB-D55151F78A39}" type="presParOf" srcId="{130D1922-D0BD-4BAE-9BD8-E6E6DE3C17C4}" destId="{3A424184-D2AC-4EA3-92D4-A0D5F7C5D863}" srcOrd="1" destOrd="0" presId="urn:microsoft.com/office/officeart/2005/8/layout/hierarchy1"/>
    <dgm:cxn modelId="{CBC521B7-3F58-49CE-B55E-5080B5927A11}" type="presParOf" srcId="{BCA95835-2885-46A3-B432-905F0A2C148F}" destId="{C44170CF-9050-406F-AF0A-BF4158081A95}" srcOrd="2" destOrd="0" presId="urn:microsoft.com/office/officeart/2005/8/layout/hierarchy1"/>
    <dgm:cxn modelId="{43F5FE8D-2638-427F-9810-F94F96115B28}" type="presParOf" srcId="{C44170CF-9050-406F-AF0A-BF4158081A95}" destId="{9B6BE692-01B2-4F51-A57C-1CD9645B4BA2}" srcOrd="0" destOrd="0" presId="urn:microsoft.com/office/officeart/2005/8/layout/hierarchy1"/>
    <dgm:cxn modelId="{3653635B-C013-4216-B0D9-434C021AC54F}" type="presParOf" srcId="{9B6BE692-01B2-4F51-A57C-1CD9645B4BA2}" destId="{CA738EE1-2A6F-424F-9681-3CCBC85D29A6}" srcOrd="0" destOrd="0" presId="urn:microsoft.com/office/officeart/2005/8/layout/hierarchy1"/>
    <dgm:cxn modelId="{92CBD077-1880-43EA-B968-49F0CBE4E7AB}" type="presParOf" srcId="{9B6BE692-01B2-4F51-A57C-1CD9645B4BA2}" destId="{206E067B-F1A0-4B2A-97F2-58D7082A0B78}" srcOrd="1" destOrd="0" presId="urn:microsoft.com/office/officeart/2005/8/layout/hierarchy1"/>
    <dgm:cxn modelId="{BC7B1FB3-2328-4360-B8B2-76A31501F9BC}" type="presParOf" srcId="{C44170CF-9050-406F-AF0A-BF4158081A95}" destId="{23B2C8BB-0EF4-4E02-BC7C-F7671B5991F1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9E8DEC5-6ACE-41EA-A26E-96D1302D1F57}">
      <dsp:nvSpPr>
        <dsp:cNvPr id="0" name=""/>
        <dsp:cNvSpPr/>
      </dsp:nvSpPr>
      <dsp:spPr>
        <a:xfrm>
          <a:off x="0" y="1788402"/>
          <a:ext cx="3986212" cy="253124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C3913E7-4E36-418B-8F37-A1912C015640}">
      <dsp:nvSpPr>
        <dsp:cNvPr id="0" name=""/>
        <dsp:cNvSpPr/>
      </dsp:nvSpPr>
      <dsp:spPr>
        <a:xfrm>
          <a:off x="442912" y="2209168"/>
          <a:ext cx="3986212" cy="253124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 dirty="0" err="1"/>
            <a:t>GeoPose</a:t>
          </a:r>
          <a:r>
            <a:rPr lang="en-US" sz="3200" kern="1200" dirty="0"/>
            <a:t> is a simple but precise way to locate and orient a space.</a:t>
          </a:r>
        </a:p>
      </dsp:txBody>
      <dsp:txXfrm>
        <a:off x="517050" y="2283306"/>
        <a:ext cx="3837936" cy="2382968"/>
      </dsp:txXfrm>
    </dsp:sp>
    <dsp:sp modelId="{EB02E32F-7AFC-498F-97AE-BB9C01D254F8}">
      <dsp:nvSpPr>
        <dsp:cNvPr id="0" name=""/>
        <dsp:cNvSpPr/>
      </dsp:nvSpPr>
      <dsp:spPr>
        <a:xfrm>
          <a:off x="4872037" y="1788402"/>
          <a:ext cx="3986212" cy="253124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86F224E-DEB2-4B58-934A-39C441476962}">
      <dsp:nvSpPr>
        <dsp:cNvPr id="0" name=""/>
        <dsp:cNvSpPr/>
      </dsp:nvSpPr>
      <dsp:spPr>
        <a:xfrm>
          <a:off x="5314949" y="2209168"/>
          <a:ext cx="3986212" cy="253124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 dirty="0" err="1"/>
            <a:t>GeoPose</a:t>
          </a:r>
          <a:r>
            <a:rPr lang="en-US" sz="3200" kern="1200" dirty="0"/>
            <a:t> is well-documented with easy conformance testing.</a:t>
          </a:r>
        </a:p>
      </dsp:txBody>
      <dsp:txXfrm>
        <a:off x="5389087" y="2283306"/>
        <a:ext cx="3837936" cy="2382968"/>
      </dsp:txXfrm>
    </dsp:sp>
    <dsp:sp modelId="{CA738EE1-2A6F-424F-9681-3CCBC85D29A6}">
      <dsp:nvSpPr>
        <dsp:cNvPr id="0" name=""/>
        <dsp:cNvSpPr/>
      </dsp:nvSpPr>
      <dsp:spPr>
        <a:xfrm>
          <a:off x="9744074" y="1788402"/>
          <a:ext cx="3986212" cy="253124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06E067B-F1A0-4B2A-97F2-58D7082A0B78}">
      <dsp:nvSpPr>
        <dsp:cNvPr id="0" name=""/>
        <dsp:cNvSpPr/>
      </dsp:nvSpPr>
      <dsp:spPr>
        <a:xfrm>
          <a:off x="10186987" y="2209168"/>
          <a:ext cx="3986212" cy="253124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 dirty="0"/>
            <a:t>You can use it in your standard to avoid re-implementing the same concept.</a:t>
          </a:r>
        </a:p>
      </dsp:txBody>
      <dsp:txXfrm>
        <a:off x="10261125" y="2283306"/>
        <a:ext cx="3837936" cy="238296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52EF98C-C3F1-EA29-7B47-8E3A0A87029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78AF560-0EC2-50D5-DE42-C7440E24303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028D1E4-4BBA-6F41-9D9B-7C498DFA1119}" type="datetimeFigureOut">
              <a:rPr lang="en-US" smtClean="0"/>
              <a:t>10/23/2025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9B18C8C-72F6-C0BC-D6B9-F9F0ACDBDCE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93F2DF8-0D80-D9E8-E1BF-F78D65111D7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DD2C68-F934-1540-BB6F-D78EF71B2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34946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61ABE01-8AD2-744F-9651-CCC9DC857332}" type="datetimeFigureOut">
              <a:rPr lang="en-US" smtClean="0"/>
              <a:t>10/23/2025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B3575CF-62AD-8041-932F-56D977C8CD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64009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png"/><Relationship Id="rId4" Type="http://schemas.openxmlformats.org/officeDocument/2006/relationships/image" Target="../media/image3.svg"/></Relationships>
</file>

<file path=ppt/slideLayouts/_rels/slideLayout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9.png"/><Relationship Id="rId7" Type="http://schemas.openxmlformats.org/officeDocument/2006/relationships/image" Target="../media/image12.svg"/><Relationship Id="rId2" Type="http://schemas.openxmlformats.org/officeDocument/2006/relationships/hyperlink" Target="https://www.linkedin.com/company/open-geospatial-consortium/" TargetMode="External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1.png"/><Relationship Id="rId11" Type="http://schemas.openxmlformats.org/officeDocument/2006/relationships/image" Target="../media/image15.png"/><Relationship Id="rId5" Type="http://schemas.openxmlformats.org/officeDocument/2006/relationships/hyperlink" Target="https://www.youtube.com/@opengeospatial" TargetMode="External"/><Relationship Id="rId10" Type="http://schemas.openxmlformats.org/officeDocument/2006/relationships/image" Target="../media/image14.png"/><Relationship Id="rId4" Type="http://schemas.openxmlformats.org/officeDocument/2006/relationships/image" Target="../media/image10.svg"/><Relationship Id="rId9" Type="http://schemas.openxmlformats.org/officeDocument/2006/relationships/image" Target="../media/image13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 2">
    <p:bg>
      <p:bgPr>
        <a:solidFill>
          <a:srgbClr val="1A258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31DD0F2-3B07-4CD9-C9D4-BD97590197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73024" y="0"/>
            <a:ext cx="18361023" cy="1028700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19309EC5-8A84-9079-0A32-DD694DDB84E2}"/>
              </a:ext>
            </a:extLst>
          </p:cNvPr>
          <p:cNvSpPr/>
          <p:nvPr userDrawn="1"/>
        </p:nvSpPr>
        <p:spPr>
          <a:xfrm>
            <a:off x="762000" y="8343900"/>
            <a:ext cx="152400" cy="1219200"/>
          </a:xfrm>
          <a:prstGeom prst="rect">
            <a:avLst/>
          </a:prstGeom>
          <a:solidFill>
            <a:srgbClr val="D6E8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70D2371B-9266-15FA-FC2A-1708C7327F2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81878" y="4229100"/>
            <a:ext cx="9525000" cy="2209800"/>
          </a:xfrm>
        </p:spPr>
        <p:txBody>
          <a:bodyPr anchor="ctr">
            <a:noAutofit/>
          </a:bodyPr>
          <a:lstStyle>
            <a:lvl1pPr marL="0" indent="0">
              <a:lnSpc>
                <a:spcPts val="7340"/>
              </a:lnSpc>
              <a:buNone/>
              <a:defRPr sz="7500" b="0" i="0">
                <a:solidFill>
                  <a:schemeClr val="bg1"/>
                </a:solidFill>
                <a:latin typeface="Aptos" panose="020B0004020202020204" pitchFamily="34" charset="0"/>
              </a:defRPr>
            </a:lvl1pPr>
          </a:lstStyle>
          <a:p>
            <a:pPr lvl="0"/>
            <a:r>
              <a:rPr lang="en-GB" dirty="0"/>
              <a:t>OPEN GEOSPATIAL CONSORTIUM</a:t>
            </a:r>
            <a:endParaRPr lang="en-US" dirty="0"/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1BD5B0C9-DE43-2451-ECE2-D1E27B88CEC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81878" y="3253711"/>
            <a:ext cx="4533901" cy="955104"/>
          </a:xfrm>
        </p:spPr>
        <p:txBody>
          <a:bodyPr anchor="t">
            <a:noAutofit/>
          </a:bodyPr>
          <a:lstStyle>
            <a:lvl1pPr marL="0" indent="0">
              <a:lnSpc>
                <a:spcPts val="7340"/>
              </a:lnSpc>
              <a:buNone/>
              <a:defRPr sz="13300" b="1" i="0">
                <a:solidFill>
                  <a:schemeClr val="bg1"/>
                </a:solidFill>
                <a:latin typeface="Aptos" panose="020B0004020202020204" pitchFamily="34" charset="0"/>
              </a:defRPr>
            </a:lvl1pPr>
          </a:lstStyle>
          <a:p>
            <a:pPr lvl="0"/>
            <a:r>
              <a:rPr lang="en-GB" dirty="0"/>
              <a:t>OGC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8D9D9D9-ACF1-FDFC-9EA3-26D0F3C221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90600" y="8479631"/>
            <a:ext cx="5486400" cy="947738"/>
          </a:xfrm>
        </p:spPr>
        <p:txBody>
          <a:bodyPr anchor="b"/>
          <a:lstStyle>
            <a:lvl1pPr algn="l">
              <a:lnSpc>
                <a:spcPts val="3700"/>
              </a:lnSpc>
              <a:defRPr sz="2500" b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NAME OF PERSON</a:t>
            </a:r>
            <a:br>
              <a:rPr lang="en-US" dirty="0"/>
            </a:br>
            <a:r>
              <a:rPr lang="en-US" dirty="0"/>
              <a:t>YYYY/MM/DD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ED6684FE-59EA-B16B-2A79-6A7F5F5A7AC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26328" y="547189"/>
            <a:ext cx="1154872" cy="1154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5417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E4324800-CFC8-4CF1-B297-52EC07618FB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436436" y="9473536"/>
            <a:ext cx="622964" cy="622964"/>
          </a:xfrm>
          <a:prstGeom prst="rect">
            <a:avLst/>
          </a:prstGeom>
        </p:spPr>
      </p:pic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50E63C18-4494-429D-C7BD-8F1E6789EF1E}"/>
              </a:ext>
            </a:extLst>
          </p:cNvPr>
          <p:cNvSpPr>
            <a:spLocks noGrp="1"/>
          </p:cNvSpPr>
          <p:nvPr>
            <p:ph type="body" idx="16"/>
          </p:nvPr>
        </p:nvSpPr>
        <p:spPr>
          <a:xfrm>
            <a:off x="838200" y="2322444"/>
            <a:ext cx="16598236" cy="6853503"/>
          </a:xfrm>
        </p:spPr>
        <p:txBody>
          <a:bodyPr anchor="t">
            <a:noAutofit/>
          </a:bodyPr>
          <a:lstStyle>
            <a:lvl1pPr marL="342900" indent="-342900">
              <a:buFont typeface="Arial" panose="020B0604020202020204" pitchFamily="34" charset="0"/>
              <a:buChar char="•"/>
              <a:defRPr sz="3000" b="0" i="0">
                <a:solidFill>
                  <a:schemeClr val="tx1"/>
                </a:solidFill>
                <a:latin typeface="Aptos" panose="020B000402020202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</a:defRPr>
            </a:lvl2pPr>
            <a:lvl3pPr marL="1200150" indent="-285750"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C4D061A-9182-0E47-58BB-1394889710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3080" y="555036"/>
            <a:ext cx="16573356" cy="916056"/>
          </a:xfrm>
        </p:spPr>
        <p:txBody>
          <a:bodyPr anchor="ctr"/>
          <a:lstStyle>
            <a:lvl1pPr>
              <a:lnSpc>
                <a:spcPts val="4100"/>
              </a:lnSpc>
              <a:defRPr sz="4200">
                <a:solidFill>
                  <a:srgbClr val="263BD3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DB5ECD6-ECF9-90A5-110C-BF2E6CC263AA}"/>
              </a:ext>
            </a:extLst>
          </p:cNvPr>
          <p:cNvSpPr/>
          <p:nvPr userDrawn="1"/>
        </p:nvSpPr>
        <p:spPr>
          <a:xfrm rot="16200000">
            <a:off x="-178533" y="572374"/>
            <a:ext cx="1149261" cy="792193"/>
          </a:xfrm>
          <a:prstGeom prst="rect">
            <a:avLst/>
          </a:prstGeom>
          <a:solidFill>
            <a:srgbClr val="CAD31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Shape&#10;&#10;Description automatically generated with medium confidence">
            <a:extLst>
              <a:ext uri="{FF2B5EF4-FFF2-40B4-BE49-F238E27FC236}">
                <a16:creationId xmlns:a16="http://schemas.microsoft.com/office/drawing/2014/main" id="{C1AF7A7B-5F01-B0D5-6D4A-6D583D50D30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578272" y="9334997"/>
            <a:ext cx="2858164" cy="7939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827946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240" userDrawn="1">
          <p15:clr>
            <a:srgbClr val="FBAE40"/>
          </p15:clr>
        </p15:guide>
        <p15:guide id="2" pos="576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Slide 1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075991E-3D80-1093-0B9E-40DD452E6206}"/>
              </a:ext>
            </a:extLst>
          </p:cNvPr>
          <p:cNvSpPr/>
          <p:nvPr userDrawn="1"/>
        </p:nvSpPr>
        <p:spPr>
          <a:xfrm>
            <a:off x="0" y="-30843"/>
            <a:ext cx="18288000" cy="10286999"/>
          </a:xfrm>
          <a:prstGeom prst="rect">
            <a:avLst/>
          </a:prstGeom>
          <a:gradFill flip="none" rotWithShape="1">
            <a:gsLst>
              <a:gs pos="8000">
                <a:srgbClr val="263BD3"/>
              </a:gs>
              <a:gs pos="80000">
                <a:srgbClr val="1A2584"/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4B08F70-9A8A-1BA7-803F-99BBD0A32D8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05169" y="5981700"/>
            <a:ext cx="10867292" cy="3301612"/>
          </a:xfrm>
        </p:spPr>
        <p:txBody>
          <a:bodyPr anchor="t"/>
          <a:lstStyle>
            <a:lvl1pPr algn="l">
              <a:lnSpc>
                <a:spcPts val="8420"/>
              </a:lnSpc>
              <a:defRPr sz="9800" b="0" i="0" cap="none">
                <a:solidFill>
                  <a:srgbClr val="FFFFFF"/>
                </a:solidFill>
                <a:latin typeface="Aptos" panose="020B0004020202020204" pitchFamily="34" charset="0"/>
              </a:defRPr>
            </a:lvl1pPr>
          </a:lstStyle>
          <a:p>
            <a:r>
              <a:rPr lang="en-US" dirty="0"/>
              <a:t>Main Subject Headline Click To Add Content</a:t>
            </a:r>
          </a:p>
        </p:txBody>
      </p:sp>
      <p:pic>
        <p:nvPicPr>
          <p:cNvPr id="9" name="Picture 8" descr="A green globe with blue and yellow lines&#10;&#10;Description automatically generated">
            <a:extLst>
              <a:ext uri="{FF2B5EF4-FFF2-40B4-BE49-F238E27FC236}">
                <a16:creationId xmlns:a16="http://schemas.microsoft.com/office/drawing/2014/main" id="{3ACEB540-D319-D15F-94E4-6EB8FA97CA5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13672" y="3225248"/>
            <a:ext cx="11601450" cy="7061752"/>
          </a:xfrm>
          <a:prstGeom prst="rect">
            <a:avLst/>
          </a:prstGeom>
        </p:spPr>
      </p:pic>
      <p:pic>
        <p:nvPicPr>
          <p:cNvPr id="2" name="Graphic 1">
            <a:extLst>
              <a:ext uri="{FF2B5EF4-FFF2-40B4-BE49-F238E27FC236}">
                <a16:creationId xmlns:a16="http://schemas.microsoft.com/office/drawing/2014/main" id="{3DC18C82-B48C-86A4-AE95-988D03A9D1BF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6743736" y="482666"/>
            <a:ext cx="1010864" cy="1010864"/>
          </a:xfrm>
          <a:prstGeom prst="rect">
            <a:avLst/>
          </a:prstGeom>
        </p:spPr>
      </p:pic>
      <p:pic>
        <p:nvPicPr>
          <p:cNvPr id="4" name="Picture 3" descr="A logo for a company&#10;&#10;AI-generated content may be incorrect.">
            <a:extLst>
              <a:ext uri="{FF2B5EF4-FFF2-40B4-BE49-F238E27FC236}">
                <a16:creationId xmlns:a16="http://schemas.microsoft.com/office/drawing/2014/main" id="{65EDFFFD-3062-C0CA-A962-E1493002FC82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87653" y="548024"/>
            <a:ext cx="1519147" cy="1367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022094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Us">
    <p:bg>
      <p:bgPr>
        <a:solidFill>
          <a:srgbClr val="E1F0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CA0BC1B-E121-22F6-EA4F-315A21DADD34}"/>
              </a:ext>
            </a:extLst>
          </p:cNvPr>
          <p:cNvSpPr/>
          <p:nvPr userDrawn="1"/>
        </p:nvSpPr>
        <p:spPr>
          <a:xfrm>
            <a:off x="0" y="-4313"/>
            <a:ext cx="18266434" cy="10286999"/>
          </a:xfrm>
          <a:prstGeom prst="rect">
            <a:avLst/>
          </a:prstGeom>
          <a:gradFill>
            <a:gsLst>
              <a:gs pos="24000">
                <a:schemeClr val="bg1"/>
              </a:gs>
              <a:gs pos="100000">
                <a:srgbClr val="A3C3FF"/>
              </a:gs>
              <a:gs pos="77000">
                <a:srgbClr val="D3E4FF"/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r>
              <a:rPr lang="en-GB"/>
              <a:t>OPEN GEOSPATIAL CONSORTIUM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EF978E1-8A8E-5738-7509-37BA651F49E3}"/>
              </a:ext>
            </a:extLst>
          </p:cNvPr>
          <p:cNvSpPr/>
          <p:nvPr userDrawn="1"/>
        </p:nvSpPr>
        <p:spPr>
          <a:xfrm>
            <a:off x="17527150" y="8420100"/>
            <a:ext cx="739284" cy="1862584"/>
          </a:xfrm>
          <a:prstGeom prst="rect">
            <a:avLst/>
          </a:prstGeom>
          <a:solidFill>
            <a:srgbClr val="CAD31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ECBAD72-8B13-ACB0-75FF-44382C60299A}"/>
              </a:ext>
            </a:extLst>
          </p:cNvPr>
          <p:cNvSpPr/>
          <p:nvPr userDrawn="1"/>
        </p:nvSpPr>
        <p:spPr>
          <a:xfrm>
            <a:off x="21566" y="8420100"/>
            <a:ext cx="9122434" cy="1921892"/>
          </a:xfrm>
          <a:prstGeom prst="rect">
            <a:avLst/>
          </a:prstGeom>
          <a:solidFill>
            <a:srgbClr val="263BD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F7C539DE-7351-F083-BA2A-B4218EFAE00D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10348594" y="9076976"/>
            <a:ext cx="6186805" cy="548831"/>
          </a:xfrm>
        </p:spPr>
        <p:txBody>
          <a:bodyPr>
            <a:noAutofit/>
          </a:bodyPr>
          <a:lstStyle>
            <a:lvl1pPr marL="0" indent="0">
              <a:buNone/>
              <a:defRPr sz="2800" b="1" i="0">
                <a:solidFill>
                  <a:schemeClr val="accent1">
                    <a:lumMod val="50000"/>
                  </a:schemeClr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https://metaverse-standards.org/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E34B6E06-9D16-BF9D-CD4A-43497B2A63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8314" y="3486090"/>
            <a:ext cx="7634039" cy="2495610"/>
          </a:xfrm>
        </p:spPr>
        <p:txBody>
          <a:bodyPr anchor="t"/>
          <a:lstStyle>
            <a:lvl1pPr algn="l">
              <a:lnSpc>
                <a:spcPts val="9900"/>
              </a:lnSpc>
              <a:defRPr sz="12300" b="0" i="0" cap="none">
                <a:solidFill>
                  <a:schemeClr val="accent1">
                    <a:lumMod val="75000"/>
                  </a:schemeClr>
                </a:solidFill>
                <a:latin typeface="Aptos Display" panose="020B0004020202020204" pitchFamily="34" charset="0"/>
              </a:defRPr>
            </a:lvl1pPr>
          </a:lstStyle>
          <a:p>
            <a:r>
              <a:rPr lang="en-US" dirty="0"/>
              <a:t>THANK</a:t>
            </a:r>
            <a:br>
              <a:rPr lang="en-US" dirty="0"/>
            </a:br>
            <a:r>
              <a:rPr lang="en-US" dirty="0"/>
              <a:t>YOU</a:t>
            </a:r>
          </a:p>
        </p:txBody>
      </p:sp>
      <p:pic>
        <p:nvPicPr>
          <p:cNvPr id="23" name="Graphic 22">
            <a:hlinkClick r:id="rId2"/>
            <a:extLst>
              <a:ext uri="{FF2B5EF4-FFF2-40B4-BE49-F238E27FC236}">
                <a16:creationId xmlns:a16="http://schemas.microsoft.com/office/drawing/2014/main" id="{5E80DEB9-7302-517D-D762-3B89B5331F45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63553" y="9115879"/>
            <a:ext cx="444357" cy="434969"/>
          </a:xfrm>
          <a:prstGeom prst="rect">
            <a:avLst/>
          </a:prstGeom>
        </p:spPr>
      </p:pic>
      <p:pic>
        <p:nvPicPr>
          <p:cNvPr id="25" name="Graphic 24">
            <a:hlinkClick r:id="rId5"/>
            <a:extLst>
              <a:ext uri="{FF2B5EF4-FFF2-40B4-BE49-F238E27FC236}">
                <a16:creationId xmlns:a16="http://schemas.microsoft.com/office/drawing/2014/main" id="{A4425F64-9AB7-B578-8507-9BE7A01DC9D0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682188" y="9132679"/>
            <a:ext cx="610165" cy="434969"/>
          </a:xfrm>
          <a:prstGeom prst="rect">
            <a:avLst/>
          </a:prstGeom>
        </p:spPr>
      </p:pic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AC3AF3DD-E3F8-963A-7CE5-12FE73E6470F}"/>
              </a:ext>
            </a:extLst>
          </p:cNvPr>
          <p:cNvCxnSpPr/>
          <p:nvPr userDrawn="1"/>
        </p:nvCxnSpPr>
        <p:spPr>
          <a:xfrm>
            <a:off x="7288658" y="9041162"/>
            <a:ext cx="0" cy="623548"/>
          </a:xfrm>
          <a:prstGeom prst="line">
            <a:avLst/>
          </a:prstGeom>
          <a:ln w="19050">
            <a:solidFill>
              <a:srgbClr val="7FAE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Graphic 1">
            <a:extLst>
              <a:ext uri="{FF2B5EF4-FFF2-40B4-BE49-F238E27FC236}">
                <a16:creationId xmlns:a16="http://schemas.microsoft.com/office/drawing/2014/main" id="{B234AFB3-C66F-E10A-4295-C25CBF9E1409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45447" y="591482"/>
            <a:ext cx="1154872" cy="1154872"/>
          </a:xfrm>
          <a:prstGeom prst="rect">
            <a:avLst/>
          </a:prstGeom>
        </p:spPr>
      </p:pic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02987B79-8C56-226E-FF8F-C1A6BFA690F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9144000" y="4763"/>
            <a:ext cx="8383588" cy="8415337"/>
          </a:xfrm>
          <a:solidFill>
            <a:schemeClr val="accent2">
              <a:lumMod val="50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F07DECD-7DA5-F57F-96E0-B3EF39640E98}"/>
              </a:ext>
            </a:extLst>
          </p:cNvPr>
          <p:cNvPicPr>
            <a:picLocks noChangeAspect="1"/>
          </p:cNvPicPr>
          <p:nvPr userDrawn="1"/>
        </p:nvPicPr>
        <p:blipFill>
          <a:blip r:embed="rId10"/>
          <a:stretch>
            <a:fillRect/>
          </a:stretch>
        </p:blipFill>
        <p:spPr>
          <a:xfrm>
            <a:off x="9829800" y="678437"/>
            <a:ext cx="4038600" cy="1121834"/>
          </a:xfrm>
          <a:prstGeom prst="rect">
            <a:avLst/>
          </a:prstGeom>
        </p:spPr>
      </p:pic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47F433F3-91BD-D60C-6FFB-09D905AA1BC1}"/>
              </a:ext>
            </a:extLst>
          </p:cNvPr>
          <p:cNvSpPr>
            <a:spLocks noGrp="1"/>
          </p:cNvSpPr>
          <p:nvPr>
            <p:ph type="body" sz="half" idx="11" hasCustomPrompt="1"/>
          </p:nvPr>
        </p:nvSpPr>
        <p:spPr>
          <a:xfrm>
            <a:off x="897847" y="9258300"/>
            <a:ext cx="2593108" cy="548831"/>
          </a:xfrm>
        </p:spPr>
        <p:txBody>
          <a:bodyPr>
            <a:noAutofit/>
          </a:bodyPr>
          <a:lstStyle>
            <a:lvl1pPr marL="0" indent="0">
              <a:buNone/>
              <a:defRPr sz="2800" b="1" i="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 err="1"/>
              <a:t>www.ogc.org</a:t>
            </a:r>
            <a:endParaRPr lang="en-US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1C648EDB-28A7-2D05-7914-33FACC8D6A32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1889433" y="591482"/>
            <a:ext cx="4118013" cy="1203803"/>
          </a:xfrm>
          <a:prstGeom prst="rect">
            <a:avLst/>
          </a:prstGeom>
          <a:effectLst>
            <a:outerShdw blurRad="50800" dist="50800" dir="5400000" algn="ctr" rotWithShape="0">
              <a:schemeClr val="tx1">
                <a:lumMod val="65000"/>
                <a:lumOff val="35000"/>
              </a:schemeClr>
            </a:outerShdw>
          </a:effectLst>
        </p:spPr>
      </p:pic>
    </p:spTree>
    <p:extLst>
      <p:ext uri="{BB962C8B-B14F-4D97-AF65-F5344CB8AC3E}">
        <p14:creationId xmlns:p14="http://schemas.microsoft.com/office/powerpoint/2010/main" val="14698308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14173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0" i="0">
                <a:solidFill>
                  <a:schemeClr val="tx1">
                    <a:tint val="75000"/>
                  </a:schemeClr>
                </a:solidFill>
                <a:latin typeface="Aptos" panose="020B0004020202020204" pitchFamily="34" charset="0"/>
              </a:defRPr>
            </a:lvl1pPr>
          </a:lstStyle>
          <a:p>
            <a:fld id="{1D8BD707-D9CF-40AE-B4C6-C98DA3205C09}" type="datetimeFigureOut">
              <a:rPr lang="en-US" smtClean="0"/>
              <a:pPr/>
              <a:t>10/23/2025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0" i="0">
                <a:solidFill>
                  <a:schemeClr val="tx1">
                    <a:tint val="75000"/>
                  </a:schemeClr>
                </a:solidFill>
                <a:latin typeface="Aptos" panose="020B00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0" i="0">
                <a:solidFill>
                  <a:schemeClr val="tx1">
                    <a:tint val="75000"/>
                  </a:schemeClr>
                </a:solidFill>
                <a:latin typeface="Aptos" panose="020B0004020202020204" pitchFamily="34" charset="0"/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700" r:id="rId2"/>
    <p:sldLayoutId id="2147483667" r:id="rId3"/>
    <p:sldLayoutId id="2147483671" r:id="rId4"/>
  </p:sldLayoutIdLst>
  <p:txStyles>
    <p:titleStyle>
      <a:lvl1pPr algn="l" defTabSz="914400" rtl="0" eaLnBrk="1" latinLnBrk="0" hangingPunct="1">
        <a:lnSpc>
          <a:spcPts val="14620"/>
        </a:lnSpc>
        <a:spcBef>
          <a:spcPct val="0"/>
        </a:spcBef>
        <a:buNone/>
        <a:defRPr sz="6600" b="0" i="0" kern="1200">
          <a:solidFill>
            <a:schemeClr val="tx1"/>
          </a:solidFill>
          <a:latin typeface="Aptos" panose="020B0004020202020204" pitchFamily="34" charset="0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b="0" i="0" kern="1200">
          <a:solidFill>
            <a:schemeClr val="tx1"/>
          </a:solidFill>
          <a:latin typeface="Aptos" panose="020B0004020202020204" pitchFamily="34" charset="0"/>
          <a:ea typeface="Noto Sans Medium" panose="020B0502040504020204" pitchFamily="34" charset="0"/>
          <a:cs typeface="Noto Sans Medium" panose="020B0502040504020204" pitchFamily="34" charset="0"/>
        </a:defRPr>
      </a:lvl1pPr>
      <a:lvl2pPr marL="914400" indent="-4572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800" b="0" i="0" kern="1200">
          <a:solidFill>
            <a:schemeClr val="tx1"/>
          </a:solidFill>
          <a:latin typeface="Aptos" panose="020B0004020202020204" pitchFamily="34" charset="0"/>
          <a:ea typeface="Noto Sans Medium" panose="020B0502040504020204" pitchFamily="34" charset="0"/>
          <a:cs typeface="Noto Sans Medium" panose="020B0502040504020204" pitchFamily="34" charset="0"/>
        </a:defRPr>
      </a:lvl2pPr>
      <a:lvl3pPr marL="12573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b="0" i="0" kern="1200">
          <a:solidFill>
            <a:schemeClr val="tx1"/>
          </a:solidFill>
          <a:latin typeface="Aptos" panose="020B0004020202020204" pitchFamily="34" charset="0"/>
          <a:ea typeface="Noto Sans Medium" panose="020B0502040504020204" pitchFamily="34" charset="0"/>
          <a:cs typeface="Noto Sans Medium" panose="020B0502040504020204" pitchFamily="34" charset="0"/>
        </a:defRPr>
      </a:lvl3pPr>
      <a:lvl4pPr marL="17145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Aptos" panose="020B0004020202020204" pitchFamily="34" charset="0"/>
          <a:ea typeface="Noto Sans Medium" panose="020B0502040504020204" pitchFamily="34" charset="0"/>
          <a:cs typeface="Noto Sans Medium" panose="020B0502040504020204" pitchFamily="34" charset="0"/>
        </a:defRPr>
      </a:lvl4pPr>
      <a:lvl5pPr marL="21717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Aptos" panose="020B0004020202020204" pitchFamily="34" charset="0"/>
          <a:ea typeface="Noto Sans Medium" panose="020B0502040504020204" pitchFamily="34" charset="0"/>
          <a:cs typeface="Noto Sans Medium" panose="020B0502040504020204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240" userDrawn="1">
          <p15:clr>
            <a:srgbClr val="F26B43"/>
          </p15:clr>
        </p15:guide>
        <p15:guide id="2" pos="576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mailto:atom@pma3.org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hyperlink" Target="http://www.ogc.org/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CEBA7BB-BFCF-80E7-2506-1EE9332E6C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0600" y="8496300"/>
            <a:ext cx="13030200" cy="947738"/>
          </a:xfrm>
        </p:spPr>
        <p:txBody>
          <a:bodyPr/>
          <a:lstStyle/>
          <a:p>
            <a:r>
              <a:rPr lang="en-US" dirty="0"/>
              <a:t>&lt;Presenter’s Name&gt;</a:t>
            </a:r>
            <a:br>
              <a:rPr lang="en-US" dirty="0"/>
            </a:br>
            <a:r>
              <a:rPr lang="en-US" dirty="0" err="1"/>
              <a:t>GeoPose</a:t>
            </a:r>
            <a:r>
              <a:rPr lang="en-US" dirty="0"/>
              <a:t> Summit</a:t>
            </a:r>
            <a:br>
              <a:rPr lang="en-US" dirty="0"/>
            </a:br>
            <a:r>
              <a:rPr lang="en-US" dirty="0"/>
              <a:t>27 October 2025</a:t>
            </a:r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FADEEFC8-FA9B-D02C-5254-F4E23F97E2A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62000" y="881062"/>
            <a:ext cx="15468600" cy="3200400"/>
          </a:xfrm>
        </p:spPr>
        <p:txBody>
          <a:bodyPr/>
          <a:lstStyle/>
          <a:p>
            <a:r>
              <a:rPr lang="en-US" sz="4800" dirty="0"/>
              <a:t>         </a:t>
            </a:r>
            <a:endParaRPr lang="en-US" sz="8000" dirty="0"/>
          </a:p>
          <a:p>
            <a:pPr algn="ctr"/>
            <a:r>
              <a:rPr lang="en-US" sz="5400" dirty="0" err="1"/>
              <a:t>GeoPose</a:t>
            </a:r>
            <a:r>
              <a:rPr lang="en-US" sz="5400" dirty="0"/>
              <a:t> in other Standards</a:t>
            </a:r>
          </a:p>
        </p:txBody>
      </p:sp>
      <p:pic>
        <p:nvPicPr>
          <p:cNvPr id="3" name="Google Shape;88;p21" descr="A picture containing guitar&#10;&#10;Description automatically generated">
            <a:extLst>
              <a:ext uri="{FF2B5EF4-FFF2-40B4-BE49-F238E27FC236}">
                <a16:creationId xmlns:a16="http://schemas.microsoft.com/office/drawing/2014/main" id="{834668E0-518C-F33C-CB99-9FD45126FD43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315200" y="5773886"/>
            <a:ext cx="11244943" cy="4513114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F354DB6-F979-D85A-AD83-3AAC8B33A43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57400" y="495300"/>
            <a:ext cx="4389121" cy="121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1786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86FEB3-5223-94D5-EE72-61046796C1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2C1880C-599A-712B-F38F-267BDF836B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600" y="274638"/>
            <a:ext cx="15011400" cy="1143000"/>
          </a:xfrm>
        </p:spPr>
        <p:txBody>
          <a:bodyPr anchor="ctr">
            <a:normAutofit/>
          </a:bodyPr>
          <a:lstStyle/>
          <a:p>
            <a:r>
              <a:rPr lang="en-US" sz="6900" dirty="0"/>
              <a:t>Rely on OGC’s Authoritative Geo Focus</a:t>
            </a:r>
          </a:p>
        </p:txBody>
      </p:sp>
      <p:graphicFrame>
        <p:nvGraphicFramePr>
          <p:cNvPr id="5" name="Text Placeholder 1">
            <a:extLst>
              <a:ext uri="{FF2B5EF4-FFF2-40B4-BE49-F238E27FC236}">
                <a16:creationId xmlns:a16="http://schemas.microsoft.com/office/drawing/2014/main" id="{5222B78D-526F-5D30-D501-719F21B5E76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74729160"/>
              </p:ext>
            </p:extLst>
          </p:nvPr>
        </p:nvGraphicFramePr>
        <p:xfrm>
          <a:off x="457200" y="1608138"/>
          <a:ext cx="14173200" cy="652881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7741911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CB3EA9-2236-291B-A47A-9CF0D499A4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F4197BD-4D41-E70A-17DE-CCC1A1B08DB2}"/>
              </a:ext>
            </a:extLst>
          </p:cNvPr>
          <p:cNvSpPr>
            <a:spLocks noGrp="1"/>
          </p:cNvSpPr>
          <p:nvPr>
            <p:ph type="body" idx="16"/>
          </p:nvPr>
        </p:nvSpPr>
        <p:spPr>
          <a:xfrm>
            <a:off x="838200" y="1866900"/>
            <a:ext cx="7924800" cy="7309047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latin typeface="+mj-lt"/>
              </a:rPr>
              <a:t>OGC </a:t>
            </a:r>
            <a:r>
              <a:rPr lang="en-US" dirty="0" err="1">
                <a:latin typeface="+mj-lt"/>
              </a:rPr>
              <a:t>GeoPose</a:t>
            </a:r>
            <a:r>
              <a:rPr lang="en-US" dirty="0">
                <a:latin typeface="+mj-lt"/>
              </a:rPr>
              <a:t> is built from modular components that can be used independently or combined to create complete representations of position and orientation. </a:t>
            </a:r>
          </a:p>
          <a:p>
            <a:pPr marL="0" indent="0">
              <a:buNone/>
            </a:pPr>
            <a:endParaRPr lang="en-US" dirty="0">
              <a:latin typeface="+mj-lt"/>
            </a:endParaRPr>
          </a:p>
          <a:p>
            <a:pPr marL="0" indent="0">
              <a:buNone/>
            </a:pPr>
            <a:r>
              <a:rPr lang="en-US" dirty="0">
                <a:latin typeface="+mj-lt"/>
              </a:rPr>
              <a:t>This flexible design allows </a:t>
            </a:r>
            <a:r>
              <a:rPr lang="en-US" dirty="0" err="1">
                <a:latin typeface="+mj-lt"/>
              </a:rPr>
              <a:t>GeoPose</a:t>
            </a:r>
            <a:r>
              <a:rPr lang="en-US" dirty="0">
                <a:latin typeface="+mj-lt"/>
              </a:rPr>
              <a:t> to integrate seamlessly with other standards, making it a powerful tool for bridging systems and ensuring interoperability across diverse spatial applications. </a:t>
            </a:r>
          </a:p>
          <a:p>
            <a:pPr marL="0" indent="0">
              <a:buNone/>
            </a:pPr>
            <a:endParaRPr lang="en-US" dirty="0">
              <a:latin typeface="+mj-lt"/>
            </a:endParaRPr>
          </a:p>
          <a:p>
            <a:pPr marL="0" indent="0">
              <a:buNone/>
            </a:pPr>
            <a:r>
              <a:rPr lang="en-US" dirty="0">
                <a:latin typeface="+mj-lt"/>
              </a:rPr>
              <a:t>By referencing </a:t>
            </a:r>
            <a:r>
              <a:rPr lang="en-US" dirty="0" err="1">
                <a:latin typeface="+mj-lt"/>
              </a:rPr>
              <a:t>GeoPose</a:t>
            </a:r>
            <a:r>
              <a:rPr lang="en-US" dirty="0">
                <a:latin typeface="+mj-lt"/>
              </a:rPr>
              <a:t> in a normative manner, other standards benefit from the well-defined framework of components.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05DC566-D87A-E966-D171-F19452F44A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GeoPose</a:t>
            </a:r>
            <a:r>
              <a:rPr lang="en-US" dirty="0"/>
              <a:t> in Other Standards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4DE0CE1-4DFC-29BA-3C07-97DBDE747F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39400" y="1333500"/>
            <a:ext cx="6246026" cy="67204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71217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2B1FA5-0525-3B6E-FF46-02F9151C91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46D624D-3EE8-FD39-9B1C-8227DCE93BCE}"/>
              </a:ext>
            </a:extLst>
          </p:cNvPr>
          <p:cNvSpPr>
            <a:spLocks noGrp="1"/>
          </p:cNvSpPr>
          <p:nvPr>
            <p:ph type="body" idx="16"/>
          </p:nvPr>
        </p:nvSpPr>
        <p:spPr>
          <a:xfrm>
            <a:off x="838200" y="1866900"/>
            <a:ext cx="16598236" cy="7309047"/>
          </a:xfrm>
        </p:spPr>
        <p:txBody>
          <a:bodyPr/>
          <a:lstStyle/>
          <a:p>
            <a:r>
              <a:rPr lang="en-US" sz="2400" dirty="0"/>
              <a:t>Alfred Tom, OMA3, </a:t>
            </a:r>
            <a:r>
              <a:rPr lang="en-US" sz="24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atom@pma3.org</a:t>
            </a:r>
            <a:r>
              <a:rPr lang="en-US" sz="2400" dirty="0"/>
              <a:t>, Remote/Grig Bilham, </a:t>
            </a:r>
            <a:r>
              <a:rPr lang="en-US" sz="2400" dirty="0" err="1"/>
              <a:t>Sumset</a:t>
            </a:r>
            <a:r>
              <a:rPr lang="en-US" sz="2400" dirty="0"/>
              <a:t>, </a:t>
            </a:r>
            <a:r>
              <a:rPr lang="en-US" sz="2400" dirty="0" err="1"/>
              <a:t>grig@sumset.tech</a:t>
            </a:r>
            <a:r>
              <a:rPr lang="en-US" sz="2400" dirty="0"/>
              <a:t>, On-site</a:t>
            </a:r>
          </a:p>
          <a:p>
            <a:pPr lvl="1"/>
            <a:r>
              <a:rPr lang="en-US" sz="2200" dirty="0"/>
              <a:t>The Inter-World </a:t>
            </a:r>
            <a:r>
              <a:rPr lang="en-US" sz="2200" dirty="0" err="1"/>
              <a:t>Portaling</a:t>
            </a:r>
            <a:r>
              <a:rPr lang="en-US" sz="2200" dirty="0"/>
              <a:t> System (IWPS).</a:t>
            </a:r>
          </a:p>
          <a:p>
            <a:pPr lvl="1"/>
            <a:r>
              <a:rPr lang="en-US" sz="2200" dirty="0"/>
              <a:t>IWPS supports seamless movement between different virtual worlds and applications in the metaverse.</a:t>
            </a:r>
          </a:p>
          <a:p>
            <a:pPr lvl="1"/>
            <a:endParaRPr lang="en-US" sz="2200" dirty="0"/>
          </a:p>
          <a:p>
            <a:r>
              <a:rPr lang="en-US" sz="2400" dirty="0"/>
              <a:t>George Percivall, Spatial Web Foundation, percivall@ieee.org, On-site</a:t>
            </a:r>
          </a:p>
          <a:p>
            <a:pPr lvl="1"/>
            <a:r>
              <a:rPr lang="en-US" sz="2200" dirty="0"/>
              <a:t>How the Spatial Web uses OGC </a:t>
            </a:r>
            <a:r>
              <a:rPr lang="en-US" sz="2200" dirty="0" err="1"/>
              <a:t>GeoPose</a:t>
            </a:r>
            <a:endParaRPr lang="en-US" sz="2200" dirty="0"/>
          </a:p>
          <a:p>
            <a:pPr lvl="1"/>
            <a:r>
              <a:rPr lang="en-US" sz="2200" dirty="0"/>
              <a:t>The Hyperspace Modeling Language (HSML) uses </a:t>
            </a:r>
            <a:r>
              <a:rPr lang="en-US" sz="2200" dirty="0" err="1"/>
              <a:t>GeoPose</a:t>
            </a:r>
            <a:r>
              <a:rPr lang="en-US" sz="2200" dirty="0"/>
              <a:t> to place and orient entities in spatial domains as required by the Spatial Web standard (IEEE Std 2874-2025)</a:t>
            </a:r>
          </a:p>
          <a:p>
            <a:pPr marL="0" indent="0">
              <a:buNone/>
            </a:pPr>
            <a:endParaRPr lang="en-US" sz="2400" dirty="0"/>
          </a:p>
          <a:p>
            <a:r>
              <a:rPr lang="en-US" sz="2400" dirty="0"/>
              <a:t>Steve Smyth, OGC [Co-Chair </a:t>
            </a:r>
            <a:r>
              <a:rPr lang="en-US" sz="2400" dirty="0" err="1"/>
              <a:t>GeoPose</a:t>
            </a:r>
            <a:r>
              <a:rPr lang="en-US" sz="2400" dirty="0"/>
              <a:t> and </a:t>
            </a:r>
            <a:r>
              <a:rPr lang="en-US" sz="2400" dirty="0" err="1"/>
              <a:t>CityGML</a:t>
            </a:r>
            <a:r>
              <a:rPr lang="en-US" sz="2400" dirty="0"/>
              <a:t> SWGs], steve@opensiteplan.org, On-site.</a:t>
            </a:r>
          </a:p>
          <a:p>
            <a:pPr lvl="1"/>
            <a:r>
              <a:rPr lang="en-US" sz="2200" dirty="0"/>
              <a:t>A Khronos </a:t>
            </a:r>
            <a:r>
              <a:rPr lang="en-US" sz="2200" dirty="0" err="1"/>
              <a:t>glTF</a:t>
            </a:r>
            <a:r>
              <a:rPr lang="en-US" sz="2200" dirty="0"/>
              <a:t> 2 Extension to </a:t>
            </a:r>
            <a:r>
              <a:rPr lang="en-US" sz="2200" dirty="0" err="1"/>
              <a:t>GeoLocate</a:t>
            </a:r>
            <a:r>
              <a:rPr lang="en-US" sz="2200" dirty="0"/>
              <a:t>, Orient, and Bound </a:t>
            </a:r>
            <a:r>
              <a:rPr lang="en-US" sz="2200" dirty="0" err="1"/>
              <a:t>glTF</a:t>
            </a:r>
            <a:r>
              <a:rPr lang="en-US" sz="2200" dirty="0"/>
              <a:t> Scenes</a:t>
            </a:r>
          </a:p>
          <a:p>
            <a:pPr lvl="1"/>
            <a:r>
              <a:rPr lang="en-US" sz="2200" dirty="0"/>
              <a:t>Adding a small data object to a </a:t>
            </a:r>
            <a:r>
              <a:rPr lang="en-US" sz="2200" dirty="0" err="1"/>
              <a:t>glTF</a:t>
            </a:r>
            <a:r>
              <a:rPr lang="en-US" sz="2200" dirty="0"/>
              <a:t> scene enables collections of </a:t>
            </a:r>
            <a:r>
              <a:rPr lang="en-US" sz="2200" dirty="0" err="1"/>
              <a:t>glTF</a:t>
            </a:r>
            <a:r>
              <a:rPr lang="en-US" sz="2200" dirty="0"/>
              <a:t> Scenes to be merged in a single </a:t>
            </a:r>
            <a:r>
              <a:rPr lang="en-US" sz="2200" dirty="0" err="1"/>
              <a:t>Eath</a:t>
            </a:r>
            <a:r>
              <a:rPr lang="en-US" sz="2200" dirty="0"/>
              <a:t> reference frame.</a:t>
            </a:r>
          </a:p>
          <a:p>
            <a:pPr marL="0" indent="0">
              <a:buNone/>
            </a:pPr>
            <a:endParaRPr lang="en-US" sz="2400" dirty="0"/>
          </a:p>
          <a:p>
            <a:r>
              <a:rPr lang="en-US" sz="2400" dirty="0"/>
              <a:t>Johannes Behr, Metaverse Standard Forum, 3D Web Interoperability Co-Chair, johannes.behr@threedy.io, REMOTE,  </a:t>
            </a:r>
          </a:p>
          <a:p>
            <a:pPr lvl="1"/>
            <a:r>
              <a:rPr lang="en-US" sz="2200" dirty="0"/>
              <a:t>A Web-of-Worlds API extension for exposing geographical poses in worlds and assets. </a:t>
            </a:r>
          </a:p>
          <a:p>
            <a:pPr lvl="1"/>
            <a:r>
              <a:rPr lang="en-US" sz="2200" dirty="0"/>
              <a:t>A new schema for providing </a:t>
            </a:r>
            <a:r>
              <a:rPr lang="en-US" sz="2200" dirty="0" err="1"/>
              <a:t>geoPose</a:t>
            </a:r>
            <a:r>
              <a:rPr lang="en-US" sz="2200" dirty="0"/>
              <a:t> JSON data in </a:t>
            </a:r>
            <a:r>
              <a:rPr lang="en-US" sz="2200" dirty="0" err="1"/>
              <a:t>OpenSpatialWorld</a:t>
            </a:r>
            <a:r>
              <a:rPr lang="en-US" sz="2200" dirty="0"/>
              <a:t> and </a:t>
            </a:r>
            <a:r>
              <a:rPr lang="en-US" sz="2200" dirty="0" err="1"/>
              <a:t>OpenSpatialAsset</a:t>
            </a:r>
            <a:r>
              <a:rPr lang="en-US" sz="2200" dirty="0"/>
              <a:t> endpoints.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B721ADB-FA6A-57C6-CDFC-459611A24C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Presenters</a:t>
            </a:r>
          </a:p>
        </p:txBody>
      </p:sp>
    </p:spTree>
    <p:extLst>
      <p:ext uri="{BB962C8B-B14F-4D97-AF65-F5344CB8AC3E}">
        <p14:creationId xmlns:p14="http://schemas.microsoft.com/office/powerpoint/2010/main" val="41664843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C1D94C-0EBC-3C1C-496A-141DC7339C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2EE1C65-1072-BAE4-D948-23E436144DA7}"/>
              </a:ext>
            </a:extLst>
          </p:cNvPr>
          <p:cNvSpPr>
            <a:spLocks noGrp="1"/>
          </p:cNvSpPr>
          <p:nvPr>
            <p:ph type="body" idx="16"/>
          </p:nvPr>
        </p:nvSpPr>
        <p:spPr>
          <a:xfrm>
            <a:off x="838200" y="1866900"/>
            <a:ext cx="16598236" cy="7309047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046611A-088E-953B-0399-5AD59D0FDB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Questions/Comments/Suggestions?</a:t>
            </a:r>
          </a:p>
        </p:txBody>
      </p:sp>
    </p:spTree>
    <p:extLst>
      <p:ext uri="{BB962C8B-B14F-4D97-AF65-F5344CB8AC3E}">
        <p14:creationId xmlns:p14="http://schemas.microsoft.com/office/powerpoint/2010/main" val="33672273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F02F8C8-9474-DBA6-5C09-FB0084C560D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6282" y="9070960"/>
            <a:ext cx="6186805" cy="548831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>
                <a:solidFill>
                  <a:schemeClr val="accent3">
                    <a:lumMod val="60000"/>
                    <a:lumOff val="40000"/>
                  </a:schemeClr>
                </a:solidFill>
                <a:latin typeface="Aptos SemiBold" panose="020B0004020202020204" pitchFamily="34" charset="0"/>
                <a:hlinkClick r:id="rId2"/>
              </a:rPr>
              <a:t>www.ogc.org</a:t>
            </a:r>
            <a:endParaRPr lang="en-US" dirty="0">
              <a:solidFill>
                <a:schemeClr val="accent3">
                  <a:lumMod val="60000"/>
                  <a:lumOff val="40000"/>
                </a:schemeClr>
              </a:solidFill>
              <a:latin typeface="Aptos SemiBold" panose="020B0004020202020204" pitchFamily="34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4FC2607-90B6-1BE6-26DA-96BD3BC71D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lnSpc>
                <a:spcPts val="9800"/>
              </a:lnSpc>
            </a:pPr>
            <a:r>
              <a:rPr lang="en-US" sz="7200" dirty="0">
                <a:latin typeface="Aptos"/>
              </a:rPr>
              <a:t>THANK YOU</a:t>
            </a:r>
          </a:p>
        </p:txBody>
      </p:sp>
      <p:pic>
        <p:nvPicPr>
          <p:cNvPr id="14" name="Picture Placeholder 13">
            <a:extLst>
              <a:ext uri="{FF2B5EF4-FFF2-40B4-BE49-F238E27FC236}">
                <a16:creationId xmlns:a16="http://schemas.microsoft.com/office/drawing/2014/main" id="{99034441-C71F-F0B9-C2CF-43904F4FF5E0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47" r="47"/>
          <a:stretch/>
        </p:blipFill>
        <p:spPr/>
      </p:pic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CF619F8C-77A6-26B9-3A3A-242225BC3AAB}"/>
              </a:ext>
            </a:extLst>
          </p:cNvPr>
          <p:cNvSpPr txBox="1">
            <a:spLocks/>
          </p:cNvSpPr>
          <p:nvPr/>
        </p:nvSpPr>
        <p:spPr>
          <a:xfrm>
            <a:off x="10348594" y="9076976"/>
            <a:ext cx="6186805" cy="54883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800" b="1" i="0" kern="1200">
                <a:solidFill>
                  <a:schemeClr val="accent1">
                    <a:lumMod val="50000"/>
                  </a:schemeClr>
                </a:solidFill>
                <a:latin typeface="Aptos" panose="020B0004020202020204" pitchFamily="34" charset="0"/>
                <a:ea typeface="Noto Sans Medium" panose="020B0502040504020204" pitchFamily="34" charset="0"/>
                <a:cs typeface="Noto Sans Medium" panose="020B0502040504020204" pitchFamily="34" charset="0"/>
              </a:defRPr>
            </a:lvl1pPr>
            <a:lvl2pPr marL="457200" indent="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200" b="0" i="0" kern="1200">
                <a:solidFill>
                  <a:schemeClr val="tx1"/>
                </a:solidFill>
                <a:latin typeface="Aptos" panose="020B0004020202020204" pitchFamily="34" charset="0"/>
                <a:ea typeface="Noto Sans Medium" panose="020B0502040504020204" pitchFamily="34" charset="0"/>
                <a:cs typeface="Noto Sans Medium" panose="020B0502040504020204" pitchFamily="34" charset="0"/>
              </a:defRPr>
            </a:lvl2pPr>
            <a:lvl3pPr marL="914400" indent="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Aptos" panose="020B0004020202020204" pitchFamily="34" charset="0"/>
                <a:ea typeface="Noto Sans Medium" panose="020B0502040504020204" pitchFamily="34" charset="0"/>
                <a:cs typeface="Noto Sans Medium" panose="020B0502040504020204" pitchFamily="34" charset="0"/>
              </a:defRPr>
            </a:lvl3pPr>
            <a:lvl4pPr marL="1371600" indent="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900" b="0" i="0" kern="1200">
                <a:solidFill>
                  <a:schemeClr val="tx1"/>
                </a:solidFill>
                <a:latin typeface="Aptos" panose="020B0004020202020204" pitchFamily="34" charset="0"/>
                <a:ea typeface="Noto Sans Medium" panose="020B0502040504020204" pitchFamily="34" charset="0"/>
                <a:cs typeface="Noto Sans Medium" panose="020B0502040504020204" pitchFamily="34" charset="0"/>
              </a:defRPr>
            </a:lvl4pPr>
            <a:lvl5pPr marL="1828800" indent="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900" b="0" i="0" kern="1200">
                <a:solidFill>
                  <a:schemeClr val="tx1"/>
                </a:solidFill>
                <a:latin typeface="Aptos" panose="020B0004020202020204" pitchFamily="34" charset="0"/>
                <a:ea typeface="Noto Sans Medium" panose="020B0502040504020204" pitchFamily="34" charset="0"/>
                <a:cs typeface="Noto Sans Medium" panose="020B0502040504020204" pitchFamily="34" charset="0"/>
              </a:defRPr>
            </a:lvl5pPr>
            <a:lvl6pPr marL="2286000" indent="0" algn="l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https://metaverse-standards.org/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57D8AE4-D8DE-8E5E-CB66-113B882722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0" y="495300"/>
            <a:ext cx="4389500" cy="1219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93848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sktop version - PPT MASTER" id="{7FEBD1E3-3883-9049-8AF0-44F39D7ACA2B}" vid="{45FF2EAE-8C52-A747-9309-B2C3AB4E5FB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3D6C5B1E4575B45A67252651D547745" ma:contentTypeVersion="5" ma:contentTypeDescription="Create a new document." ma:contentTypeScope="" ma:versionID="abcbbf97e778d2459eaf06a99253d27f">
  <xsd:schema xmlns:xsd="http://www.w3.org/2001/XMLSchema" xmlns:xs="http://www.w3.org/2001/XMLSchema" xmlns:p="http://schemas.microsoft.com/office/2006/metadata/properties" xmlns:ns3="c9d48118-3257-49e8-b197-f28d09ea93e0" targetNamespace="http://schemas.microsoft.com/office/2006/metadata/properties" ma:root="true" ma:fieldsID="4ab44e5032784fa9d2a4b9a076403eae" ns3:_="">
    <xsd:import namespace="c9d48118-3257-49e8-b197-f28d09ea93e0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Tags" minOccurs="0"/>
                <xsd:element ref="ns3:MediaServiceDateTaken" minOccurs="0"/>
                <xsd:element ref="ns3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9d48118-3257-49e8-b197-f28d09ea93e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DateTaken" ma:index="11" nillable="true" ma:displayName="MediaServiceDateTaken" ma:hidden="true" ma:internalName="MediaServiceDateTaken" ma:readOnly="true">
      <xsd:simpleType>
        <xsd:restriction base="dms:Text"/>
      </xsd:simpleType>
    </xsd:element>
    <xsd:element name="MediaServiceOCR" ma:index="12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A028D80A-D8F1-4E9F-96FE-EDED6B38411B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4B83FC41-384C-4416-9A4E-6653321403C3}">
  <ds:schemaRefs>
    <ds:schemaRef ds:uri="http://schemas.openxmlformats.org/package/2006/metadata/core-properties"/>
    <ds:schemaRef ds:uri="http://purl.org/dc/elements/1.1/"/>
    <ds:schemaRef ds:uri="http://purl.org/dc/terms/"/>
    <ds:schemaRef ds:uri="http://schemas.microsoft.com/office/infopath/2007/PartnerControls"/>
    <ds:schemaRef ds:uri="http://purl.org/dc/dcmitype/"/>
    <ds:schemaRef ds:uri="http://schemas.microsoft.com/office/2006/documentManagement/types"/>
    <ds:schemaRef ds:uri="c9d48118-3257-49e8-b197-f28d09ea93e0"/>
    <ds:schemaRef ds:uri="http://schemas.microsoft.com/office/2006/metadata/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B1637B73-45C9-44F2-97E6-558EE7A2FC8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c9d48118-3257-49e8-b197-f28d09ea93e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8679</TotalTime>
  <Words>353</Words>
  <Application>Microsoft Office PowerPoint</Application>
  <PresentationFormat>Custom</PresentationFormat>
  <Paragraphs>33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Aptos SemiBold</vt:lpstr>
      <vt:lpstr>Aptos Display</vt:lpstr>
      <vt:lpstr>Calibri</vt:lpstr>
      <vt:lpstr>Aptos</vt:lpstr>
      <vt:lpstr>Arial</vt:lpstr>
      <vt:lpstr>Office Theme</vt:lpstr>
      <vt:lpstr>&lt;Presenter’s Name&gt; GeoPose Summit 27 October 2025</vt:lpstr>
      <vt:lpstr>Rely on OGC’s Authoritative Geo Focus</vt:lpstr>
      <vt:lpstr>GeoPose in Other Standards</vt:lpstr>
      <vt:lpstr>Presenters</vt:lpstr>
      <vt:lpstr>Questions/Comments/Suggestions?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Steve Smyth| OpenSitePlan 09 June 2025</dc:title>
  <dc:creator>Scott Simmons</dc:creator>
  <cp:lastModifiedBy>Steve Smyth</cp:lastModifiedBy>
  <cp:revision>59</cp:revision>
  <dcterms:created xsi:type="dcterms:W3CDTF">2025-04-29T18:14:43Z</dcterms:created>
  <dcterms:modified xsi:type="dcterms:W3CDTF">2025-10-23T21:28:59Z</dcterms:modified>
  <dc:identifier>DAGYbemYEzg</dc:identifie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0x01010043D6C5B1E4575B45A67252651D547745</vt:lpwstr>
  </property>
  <property fmtid="{D5CDD505-2E9C-101B-9397-08002B2CF9AE}" pid="3" name="MediaServiceImageTags">
    <vt:lpwstr/>
  </property>
</Properties>
</file>