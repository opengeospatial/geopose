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2"/>
  </p:notesMasterIdLst>
  <p:handoutMasterIdLst>
    <p:handoutMasterId r:id="rId13"/>
  </p:handoutMasterIdLst>
  <p:sldIdLst>
    <p:sldId id="379" r:id="rId5"/>
    <p:sldId id="432" r:id="rId6"/>
    <p:sldId id="461" r:id="rId7"/>
    <p:sldId id="464" r:id="rId8"/>
    <p:sldId id="465" r:id="rId9"/>
    <p:sldId id="466" r:id="rId10"/>
    <p:sldId id="348" r:id="rId11"/>
  </p:sldIdLst>
  <p:sldSz cx="18288000" cy="10287000"/>
  <p:notesSz cx="6858000" cy="9144000"/>
  <p:embeddedFontLst>
    <p:embeddedFont>
      <p:font typeface="Aptos SemiBold" panose="020B000402020202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3D8A3E-2763-BBE8-2B15-E74F1DB7656D}" name="Simon Chester" initials="SC" userId="S::schester@ogc.org::fefb1974-f0e7-428b-b44e-2b26a8de5167" providerId="AD"/>
  <p188:author id="{0933B96F-A88B-F1B0-C2BF-5C1F50CDD902}" name="Deepti Kala" initials="DK" userId="2b002ef7cfccb82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3BD3"/>
    <a:srgbClr val="EDF786"/>
    <a:srgbClr val="ECF456"/>
    <a:srgbClr val="1A31A0"/>
    <a:srgbClr val="1A2584"/>
    <a:srgbClr val="191CB5"/>
    <a:srgbClr val="191C71"/>
    <a:srgbClr val="261AEA"/>
    <a:srgbClr val="CAD3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3" autoAdjust="0"/>
    <p:restoredTop sz="96197" autoAdjust="0"/>
  </p:normalViewPr>
  <p:slideViewPr>
    <p:cSldViewPr>
      <p:cViewPr varScale="1">
        <p:scale>
          <a:sx n="58" d="100"/>
          <a:sy n="58" d="100"/>
        </p:scale>
        <p:origin x="499" y="2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93" d="100"/>
          <a:sy n="93" d="100"/>
        </p:scale>
        <p:origin x="3784"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07179B-905C-4FB0-8F36-1A14349F5A2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CAFE76E-9505-457F-ADE0-4257BF1B8124}">
      <dgm:prSet/>
      <dgm:spPr/>
      <dgm:t>
        <a:bodyPr/>
        <a:lstStyle/>
        <a:p>
          <a:r>
            <a:rPr lang="en-US" dirty="0"/>
            <a:t>Where we are.</a:t>
          </a:r>
        </a:p>
      </dgm:t>
    </dgm:pt>
    <dgm:pt modelId="{0027A9D7-4D00-4B2A-B7EE-090E934BD63E}" type="parTrans" cxnId="{AA7239D5-262E-46A1-AEF8-22098F15C8F1}">
      <dgm:prSet/>
      <dgm:spPr/>
      <dgm:t>
        <a:bodyPr/>
        <a:lstStyle/>
        <a:p>
          <a:endParaRPr lang="en-US"/>
        </a:p>
      </dgm:t>
    </dgm:pt>
    <dgm:pt modelId="{9E4DAEF1-F12C-4943-A3EF-DE70FB303617}" type="sibTrans" cxnId="{AA7239D5-262E-46A1-AEF8-22098F15C8F1}">
      <dgm:prSet/>
      <dgm:spPr/>
      <dgm:t>
        <a:bodyPr/>
        <a:lstStyle/>
        <a:p>
          <a:endParaRPr lang="en-US"/>
        </a:p>
      </dgm:t>
    </dgm:pt>
    <dgm:pt modelId="{9A6A81DA-0401-4F81-ADE7-E2C7352F6E15}">
      <dgm:prSet/>
      <dgm:spPr/>
      <dgm:t>
        <a:bodyPr/>
        <a:lstStyle/>
        <a:p>
          <a:r>
            <a:rPr lang="en-US" dirty="0"/>
            <a:t>What comes next.</a:t>
          </a:r>
        </a:p>
      </dgm:t>
    </dgm:pt>
    <dgm:pt modelId="{618823F5-A047-4F41-993A-D84C4C7F066F}" type="parTrans" cxnId="{0C36D1C6-54CC-4512-A5D0-84E567501A5F}">
      <dgm:prSet/>
      <dgm:spPr/>
      <dgm:t>
        <a:bodyPr/>
        <a:lstStyle/>
        <a:p>
          <a:endParaRPr lang="en-US"/>
        </a:p>
      </dgm:t>
    </dgm:pt>
    <dgm:pt modelId="{5BFB3999-B1CF-4611-80ED-996DDC240DDF}" type="sibTrans" cxnId="{0C36D1C6-54CC-4512-A5D0-84E567501A5F}">
      <dgm:prSet/>
      <dgm:spPr/>
      <dgm:t>
        <a:bodyPr/>
        <a:lstStyle/>
        <a:p>
          <a:endParaRPr lang="en-US"/>
        </a:p>
      </dgm:t>
    </dgm:pt>
    <dgm:pt modelId="{ADAD1D57-9FB0-43FD-9685-A2DEC192F48B}">
      <dgm:prSet/>
      <dgm:spPr/>
      <dgm:t>
        <a:bodyPr/>
        <a:lstStyle/>
        <a:p>
          <a:r>
            <a:rPr lang="en-US" dirty="0" err="1"/>
            <a:t>GeoPose</a:t>
          </a:r>
          <a:r>
            <a:rPr lang="en-US" dirty="0"/>
            <a:t> </a:t>
          </a:r>
          <a:r>
            <a:rPr lang="en-US" b="0" dirty="0"/>
            <a:t>links spatial content.</a:t>
          </a:r>
        </a:p>
      </dgm:t>
    </dgm:pt>
    <dgm:pt modelId="{D4716E6B-3F61-4B7B-8819-708DD05D0FB0}" type="parTrans" cxnId="{3A3910AF-1E1F-42C0-AF9B-1A71912E3DE1}">
      <dgm:prSet/>
      <dgm:spPr/>
      <dgm:t>
        <a:bodyPr/>
        <a:lstStyle/>
        <a:p>
          <a:endParaRPr lang="en-US"/>
        </a:p>
      </dgm:t>
    </dgm:pt>
    <dgm:pt modelId="{A4FF6AB0-D7CA-449F-8523-156D965088A4}" type="sibTrans" cxnId="{3A3910AF-1E1F-42C0-AF9B-1A71912E3DE1}">
      <dgm:prSet/>
      <dgm:spPr/>
      <dgm:t>
        <a:bodyPr/>
        <a:lstStyle/>
        <a:p>
          <a:endParaRPr lang="en-US"/>
        </a:p>
      </dgm:t>
    </dgm:pt>
    <dgm:pt modelId="{BCA95835-2885-46A3-B432-905F0A2C148F}" type="pres">
      <dgm:prSet presAssocID="{C207179B-905C-4FB0-8F36-1A14349F5A2F}" presName="hierChild1" presStyleCnt="0">
        <dgm:presLayoutVars>
          <dgm:chPref val="1"/>
          <dgm:dir/>
          <dgm:animOne val="branch"/>
          <dgm:animLvl val="lvl"/>
          <dgm:resizeHandles/>
        </dgm:presLayoutVars>
      </dgm:prSet>
      <dgm:spPr/>
    </dgm:pt>
    <dgm:pt modelId="{4034780F-7B08-4728-A2D8-C1D542631AFC}" type="pres">
      <dgm:prSet presAssocID="{8CAFE76E-9505-457F-ADE0-4257BF1B8124}" presName="hierRoot1" presStyleCnt="0"/>
      <dgm:spPr/>
    </dgm:pt>
    <dgm:pt modelId="{25017B52-38A7-4953-96B7-9BE7412672E7}" type="pres">
      <dgm:prSet presAssocID="{8CAFE76E-9505-457F-ADE0-4257BF1B8124}" presName="composite" presStyleCnt="0"/>
      <dgm:spPr/>
    </dgm:pt>
    <dgm:pt modelId="{D9E8DEC5-6ACE-41EA-A26E-96D1302D1F57}" type="pres">
      <dgm:prSet presAssocID="{8CAFE76E-9505-457F-ADE0-4257BF1B8124}" presName="background" presStyleLbl="node0" presStyleIdx="0" presStyleCnt="3"/>
      <dgm:spPr/>
    </dgm:pt>
    <dgm:pt modelId="{0C3913E7-4E36-418B-8F37-A1912C015640}" type="pres">
      <dgm:prSet presAssocID="{8CAFE76E-9505-457F-ADE0-4257BF1B8124}" presName="text" presStyleLbl="fgAcc0" presStyleIdx="0" presStyleCnt="3" custLinFactNeighborX="358" custLinFactNeighborY="2393">
        <dgm:presLayoutVars>
          <dgm:chPref val="3"/>
        </dgm:presLayoutVars>
      </dgm:prSet>
      <dgm:spPr/>
    </dgm:pt>
    <dgm:pt modelId="{F12C5E00-A2B3-45FE-AC34-79BFC9D15EC2}" type="pres">
      <dgm:prSet presAssocID="{8CAFE76E-9505-457F-ADE0-4257BF1B8124}" presName="hierChild2" presStyleCnt="0"/>
      <dgm:spPr/>
    </dgm:pt>
    <dgm:pt modelId="{130D1922-D0BD-4BAE-9BD8-E6E6DE3C17C4}" type="pres">
      <dgm:prSet presAssocID="{9A6A81DA-0401-4F81-ADE7-E2C7352F6E15}" presName="hierRoot1" presStyleCnt="0"/>
      <dgm:spPr/>
    </dgm:pt>
    <dgm:pt modelId="{073DC46C-047A-4D76-99BE-891DE5805CC9}" type="pres">
      <dgm:prSet presAssocID="{9A6A81DA-0401-4F81-ADE7-E2C7352F6E15}" presName="composite" presStyleCnt="0"/>
      <dgm:spPr/>
    </dgm:pt>
    <dgm:pt modelId="{EB02E32F-7AFC-498F-97AE-BB9C01D254F8}" type="pres">
      <dgm:prSet presAssocID="{9A6A81DA-0401-4F81-ADE7-E2C7352F6E15}" presName="background" presStyleLbl="node0" presStyleIdx="1" presStyleCnt="3"/>
      <dgm:spPr/>
    </dgm:pt>
    <dgm:pt modelId="{F86F224E-DEB2-4B58-934A-39C441476962}" type="pres">
      <dgm:prSet presAssocID="{9A6A81DA-0401-4F81-ADE7-E2C7352F6E15}" presName="text" presStyleLbl="fgAcc0" presStyleIdx="1" presStyleCnt="3">
        <dgm:presLayoutVars>
          <dgm:chPref val="3"/>
        </dgm:presLayoutVars>
      </dgm:prSet>
      <dgm:spPr/>
    </dgm:pt>
    <dgm:pt modelId="{3A424184-D2AC-4EA3-92D4-A0D5F7C5D863}" type="pres">
      <dgm:prSet presAssocID="{9A6A81DA-0401-4F81-ADE7-E2C7352F6E15}" presName="hierChild2" presStyleCnt="0"/>
      <dgm:spPr/>
    </dgm:pt>
    <dgm:pt modelId="{C44170CF-9050-406F-AF0A-BF4158081A95}" type="pres">
      <dgm:prSet presAssocID="{ADAD1D57-9FB0-43FD-9685-A2DEC192F48B}" presName="hierRoot1" presStyleCnt="0"/>
      <dgm:spPr/>
    </dgm:pt>
    <dgm:pt modelId="{9B6BE692-01B2-4F51-A57C-1CD9645B4BA2}" type="pres">
      <dgm:prSet presAssocID="{ADAD1D57-9FB0-43FD-9685-A2DEC192F48B}" presName="composite" presStyleCnt="0"/>
      <dgm:spPr/>
    </dgm:pt>
    <dgm:pt modelId="{CA738EE1-2A6F-424F-9681-3CCBC85D29A6}" type="pres">
      <dgm:prSet presAssocID="{ADAD1D57-9FB0-43FD-9685-A2DEC192F48B}" presName="background" presStyleLbl="node0" presStyleIdx="2" presStyleCnt="3"/>
      <dgm:spPr/>
    </dgm:pt>
    <dgm:pt modelId="{206E067B-F1A0-4B2A-97F2-58D7082A0B78}" type="pres">
      <dgm:prSet presAssocID="{ADAD1D57-9FB0-43FD-9685-A2DEC192F48B}" presName="text" presStyleLbl="fgAcc0" presStyleIdx="2" presStyleCnt="3">
        <dgm:presLayoutVars>
          <dgm:chPref val="3"/>
        </dgm:presLayoutVars>
      </dgm:prSet>
      <dgm:spPr/>
    </dgm:pt>
    <dgm:pt modelId="{23B2C8BB-0EF4-4E02-BC7C-F7671B5991F1}" type="pres">
      <dgm:prSet presAssocID="{ADAD1D57-9FB0-43FD-9685-A2DEC192F48B}" presName="hierChild2" presStyleCnt="0"/>
      <dgm:spPr/>
    </dgm:pt>
  </dgm:ptLst>
  <dgm:cxnLst>
    <dgm:cxn modelId="{3BD9E319-6902-4BAD-95A9-B1BF4279066A}" type="presOf" srcId="{ADAD1D57-9FB0-43FD-9685-A2DEC192F48B}" destId="{206E067B-F1A0-4B2A-97F2-58D7082A0B78}" srcOrd="0" destOrd="0" presId="urn:microsoft.com/office/officeart/2005/8/layout/hierarchy1"/>
    <dgm:cxn modelId="{82385D66-4DC2-4B40-8E66-8BD9C1934526}" type="presOf" srcId="{9A6A81DA-0401-4F81-ADE7-E2C7352F6E15}" destId="{F86F224E-DEB2-4B58-934A-39C441476962}" srcOrd="0" destOrd="0" presId="urn:microsoft.com/office/officeart/2005/8/layout/hierarchy1"/>
    <dgm:cxn modelId="{F2D4004E-0832-4094-A423-C47347C224EC}" type="presOf" srcId="{C207179B-905C-4FB0-8F36-1A14349F5A2F}" destId="{BCA95835-2885-46A3-B432-905F0A2C148F}" srcOrd="0" destOrd="0" presId="urn:microsoft.com/office/officeart/2005/8/layout/hierarchy1"/>
    <dgm:cxn modelId="{3A3910AF-1E1F-42C0-AF9B-1A71912E3DE1}" srcId="{C207179B-905C-4FB0-8F36-1A14349F5A2F}" destId="{ADAD1D57-9FB0-43FD-9685-A2DEC192F48B}" srcOrd="2" destOrd="0" parTransId="{D4716E6B-3F61-4B7B-8819-708DD05D0FB0}" sibTransId="{A4FF6AB0-D7CA-449F-8523-156D965088A4}"/>
    <dgm:cxn modelId="{0C36D1C6-54CC-4512-A5D0-84E567501A5F}" srcId="{C207179B-905C-4FB0-8F36-1A14349F5A2F}" destId="{9A6A81DA-0401-4F81-ADE7-E2C7352F6E15}" srcOrd="1" destOrd="0" parTransId="{618823F5-A047-4F41-993A-D84C4C7F066F}" sibTransId="{5BFB3999-B1CF-4611-80ED-996DDC240DDF}"/>
    <dgm:cxn modelId="{C03C36CA-6674-483A-BFA8-293DAF01E616}" type="presOf" srcId="{8CAFE76E-9505-457F-ADE0-4257BF1B8124}" destId="{0C3913E7-4E36-418B-8F37-A1912C015640}" srcOrd="0" destOrd="0" presId="urn:microsoft.com/office/officeart/2005/8/layout/hierarchy1"/>
    <dgm:cxn modelId="{AA7239D5-262E-46A1-AEF8-22098F15C8F1}" srcId="{C207179B-905C-4FB0-8F36-1A14349F5A2F}" destId="{8CAFE76E-9505-457F-ADE0-4257BF1B8124}" srcOrd="0" destOrd="0" parTransId="{0027A9D7-4D00-4B2A-B7EE-090E934BD63E}" sibTransId="{9E4DAEF1-F12C-4943-A3EF-DE70FB303617}"/>
    <dgm:cxn modelId="{B25615CB-45F1-4923-A2BF-7D9D102CCCB7}" type="presParOf" srcId="{BCA95835-2885-46A3-B432-905F0A2C148F}" destId="{4034780F-7B08-4728-A2D8-C1D542631AFC}" srcOrd="0" destOrd="0" presId="urn:microsoft.com/office/officeart/2005/8/layout/hierarchy1"/>
    <dgm:cxn modelId="{DC6EBF5A-938F-4C79-ADF7-EC14B43016E1}" type="presParOf" srcId="{4034780F-7B08-4728-A2D8-C1D542631AFC}" destId="{25017B52-38A7-4953-96B7-9BE7412672E7}" srcOrd="0" destOrd="0" presId="urn:microsoft.com/office/officeart/2005/8/layout/hierarchy1"/>
    <dgm:cxn modelId="{78D82F9D-2B76-43FB-9737-7A30DB21B63B}" type="presParOf" srcId="{25017B52-38A7-4953-96B7-9BE7412672E7}" destId="{D9E8DEC5-6ACE-41EA-A26E-96D1302D1F57}" srcOrd="0" destOrd="0" presId="urn:microsoft.com/office/officeart/2005/8/layout/hierarchy1"/>
    <dgm:cxn modelId="{4D6B5EC1-987E-47B6-8B10-37A646731732}" type="presParOf" srcId="{25017B52-38A7-4953-96B7-9BE7412672E7}" destId="{0C3913E7-4E36-418B-8F37-A1912C015640}" srcOrd="1" destOrd="0" presId="urn:microsoft.com/office/officeart/2005/8/layout/hierarchy1"/>
    <dgm:cxn modelId="{48AE3F46-28E4-4DAD-8D86-752E554070FB}" type="presParOf" srcId="{4034780F-7B08-4728-A2D8-C1D542631AFC}" destId="{F12C5E00-A2B3-45FE-AC34-79BFC9D15EC2}" srcOrd="1" destOrd="0" presId="urn:microsoft.com/office/officeart/2005/8/layout/hierarchy1"/>
    <dgm:cxn modelId="{25739B1C-974E-473A-81A8-02796AC27CAB}" type="presParOf" srcId="{BCA95835-2885-46A3-B432-905F0A2C148F}" destId="{130D1922-D0BD-4BAE-9BD8-E6E6DE3C17C4}" srcOrd="1" destOrd="0" presId="urn:microsoft.com/office/officeart/2005/8/layout/hierarchy1"/>
    <dgm:cxn modelId="{39501522-841B-4019-A06C-5EEE49F4485F}" type="presParOf" srcId="{130D1922-D0BD-4BAE-9BD8-E6E6DE3C17C4}" destId="{073DC46C-047A-4D76-99BE-891DE5805CC9}" srcOrd="0" destOrd="0" presId="urn:microsoft.com/office/officeart/2005/8/layout/hierarchy1"/>
    <dgm:cxn modelId="{AC8B45DB-0743-47F8-9668-D134C0831541}" type="presParOf" srcId="{073DC46C-047A-4D76-99BE-891DE5805CC9}" destId="{EB02E32F-7AFC-498F-97AE-BB9C01D254F8}" srcOrd="0" destOrd="0" presId="urn:microsoft.com/office/officeart/2005/8/layout/hierarchy1"/>
    <dgm:cxn modelId="{19E664D6-7314-4A28-B58D-29D62D4E3B78}" type="presParOf" srcId="{073DC46C-047A-4D76-99BE-891DE5805CC9}" destId="{F86F224E-DEB2-4B58-934A-39C441476962}" srcOrd="1" destOrd="0" presId="urn:microsoft.com/office/officeart/2005/8/layout/hierarchy1"/>
    <dgm:cxn modelId="{F6B82392-5851-48BA-AEBB-D55151F78A39}" type="presParOf" srcId="{130D1922-D0BD-4BAE-9BD8-E6E6DE3C17C4}" destId="{3A424184-D2AC-4EA3-92D4-A0D5F7C5D863}" srcOrd="1" destOrd="0" presId="urn:microsoft.com/office/officeart/2005/8/layout/hierarchy1"/>
    <dgm:cxn modelId="{CBC521B7-3F58-49CE-B55E-5080B5927A11}" type="presParOf" srcId="{BCA95835-2885-46A3-B432-905F0A2C148F}" destId="{C44170CF-9050-406F-AF0A-BF4158081A95}" srcOrd="2" destOrd="0" presId="urn:microsoft.com/office/officeart/2005/8/layout/hierarchy1"/>
    <dgm:cxn modelId="{43F5FE8D-2638-427F-9810-F94F96115B28}" type="presParOf" srcId="{C44170CF-9050-406F-AF0A-BF4158081A95}" destId="{9B6BE692-01B2-4F51-A57C-1CD9645B4BA2}" srcOrd="0" destOrd="0" presId="urn:microsoft.com/office/officeart/2005/8/layout/hierarchy1"/>
    <dgm:cxn modelId="{3653635B-C013-4216-B0D9-434C021AC54F}" type="presParOf" srcId="{9B6BE692-01B2-4F51-A57C-1CD9645B4BA2}" destId="{CA738EE1-2A6F-424F-9681-3CCBC85D29A6}" srcOrd="0" destOrd="0" presId="urn:microsoft.com/office/officeart/2005/8/layout/hierarchy1"/>
    <dgm:cxn modelId="{92CBD077-1880-43EA-B968-49F0CBE4E7AB}" type="presParOf" srcId="{9B6BE692-01B2-4F51-A57C-1CD9645B4BA2}" destId="{206E067B-F1A0-4B2A-97F2-58D7082A0B78}" srcOrd="1" destOrd="0" presId="urn:microsoft.com/office/officeart/2005/8/layout/hierarchy1"/>
    <dgm:cxn modelId="{BC7B1FB3-2328-4360-B8B2-76A31501F9BC}" type="presParOf" srcId="{C44170CF-9050-406F-AF0A-BF4158081A95}" destId="{23B2C8BB-0EF4-4E02-BC7C-F7671B5991F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8DEC5-6ACE-41EA-A26E-96D1302D1F57}">
      <dsp:nvSpPr>
        <dsp:cNvPr id="0" name=""/>
        <dsp:cNvSpPr/>
      </dsp:nvSpPr>
      <dsp:spPr>
        <a:xfrm>
          <a:off x="14270" y="1848974"/>
          <a:ext cx="3986212" cy="253124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3913E7-4E36-418B-8F37-A1912C015640}">
      <dsp:nvSpPr>
        <dsp:cNvPr id="0" name=""/>
        <dsp:cNvSpPr/>
      </dsp:nvSpPr>
      <dsp:spPr>
        <a:xfrm>
          <a:off x="457183" y="2269741"/>
          <a:ext cx="3986212" cy="253124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Where we are.</a:t>
          </a:r>
        </a:p>
      </dsp:txBody>
      <dsp:txXfrm>
        <a:off x="531321" y="2343879"/>
        <a:ext cx="3837936" cy="2382968"/>
      </dsp:txXfrm>
    </dsp:sp>
    <dsp:sp modelId="{EB02E32F-7AFC-498F-97AE-BB9C01D254F8}">
      <dsp:nvSpPr>
        <dsp:cNvPr id="0" name=""/>
        <dsp:cNvSpPr/>
      </dsp:nvSpPr>
      <dsp:spPr>
        <a:xfrm>
          <a:off x="4872037" y="1788402"/>
          <a:ext cx="3986212" cy="253124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6F224E-DEB2-4B58-934A-39C441476962}">
      <dsp:nvSpPr>
        <dsp:cNvPr id="0" name=""/>
        <dsp:cNvSpPr/>
      </dsp:nvSpPr>
      <dsp:spPr>
        <a:xfrm>
          <a:off x="5314949" y="2209168"/>
          <a:ext cx="3986212" cy="253124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What comes next.</a:t>
          </a:r>
        </a:p>
      </dsp:txBody>
      <dsp:txXfrm>
        <a:off x="5389087" y="2283306"/>
        <a:ext cx="3837936" cy="2382968"/>
      </dsp:txXfrm>
    </dsp:sp>
    <dsp:sp modelId="{CA738EE1-2A6F-424F-9681-3CCBC85D29A6}">
      <dsp:nvSpPr>
        <dsp:cNvPr id="0" name=""/>
        <dsp:cNvSpPr/>
      </dsp:nvSpPr>
      <dsp:spPr>
        <a:xfrm>
          <a:off x="9744074" y="1788402"/>
          <a:ext cx="3986212" cy="253124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6E067B-F1A0-4B2A-97F2-58D7082A0B78}">
      <dsp:nvSpPr>
        <dsp:cNvPr id="0" name=""/>
        <dsp:cNvSpPr/>
      </dsp:nvSpPr>
      <dsp:spPr>
        <a:xfrm>
          <a:off x="10186987" y="2209168"/>
          <a:ext cx="3986212" cy="253124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err="1"/>
            <a:t>GeoPose</a:t>
          </a:r>
          <a:r>
            <a:rPr lang="en-US" sz="4800" kern="1200" dirty="0"/>
            <a:t> </a:t>
          </a:r>
          <a:r>
            <a:rPr lang="en-US" sz="4800" b="0" kern="1200" dirty="0"/>
            <a:t>links spatial content.</a:t>
          </a:r>
        </a:p>
      </dsp:txBody>
      <dsp:txXfrm>
        <a:off x="10261125" y="2283306"/>
        <a:ext cx="3837936" cy="238296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2EF98C-C3F1-EA29-7B47-8E3A0A8702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8AF560-0EC2-50D5-DE42-C7440E243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28D1E4-4BBA-6F41-9D9B-7C498DFA1119}" type="datetimeFigureOut">
              <a:rPr lang="en-US" smtClean="0"/>
              <a:t>10/20/2025</a:t>
            </a:fld>
            <a:endParaRPr lang="en-US"/>
          </a:p>
        </p:txBody>
      </p:sp>
      <p:sp>
        <p:nvSpPr>
          <p:cNvPr id="4" name="Footer Placeholder 3">
            <a:extLst>
              <a:ext uri="{FF2B5EF4-FFF2-40B4-BE49-F238E27FC236}">
                <a16:creationId xmlns:a16="http://schemas.microsoft.com/office/drawing/2014/main" id="{29B18C8C-72F6-C0BC-D6B9-F9F0ACDBDC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3F2DF8-0D80-D9E8-E1BF-F78D65111D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DD2C68-F934-1540-BB6F-D78EF71B2103}" type="slidenum">
              <a:rPr lang="en-US" smtClean="0"/>
              <a:t>‹#›</a:t>
            </a:fld>
            <a:endParaRPr lang="en-US"/>
          </a:p>
        </p:txBody>
      </p:sp>
    </p:spTree>
    <p:extLst>
      <p:ext uri="{BB962C8B-B14F-4D97-AF65-F5344CB8AC3E}">
        <p14:creationId xmlns:p14="http://schemas.microsoft.com/office/powerpoint/2010/main" val="126349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ABE01-8AD2-744F-9651-CCC9DC857332}"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575CF-62AD-8041-932F-56D977C8CDA1}" type="slidenum">
              <a:rPr lang="en-US" smtClean="0"/>
              <a:t>‹#›</a:t>
            </a:fld>
            <a:endParaRPr lang="en-US"/>
          </a:p>
        </p:txBody>
      </p:sp>
    </p:spTree>
    <p:extLst>
      <p:ext uri="{BB962C8B-B14F-4D97-AF65-F5344CB8AC3E}">
        <p14:creationId xmlns:p14="http://schemas.microsoft.com/office/powerpoint/2010/main" val="3886400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12.svg"/><Relationship Id="rId2" Type="http://schemas.openxmlformats.org/officeDocument/2006/relationships/hyperlink" Target="https://www.linkedin.com/company/open-geospatial-consortium/" TargetMode="External"/><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hyperlink" Target="https://www.youtube.com/@opengeospatial" TargetMode="External"/><Relationship Id="rId10" Type="http://schemas.openxmlformats.org/officeDocument/2006/relationships/image" Target="../media/image14.png"/><Relationship Id="rId4" Type="http://schemas.openxmlformats.org/officeDocument/2006/relationships/image" Target="../media/image10.svg"/><Relationship Id="rId9" Type="http://schemas.openxmlformats.org/officeDocument/2006/relationships/image" Target="../media/image1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2">
    <p:bg>
      <p:bgPr>
        <a:solidFill>
          <a:srgbClr val="1A258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1DD0F2-3B07-4CD9-C9D4-BD975901978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73024" y="0"/>
            <a:ext cx="18361023" cy="10287000"/>
          </a:xfrm>
          <a:prstGeom prst="rect">
            <a:avLst/>
          </a:prstGeom>
        </p:spPr>
      </p:pic>
      <p:sp>
        <p:nvSpPr>
          <p:cNvPr id="11" name="Rectangle 10">
            <a:extLst>
              <a:ext uri="{FF2B5EF4-FFF2-40B4-BE49-F238E27FC236}">
                <a16:creationId xmlns:a16="http://schemas.microsoft.com/office/drawing/2014/main" id="{19309EC5-8A84-9079-0A32-DD694DDB84E2}"/>
              </a:ext>
            </a:extLst>
          </p:cNvPr>
          <p:cNvSpPr/>
          <p:nvPr userDrawn="1"/>
        </p:nvSpPr>
        <p:spPr>
          <a:xfrm>
            <a:off x="762000" y="8343900"/>
            <a:ext cx="152400" cy="1219200"/>
          </a:xfrm>
          <a:prstGeom prst="rect">
            <a:avLst/>
          </a:prstGeom>
          <a:solidFill>
            <a:srgbClr val="D6E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6">
            <a:extLst>
              <a:ext uri="{FF2B5EF4-FFF2-40B4-BE49-F238E27FC236}">
                <a16:creationId xmlns:a16="http://schemas.microsoft.com/office/drawing/2014/main" id="{70D2371B-9266-15FA-FC2A-1708C7327F22}"/>
              </a:ext>
            </a:extLst>
          </p:cNvPr>
          <p:cNvSpPr>
            <a:spLocks noGrp="1"/>
          </p:cNvSpPr>
          <p:nvPr>
            <p:ph type="body" sz="quarter" idx="11" hasCustomPrompt="1"/>
          </p:nvPr>
        </p:nvSpPr>
        <p:spPr>
          <a:xfrm>
            <a:off x="781878" y="4229100"/>
            <a:ext cx="9525000" cy="2209800"/>
          </a:xfrm>
        </p:spPr>
        <p:txBody>
          <a:bodyPr anchor="ctr">
            <a:noAutofit/>
          </a:bodyPr>
          <a:lstStyle>
            <a:lvl1pPr marL="0" indent="0">
              <a:lnSpc>
                <a:spcPts val="7340"/>
              </a:lnSpc>
              <a:buNone/>
              <a:defRPr sz="7500" b="0" i="0">
                <a:solidFill>
                  <a:schemeClr val="bg1"/>
                </a:solidFill>
                <a:latin typeface="Aptos" panose="020B0004020202020204" pitchFamily="34" charset="0"/>
              </a:defRPr>
            </a:lvl1pPr>
          </a:lstStyle>
          <a:p>
            <a:pPr lvl="0"/>
            <a:r>
              <a:rPr lang="en-GB" dirty="0"/>
              <a:t>OPEN GEOSPATIAL CONSORTIUM</a:t>
            </a:r>
            <a:endParaRPr lang="en-US" dirty="0"/>
          </a:p>
        </p:txBody>
      </p:sp>
      <p:sp>
        <p:nvSpPr>
          <p:cNvPr id="10" name="Text Placeholder 6">
            <a:extLst>
              <a:ext uri="{FF2B5EF4-FFF2-40B4-BE49-F238E27FC236}">
                <a16:creationId xmlns:a16="http://schemas.microsoft.com/office/drawing/2014/main" id="{1BD5B0C9-DE43-2451-ECE2-D1E27B88CECC}"/>
              </a:ext>
            </a:extLst>
          </p:cNvPr>
          <p:cNvSpPr>
            <a:spLocks noGrp="1"/>
          </p:cNvSpPr>
          <p:nvPr>
            <p:ph type="body" sz="quarter" idx="12" hasCustomPrompt="1"/>
          </p:nvPr>
        </p:nvSpPr>
        <p:spPr>
          <a:xfrm>
            <a:off x="781878" y="3253711"/>
            <a:ext cx="4533901" cy="955104"/>
          </a:xfrm>
        </p:spPr>
        <p:txBody>
          <a:bodyPr anchor="t">
            <a:noAutofit/>
          </a:bodyPr>
          <a:lstStyle>
            <a:lvl1pPr marL="0" indent="0">
              <a:lnSpc>
                <a:spcPts val="7340"/>
              </a:lnSpc>
              <a:buNone/>
              <a:defRPr sz="13300" b="1" i="0">
                <a:solidFill>
                  <a:schemeClr val="bg1"/>
                </a:solidFill>
                <a:latin typeface="Aptos" panose="020B0004020202020204" pitchFamily="34" charset="0"/>
              </a:defRPr>
            </a:lvl1pPr>
          </a:lstStyle>
          <a:p>
            <a:pPr lvl="0"/>
            <a:r>
              <a:rPr lang="en-GB" dirty="0"/>
              <a:t>OGC</a:t>
            </a:r>
            <a:endParaRPr lang="en-US" dirty="0"/>
          </a:p>
        </p:txBody>
      </p:sp>
      <p:sp>
        <p:nvSpPr>
          <p:cNvPr id="2" name="Title 1">
            <a:extLst>
              <a:ext uri="{FF2B5EF4-FFF2-40B4-BE49-F238E27FC236}">
                <a16:creationId xmlns:a16="http://schemas.microsoft.com/office/drawing/2014/main" id="{68D9D9D9-ACF1-FDFC-9EA3-26D0F3C2214A}"/>
              </a:ext>
            </a:extLst>
          </p:cNvPr>
          <p:cNvSpPr>
            <a:spLocks noGrp="1"/>
          </p:cNvSpPr>
          <p:nvPr>
            <p:ph type="title" hasCustomPrompt="1"/>
          </p:nvPr>
        </p:nvSpPr>
        <p:spPr>
          <a:xfrm>
            <a:off x="990600" y="8479631"/>
            <a:ext cx="5486400" cy="947738"/>
          </a:xfrm>
        </p:spPr>
        <p:txBody>
          <a:bodyPr anchor="b"/>
          <a:lstStyle>
            <a:lvl1pPr algn="l">
              <a:lnSpc>
                <a:spcPts val="3700"/>
              </a:lnSpc>
              <a:defRPr sz="2500" b="0">
                <a:solidFill>
                  <a:schemeClr val="bg1"/>
                </a:solidFill>
              </a:defRPr>
            </a:lvl1pPr>
          </a:lstStyle>
          <a:p>
            <a:r>
              <a:rPr lang="en-US" dirty="0"/>
              <a:t>NAME OF PERSON</a:t>
            </a:r>
            <a:br>
              <a:rPr lang="en-US" dirty="0"/>
            </a:br>
            <a:r>
              <a:rPr lang="en-US" dirty="0"/>
              <a:t>YYYY/MM/DD</a:t>
            </a:r>
          </a:p>
        </p:txBody>
      </p:sp>
      <p:pic>
        <p:nvPicPr>
          <p:cNvPr id="3" name="Graphic 2">
            <a:extLst>
              <a:ext uri="{FF2B5EF4-FFF2-40B4-BE49-F238E27FC236}">
                <a16:creationId xmlns:a16="http://schemas.microsoft.com/office/drawing/2014/main" id="{ED6684FE-59EA-B16B-2A79-6A7F5F5A7AC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328" y="547189"/>
            <a:ext cx="1154872" cy="1154872"/>
          </a:xfrm>
          <a:prstGeom prst="rect">
            <a:avLst/>
          </a:prstGeom>
        </p:spPr>
      </p:pic>
    </p:spTree>
    <p:extLst>
      <p:ext uri="{BB962C8B-B14F-4D97-AF65-F5344CB8AC3E}">
        <p14:creationId xmlns:p14="http://schemas.microsoft.com/office/powerpoint/2010/main" val="194541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ullet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4324800-CFC8-4CF1-B297-52EC07618F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2" name="Text Placeholder 2">
            <a:extLst>
              <a:ext uri="{FF2B5EF4-FFF2-40B4-BE49-F238E27FC236}">
                <a16:creationId xmlns:a16="http://schemas.microsoft.com/office/drawing/2014/main" id="{50E63C18-4494-429D-C7BD-8F1E6789EF1E}"/>
              </a:ext>
            </a:extLst>
          </p:cNvPr>
          <p:cNvSpPr>
            <a:spLocks noGrp="1"/>
          </p:cNvSpPr>
          <p:nvPr>
            <p:ph type="body" idx="16"/>
          </p:nvPr>
        </p:nvSpPr>
        <p:spPr>
          <a:xfrm>
            <a:off x="838200" y="2322444"/>
            <a:ext cx="16598236" cy="6853503"/>
          </a:xfrm>
        </p:spPr>
        <p:txBody>
          <a:bodyPr anchor="t">
            <a:noAutofit/>
          </a:bodyPr>
          <a:lstStyle>
            <a:lvl1pPr marL="342900" indent="-342900">
              <a:buFont typeface="Arial" panose="020B0604020202020204" pitchFamily="34" charset="0"/>
              <a:buChar char="•"/>
              <a:defRPr sz="3000" b="0" i="0">
                <a:solidFill>
                  <a:schemeClr val="tx1"/>
                </a:solidFill>
                <a:latin typeface="Aptos" panose="020B0004020202020204" pitchFamily="34" charset="0"/>
              </a:defRPr>
            </a:lvl1pPr>
            <a:lvl2pPr marL="742950" indent="-285750">
              <a:buFont typeface="Arial" panose="020B0604020202020204" pitchFamily="34" charset="0"/>
              <a:buChar char="•"/>
              <a:defRPr sz="2800">
                <a:solidFill>
                  <a:schemeClr val="tx1"/>
                </a:solidFill>
              </a:defRPr>
            </a:lvl2pPr>
            <a:lvl3pPr marL="1200150" indent="-285750">
              <a:buFont typeface="Arial" panose="020B0604020202020204" pitchFamily="34" charset="0"/>
              <a:buChar char="•"/>
              <a:defRPr sz="2800">
                <a:solidFill>
                  <a:schemeClr val="tx1"/>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4" name="Title 1">
            <a:extLst>
              <a:ext uri="{FF2B5EF4-FFF2-40B4-BE49-F238E27FC236}">
                <a16:creationId xmlns:a16="http://schemas.microsoft.com/office/drawing/2014/main" id="{CC4D061A-9182-0E47-58BB-1394889710DD}"/>
              </a:ext>
            </a:extLst>
          </p:cNvPr>
          <p:cNvSpPr>
            <a:spLocks noGrp="1"/>
          </p:cNvSpPr>
          <p:nvPr>
            <p:ph type="title"/>
          </p:nvPr>
        </p:nvSpPr>
        <p:spPr>
          <a:xfrm>
            <a:off x="863080" y="555036"/>
            <a:ext cx="16573356" cy="916056"/>
          </a:xfrm>
        </p:spPr>
        <p:txBody>
          <a:bodyPr anchor="ctr"/>
          <a:lstStyle>
            <a:lvl1pPr>
              <a:lnSpc>
                <a:spcPts val="4100"/>
              </a:lnSpc>
              <a:defRPr sz="4200">
                <a:solidFill>
                  <a:srgbClr val="263BD3"/>
                </a:solidFill>
              </a:defRPr>
            </a:lvl1pPr>
          </a:lstStyle>
          <a:p>
            <a:endParaRPr lang="en-US" dirty="0"/>
          </a:p>
        </p:txBody>
      </p:sp>
      <p:sp>
        <p:nvSpPr>
          <p:cNvPr id="6" name="Rectangle 5">
            <a:extLst>
              <a:ext uri="{FF2B5EF4-FFF2-40B4-BE49-F238E27FC236}">
                <a16:creationId xmlns:a16="http://schemas.microsoft.com/office/drawing/2014/main" id="{BDB5ECD6-ECF9-90A5-110C-BF2E6CC263AA}"/>
              </a:ext>
            </a:extLst>
          </p:cNvPr>
          <p:cNvSpPr/>
          <p:nvPr userDrawn="1"/>
        </p:nvSpPr>
        <p:spPr>
          <a:xfrm rot="16200000">
            <a:off x="-178533" y="572374"/>
            <a:ext cx="1149261"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hape&#10;&#10;Description automatically generated with medium confidence">
            <a:extLst>
              <a:ext uri="{FF2B5EF4-FFF2-40B4-BE49-F238E27FC236}">
                <a16:creationId xmlns:a16="http://schemas.microsoft.com/office/drawing/2014/main" id="{C1AF7A7B-5F01-B0D5-6D4A-6D583D50D30A}"/>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4578272" y="9334997"/>
            <a:ext cx="2858164" cy="793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794653"/>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1">
    <p:bg>
      <p:bgRef idx="1002">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75991E-3D80-1093-0B9E-40DD452E6206}"/>
              </a:ext>
            </a:extLst>
          </p:cNvPr>
          <p:cNvSpPr/>
          <p:nvPr userDrawn="1"/>
        </p:nvSpPr>
        <p:spPr>
          <a:xfrm>
            <a:off x="0" y="-30843"/>
            <a:ext cx="18288000" cy="10286999"/>
          </a:xfrm>
          <a:prstGeom prst="rect">
            <a:avLst/>
          </a:prstGeom>
          <a:gradFill flip="none" rotWithShape="1">
            <a:gsLst>
              <a:gs pos="8000">
                <a:srgbClr val="263BD3"/>
              </a:gs>
              <a:gs pos="80000">
                <a:srgbClr val="1A2584"/>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4B08F70-9A8A-1BA7-803F-99BBD0A32D8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rgbClr val="FFFFFF"/>
                </a:solidFill>
                <a:latin typeface="Aptos" panose="020B0004020202020204" pitchFamily="34" charset="0"/>
              </a:defRPr>
            </a:lvl1pPr>
          </a:lstStyle>
          <a:p>
            <a:r>
              <a:rPr lang="en-US" dirty="0"/>
              <a:t>Main Subject Headline Click To Add Content</a:t>
            </a:r>
          </a:p>
        </p:txBody>
      </p:sp>
      <p:pic>
        <p:nvPicPr>
          <p:cNvPr id="9" name="Picture 8" descr="A green globe with blue and yellow lines&#10;&#10;Description automatically generated">
            <a:extLst>
              <a:ext uri="{FF2B5EF4-FFF2-40B4-BE49-F238E27FC236}">
                <a16:creationId xmlns:a16="http://schemas.microsoft.com/office/drawing/2014/main" id="{3ACEB540-D319-D15F-94E4-6EB8FA97CA5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713672" y="3225248"/>
            <a:ext cx="11601450" cy="7061752"/>
          </a:xfrm>
          <a:prstGeom prst="rect">
            <a:avLst/>
          </a:prstGeom>
        </p:spPr>
      </p:pic>
      <p:pic>
        <p:nvPicPr>
          <p:cNvPr id="2" name="Graphic 1">
            <a:extLst>
              <a:ext uri="{FF2B5EF4-FFF2-40B4-BE49-F238E27FC236}">
                <a16:creationId xmlns:a16="http://schemas.microsoft.com/office/drawing/2014/main" id="{3DC18C82-B48C-86A4-AE95-988D03A9D1BF}"/>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43736" y="482666"/>
            <a:ext cx="1010864" cy="1010864"/>
          </a:xfrm>
          <a:prstGeom prst="rect">
            <a:avLst/>
          </a:prstGeom>
        </p:spPr>
      </p:pic>
      <p:pic>
        <p:nvPicPr>
          <p:cNvPr id="4" name="Picture 3" descr="A logo for a company&#10;&#10;AI-generated content may be incorrect.">
            <a:extLst>
              <a:ext uri="{FF2B5EF4-FFF2-40B4-BE49-F238E27FC236}">
                <a16:creationId xmlns:a16="http://schemas.microsoft.com/office/drawing/2014/main" id="{65EDFFFD-3062-C0CA-A962-E1493002FC8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787653" y="548024"/>
            <a:ext cx="1519147" cy="1367232"/>
          </a:xfrm>
          <a:prstGeom prst="rect">
            <a:avLst/>
          </a:prstGeom>
        </p:spPr>
      </p:pic>
    </p:spTree>
    <p:extLst>
      <p:ext uri="{BB962C8B-B14F-4D97-AF65-F5344CB8AC3E}">
        <p14:creationId xmlns:p14="http://schemas.microsoft.com/office/powerpoint/2010/main" val="80022094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rgbClr val="E1F0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A0BC1B-E121-22F6-EA4F-315A21DADD34}"/>
              </a:ext>
            </a:extLst>
          </p:cNvPr>
          <p:cNvSpPr/>
          <p:nvPr userDrawn="1"/>
        </p:nvSpPr>
        <p:spPr>
          <a:xfrm>
            <a:off x="0" y="-4313"/>
            <a:ext cx="18266434" cy="10286999"/>
          </a:xfrm>
          <a:prstGeom prst="rect">
            <a:avLst/>
          </a:prstGeom>
          <a:gradFill>
            <a:gsLst>
              <a:gs pos="24000">
                <a:schemeClr val="bg1"/>
              </a:gs>
              <a:gs pos="100000">
                <a:srgbClr val="A3C3FF"/>
              </a:gs>
              <a:gs pos="77000">
                <a:srgbClr val="D3E4FF"/>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a:t>OPEN GEOSPATIAL CONSORTIUM</a:t>
            </a:r>
            <a:endParaRPr lang="en-US" dirty="0"/>
          </a:p>
        </p:txBody>
      </p:sp>
      <p:sp>
        <p:nvSpPr>
          <p:cNvPr id="3" name="Rectangle 2">
            <a:extLst>
              <a:ext uri="{FF2B5EF4-FFF2-40B4-BE49-F238E27FC236}">
                <a16:creationId xmlns:a16="http://schemas.microsoft.com/office/drawing/2014/main" id="{7EF978E1-8A8E-5738-7509-37BA651F49E3}"/>
              </a:ext>
            </a:extLst>
          </p:cNvPr>
          <p:cNvSpPr/>
          <p:nvPr userDrawn="1"/>
        </p:nvSpPr>
        <p:spPr>
          <a:xfrm>
            <a:off x="17527150" y="8420100"/>
            <a:ext cx="739284" cy="1862584"/>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CBAD72-8B13-ACB0-75FF-44382C60299A}"/>
              </a:ext>
            </a:extLst>
          </p:cNvPr>
          <p:cNvSpPr/>
          <p:nvPr userDrawn="1"/>
        </p:nvSpPr>
        <p:spPr>
          <a:xfrm>
            <a:off x="21566" y="8420100"/>
            <a:ext cx="9122434" cy="192189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3">
            <a:extLst>
              <a:ext uri="{FF2B5EF4-FFF2-40B4-BE49-F238E27FC236}">
                <a16:creationId xmlns:a16="http://schemas.microsoft.com/office/drawing/2014/main" id="{F7C539DE-7351-F083-BA2A-B4218EFAE00D}"/>
              </a:ext>
            </a:extLst>
          </p:cNvPr>
          <p:cNvSpPr>
            <a:spLocks noGrp="1"/>
          </p:cNvSpPr>
          <p:nvPr>
            <p:ph type="body" sz="half" idx="2" hasCustomPrompt="1"/>
          </p:nvPr>
        </p:nvSpPr>
        <p:spPr>
          <a:xfrm>
            <a:off x="10348594" y="9076976"/>
            <a:ext cx="6186805" cy="548831"/>
          </a:xfrm>
        </p:spPr>
        <p:txBody>
          <a:bodyPr>
            <a:noAutofit/>
          </a:bodyPr>
          <a:lstStyle>
            <a:lvl1pPr marL="0" indent="0">
              <a:buNone/>
              <a:defRPr sz="2800" b="1" i="0">
                <a:solidFill>
                  <a:schemeClr val="accent1">
                    <a:lumMod val="50000"/>
                  </a:schemeClr>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https://metaverse-standards.org/</a:t>
            </a:r>
          </a:p>
        </p:txBody>
      </p:sp>
      <p:sp>
        <p:nvSpPr>
          <p:cNvPr id="6" name="Title 1">
            <a:extLst>
              <a:ext uri="{FF2B5EF4-FFF2-40B4-BE49-F238E27FC236}">
                <a16:creationId xmlns:a16="http://schemas.microsoft.com/office/drawing/2014/main" id="{E34B6E06-9D16-BF9D-CD4A-43497B2A63E1}"/>
              </a:ext>
            </a:extLst>
          </p:cNvPr>
          <p:cNvSpPr>
            <a:spLocks noGrp="1"/>
          </p:cNvSpPr>
          <p:nvPr>
            <p:ph type="title" hasCustomPrompt="1"/>
          </p:nvPr>
        </p:nvSpPr>
        <p:spPr>
          <a:xfrm>
            <a:off x="658314" y="3486090"/>
            <a:ext cx="7634039" cy="2495610"/>
          </a:xfrm>
        </p:spPr>
        <p:txBody>
          <a:bodyPr anchor="t"/>
          <a:lstStyle>
            <a:lvl1pPr algn="l">
              <a:lnSpc>
                <a:spcPts val="9900"/>
              </a:lnSpc>
              <a:defRPr sz="12300" b="0" i="0" cap="none">
                <a:solidFill>
                  <a:schemeClr val="accent1">
                    <a:lumMod val="75000"/>
                  </a:schemeClr>
                </a:solidFill>
                <a:latin typeface="Aptos Display" panose="020B0004020202020204" pitchFamily="34" charset="0"/>
              </a:defRPr>
            </a:lvl1pPr>
          </a:lstStyle>
          <a:p>
            <a:r>
              <a:rPr lang="en-US" dirty="0"/>
              <a:t>THANK</a:t>
            </a:r>
            <a:br>
              <a:rPr lang="en-US" dirty="0"/>
            </a:br>
            <a:r>
              <a:rPr lang="en-US" dirty="0"/>
              <a:t>YOU</a:t>
            </a:r>
          </a:p>
        </p:txBody>
      </p:sp>
      <p:pic>
        <p:nvPicPr>
          <p:cNvPr id="23" name="Graphic 22">
            <a:hlinkClick r:id="rId2"/>
            <a:extLst>
              <a:ext uri="{FF2B5EF4-FFF2-40B4-BE49-F238E27FC236}">
                <a16:creationId xmlns:a16="http://schemas.microsoft.com/office/drawing/2014/main" id="{5E80DEB9-7302-517D-D762-3B89B5331F45}"/>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463553" y="9115879"/>
            <a:ext cx="444357" cy="434969"/>
          </a:xfrm>
          <a:prstGeom prst="rect">
            <a:avLst/>
          </a:prstGeom>
        </p:spPr>
      </p:pic>
      <p:pic>
        <p:nvPicPr>
          <p:cNvPr id="25" name="Graphic 24">
            <a:hlinkClick r:id="rId5"/>
            <a:extLst>
              <a:ext uri="{FF2B5EF4-FFF2-40B4-BE49-F238E27FC236}">
                <a16:creationId xmlns:a16="http://schemas.microsoft.com/office/drawing/2014/main" id="{A4425F64-9AB7-B578-8507-9BE7A01DC9D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682188" y="9132679"/>
            <a:ext cx="610165" cy="434969"/>
          </a:xfrm>
          <a:prstGeom prst="rect">
            <a:avLst/>
          </a:prstGeom>
        </p:spPr>
      </p:pic>
      <p:cxnSp>
        <p:nvCxnSpPr>
          <p:cNvPr id="27" name="Straight Connector 26">
            <a:extLst>
              <a:ext uri="{FF2B5EF4-FFF2-40B4-BE49-F238E27FC236}">
                <a16:creationId xmlns:a16="http://schemas.microsoft.com/office/drawing/2014/main" id="{AC3AF3DD-E3F8-963A-7CE5-12FE73E6470F}"/>
              </a:ext>
            </a:extLst>
          </p:cNvPr>
          <p:cNvCxnSpPr/>
          <p:nvPr userDrawn="1"/>
        </p:nvCxnSpPr>
        <p:spPr>
          <a:xfrm>
            <a:off x="7288658" y="9041162"/>
            <a:ext cx="0" cy="623548"/>
          </a:xfrm>
          <a:prstGeom prst="line">
            <a:avLst/>
          </a:prstGeom>
          <a:ln w="19050">
            <a:solidFill>
              <a:srgbClr val="7FAEFF"/>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B234AFB3-C66F-E10A-4295-C25CBF9E1409}"/>
              </a:ext>
            </a:extLst>
          </p:cNvPr>
          <p:cNvPicPr>
            <a:picLocks noChangeAspect="1"/>
          </p:cNvPicPr>
          <p:nvPr userDrawn="1"/>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447" y="591482"/>
            <a:ext cx="1154872" cy="1154872"/>
          </a:xfrm>
          <a:prstGeom prst="rect">
            <a:avLst/>
          </a:prstGeom>
        </p:spPr>
      </p:pic>
      <p:sp>
        <p:nvSpPr>
          <p:cNvPr id="15" name="Picture Placeholder 14">
            <a:extLst>
              <a:ext uri="{FF2B5EF4-FFF2-40B4-BE49-F238E27FC236}">
                <a16:creationId xmlns:a16="http://schemas.microsoft.com/office/drawing/2014/main" id="{02987B79-8C56-226E-FF8F-C1A6BFA690F1}"/>
              </a:ext>
            </a:extLst>
          </p:cNvPr>
          <p:cNvSpPr>
            <a:spLocks noGrp="1"/>
          </p:cNvSpPr>
          <p:nvPr>
            <p:ph type="pic" sz="quarter" idx="10"/>
          </p:nvPr>
        </p:nvSpPr>
        <p:spPr>
          <a:xfrm>
            <a:off x="9144000" y="4763"/>
            <a:ext cx="8383588" cy="8415337"/>
          </a:xfrm>
          <a:solidFill>
            <a:schemeClr val="accent2">
              <a:lumMod val="50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BF07DECD-7DA5-F57F-96E0-B3EF39640E98}"/>
              </a:ext>
            </a:extLst>
          </p:cNvPr>
          <p:cNvPicPr>
            <a:picLocks noChangeAspect="1"/>
          </p:cNvPicPr>
          <p:nvPr userDrawn="1"/>
        </p:nvPicPr>
        <p:blipFill>
          <a:blip r:embed="rId10"/>
          <a:stretch>
            <a:fillRect/>
          </a:stretch>
        </p:blipFill>
        <p:spPr>
          <a:xfrm>
            <a:off x="9829800" y="678437"/>
            <a:ext cx="4038600" cy="1121834"/>
          </a:xfrm>
          <a:prstGeom prst="rect">
            <a:avLst/>
          </a:prstGeom>
        </p:spPr>
      </p:pic>
      <p:sp>
        <p:nvSpPr>
          <p:cNvPr id="9" name="Text Placeholder 3">
            <a:extLst>
              <a:ext uri="{FF2B5EF4-FFF2-40B4-BE49-F238E27FC236}">
                <a16:creationId xmlns:a16="http://schemas.microsoft.com/office/drawing/2014/main" id="{47F433F3-91BD-D60C-6FFB-09D905AA1BC1}"/>
              </a:ext>
            </a:extLst>
          </p:cNvPr>
          <p:cNvSpPr>
            <a:spLocks noGrp="1"/>
          </p:cNvSpPr>
          <p:nvPr>
            <p:ph type="body" sz="half" idx="11" hasCustomPrompt="1"/>
          </p:nvPr>
        </p:nvSpPr>
        <p:spPr>
          <a:xfrm>
            <a:off x="897847" y="9258300"/>
            <a:ext cx="2593108" cy="548831"/>
          </a:xfrm>
        </p:spPr>
        <p:txBody>
          <a:bodyPr>
            <a:noAutofit/>
          </a:bodyPr>
          <a:lstStyle>
            <a:lvl1pPr marL="0" indent="0">
              <a:buNone/>
              <a:defRPr sz="2800" b="1" i="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err="1"/>
              <a:t>www.ogc.org</a:t>
            </a:r>
            <a:endParaRPr lang="en-US" dirty="0"/>
          </a:p>
        </p:txBody>
      </p:sp>
      <p:pic>
        <p:nvPicPr>
          <p:cNvPr id="16" name="Picture 15">
            <a:extLst>
              <a:ext uri="{FF2B5EF4-FFF2-40B4-BE49-F238E27FC236}">
                <a16:creationId xmlns:a16="http://schemas.microsoft.com/office/drawing/2014/main" id="{1C648EDB-28A7-2D05-7914-33FACC8D6A32}"/>
              </a:ext>
            </a:extLst>
          </p:cNvPr>
          <p:cNvPicPr>
            <a:picLocks noChangeAspect="1"/>
          </p:cNvPicPr>
          <p:nvPr userDrawn="1"/>
        </p:nvPicPr>
        <p:blipFill>
          <a:blip r:embed="rId11"/>
          <a:stretch>
            <a:fillRect/>
          </a:stretch>
        </p:blipFill>
        <p:spPr>
          <a:xfrm>
            <a:off x="1889433" y="591482"/>
            <a:ext cx="4118013" cy="1203803"/>
          </a:xfrm>
          <a:prstGeom prst="rect">
            <a:avLst/>
          </a:prstGeom>
          <a:effectLst>
            <a:outerShdw blurRad="50800" dist="50800" dir="5400000" algn="ctr" rotWithShape="0">
              <a:schemeClr val="tx1">
                <a:lumMod val="65000"/>
                <a:lumOff val="35000"/>
              </a:schemeClr>
            </a:outerShdw>
          </a:effectLst>
        </p:spPr>
      </p:pic>
    </p:spTree>
    <p:extLst>
      <p:ext uri="{BB962C8B-B14F-4D97-AF65-F5344CB8AC3E}">
        <p14:creationId xmlns:p14="http://schemas.microsoft.com/office/powerpoint/2010/main" val="14698308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41732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0" i="0">
                <a:solidFill>
                  <a:schemeClr val="tx1">
                    <a:tint val="75000"/>
                  </a:schemeClr>
                </a:solidFill>
                <a:latin typeface="Aptos" panose="020B0004020202020204" pitchFamily="34" charset="0"/>
              </a:defRPr>
            </a:lvl1pPr>
          </a:lstStyle>
          <a:p>
            <a:fld id="{1D8BD707-D9CF-40AE-B4C6-C98DA3205C09}" type="datetimeFigureOut">
              <a:rPr lang="en-US" smtClean="0"/>
              <a:pPr/>
              <a:t>10/20/2025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0" i="0">
                <a:solidFill>
                  <a:schemeClr val="tx1">
                    <a:tint val="75000"/>
                  </a:schemeClr>
                </a:solidFill>
                <a:latin typeface="Aptos" panose="020B0004020202020204"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i="0">
                <a:solidFill>
                  <a:schemeClr val="tx1">
                    <a:tint val="75000"/>
                  </a:schemeClr>
                </a:solidFill>
                <a:latin typeface="Aptos" panose="020B0004020202020204" pitchFamily="34"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700" r:id="rId2"/>
    <p:sldLayoutId id="2147483667" r:id="rId3"/>
    <p:sldLayoutId id="2147483671" r:id="rId4"/>
  </p:sldLayoutIdLst>
  <p:txStyles>
    <p:titleStyle>
      <a:lvl1pPr algn="l" defTabSz="914400" rtl="0" eaLnBrk="1" latinLnBrk="0" hangingPunct="1">
        <a:lnSpc>
          <a:spcPts val="14620"/>
        </a:lnSpc>
        <a:spcBef>
          <a:spcPct val="0"/>
        </a:spcBef>
        <a:buNone/>
        <a:defRPr sz="6600" b="0" i="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914400" indent="-45720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57300" indent="-342900" algn="l" defTabSz="914400" rtl="0" eaLnBrk="1" latinLnBrk="0" hangingPunct="1">
        <a:spcBef>
          <a:spcPct val="20000"/>
        </a:spcBef>
        <a:buFont typeface="Arial" panose="020B0604020202020204"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714500" indent="-342900" algn="l" defTabSz="914400" rtl="0" eaLnBrk="1" latinLnBrk="0" hangingPunct="1">
        <a:spcBef>
          <a:spcPct val="20000"/>
        </a:spcBef>
        <a:buFont typeface="Arial" panose="020B0604020202020204"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171700" indent="-342900" algn="l" defTabSz="914400" rtl="0" eaLnBrk="1" latinLnBrk="0" hangingPunct="1">
        <a:spcBef>
          <a:spcPct val="20000"/>
        </a:spcBef>
        <a:buFont typeface="Arial" panose="020B0604020202020204"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www.ogc.org/" TargetMode="External"/><Relationship Id="rId1" Type="http://schemas.openxmlformats.org/officeDocument/2006/relationships/slideLayout" Target="../slideLayouts/slideLayout4.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EBA7BB-BFCF-80E7-2506-1EE9332E6C45}"/>
              </a:ext>
            </a:extLst>
          </p:cNvPr>
          <p:cNvSpPr>
            <a:spLocks noGrp="1"/>
          </p:cNvSpPr>
          <p:nvPr>
            <p:ph type="title"/>
          </p:nvPr>
        </p:nvSpPr>
        <p:spPr>
          <a:xfrm>
            <a:off x="990600" y="8496300"/>
            <a:ext cx="13030200" cy="947738"/>
          </a:xfrm>
        </p:spPr>
        <p:txBody>
          <a:bodyPr/>
          <a:lstStyle/>
          <a:p>
            <a:r>
              <a:rPr lang="en-US" dirty="0"/>
              <a:t>Steve Smyth</a:t>
            </a:r>
            <a:br>
              <a:rPr lang="en-US" dirty="0"/>
            </a:br>
            <a:r>
              <a:rPr lang="en-US" dirty="0" err="1"/>
              <a:t>GeoPose</a:t>
            </a:r>
            <a:r>
              <a:rPr lang="en-US" dirty="0"/>
              <a:t> Summit</a:t>
            </a:r>
            <a:br>
              <a:rPr lang="en-US" dirty="0"/>
            </a:br>
            <a:r>
              <a:rPr lang="en-US" dirty="0"/>
              <a:t>27 October 2025</a:t>
            </a:r>
          </a:p>
        </p:txBody>
      </p:sp>
      <p:sp>
        <p:nvSpPr>
          <p:cNvPr id="9" name="Text Placeholder 1">
            <a:extLst>
              <a:ext uri="{FF2B5EF4-FFF2-40B4-BE49-F238E27FC236}">
                <a16:creationId xmlns:a16="http://schemas.microsoft.com/office/drawing/2014/main" id="{FADEEFC8-FA9B-D02C-5254-F4E23F97E2A5}"/>
              </a:ext>
            </a:extLst>
          </p:cNvPr>
          <p:cNvSpPr>
            <a:spLocks noGrp="1"/>
          </p:cNvSpPr>
          <p:nvPr>
            <p:ph type="body" sz="quarter" idx="11"/>
          </p:nvPr>
        </p:nvSpPr>
        <p:spPr>
          <a:xfrm>
            <a:off x="762000" y="881062"/>
            <a:ext cx="15468600" cy="3200400"/>
          </a:xfrm>
        </p:spPr>
        <p:txBody>
          <a:bodyPr/>
          <a:lstStyle/>
          <a:p>
            <a:r>
              <a:rPr lang="en-US" sz="4800" dirty="0"/>
              <a:t>         </a:t>
            </a:r>
            <a:endParaRPr lang="en-US" sz="8000" dirty="0"/>
          </a:p>
          <a:p>
            <a:pPr algn="ctr"/>
            <a:r>
              <a:rPr lang="en-US" sz="5400" dirty="0"/>
              <a:t>Steve’s </a:t>
            </a:r>
            <a:r>
              <a:rPr lang="en-US" sz="5400" dirty="0" err="1"/>
              <a:t>GeoPose</a:t>
            </a:r>
            <a:r>
              <a:rPr lang="en-US" sz="5400" dirty="0"/>
              <a:t> Intro</a:t>
            </a:r>
          </a:p>
        </p:txBody>
      </p:sp>
      <p:pic>
        <p:nvPicPr>
          <p:cNvPr id="3" name="Google Shape;88;p21" descr="A picture containing guitar&#10;&#10;Description automatically generated">
            <a:extLst>
              <a:ext uri="{FF2B5EF4-FFF2-40B4-BE49-F238E27FC236}">
                <a16:creationId xmlns:a16="http://schemas.microsoft.com/office/drawing/2014/main" id="{834668E0-518C-F33C-CB99-9FD45126FD43}"/>
              </a:ext>
            </a:extLst>
          </p:cNvPr>
          <p:cNvPicPr preferRelativeResize="0"/>
          <p:nvPr/>
        </p:nvPicPr>
        <p:blipFill rotWithShape="1">
          <a:blip r:embed="rId2">
            <a:alphaModFix/>
          </a:blip>
          <a:srcRect/>
          <a:stretch/>
        </p:blipFill>
        <p:spPr>
          <a:xfrm>
            <a:off x="7315200" y="5773886"/>
            <a:ext cx="11244943" cy="4513114"/>
          </a:xfrm>
          <a:prstGeom prst="rect">
            <a:avLst/>
          </a:prstGeom>
          <a:noFill/>
          <a:ln>
            <a:noFill/>
          </a:ln>
        </p:spPr>
      </p:pic>
      <p:pic>
        <p:nvPicPr>
          <p:cNvPr id="6" name="Picture 5">
            <a:extLst>
              <a:ext uri="{FF2B5EF4-FFF2-40B4-BE49-F238E27FC236}">
                <a16:creationId xmlns:a16="http://schemas.microsoft.com/office/drawing/2014/main" id="{0F354DB6-F979-D85A-AD83-3AAC8B33A4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400" y="495300"/>
            <a:ext cx="4389121" cy="1219200"/>
          </a:xfrm>
          <a:prstGeom prst="rect">
            <a:avLst/>
          </a:prstGeom>
        </p:spPr>
      </p:pic>
    </p:spTree>
    <p:extLst>
      <p:ext uri="{BB962C8B-B14F-4D97-AF65-F5344CB8AC3E}">
        <p14:creationId xmlns:p14="http://schemas.microsoft.com/office/powerpoint/2010/main" val="3761786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FEB3-5223-94D5-EE72-61046796C1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C1880C-599A-712B-F38F-267BDF836B84}"/>
              </a:ext>
            </a:extLst>
          </p:cNvPr>
          <p:cNvSpPr>
            <a:spLocks noGrp="1"/>
          </p:cNvSpPr>
          <p:nvPr>
            <p:ph type="title"/>
          </p:nvPr>
        </p:nvSpPr>
        <p:spPr>
          <a:xfrm>
            <a:off x="457200" y="274638"/>
            <a:ext cx="14173200" cy="1143000"/>
          </a:xfrm>
        </p:spPr>
        <p:txBody>
          <a:bodyPr anchor="ctr">
            <a:normAutofit/>
          </a:bodyPr>
          <a:lstStyle/>
          <a:p>
            <a:r>
              <a:rPr lang="en-US" sz="6900" dirty="0"/>
              <a:t>Some Context</a:t>
            </a:r>
          </a:p>
        </p:txBody>
      </p:sp>
      <p:graphicFrame>
        <p:nvGraphicFramePr>
          <p:cNvPr id="5" name="Text Placeholder 1">
            <a:extLst>
              <a:ext uri="{FF2B5EF4-FFF2-40B4-BE49-F238E27FC236}">
                <a16:creationId xmlns:a16="http://schemas.microsoft.com/office/drawing/2014/main" id="{5222B78D-526F-5D30-D501-719F21B5E769}"/>
              </a:ext>
            </a:extLst>
          </p:cNvPr>
          <p:cNvGraphicFramePr/>
          <p:nvPr>
            <p:extLst>
              <p:ext uri="{D42A27DB-BD31-4B8C-83A1-F6EECF244321}">
                <p14:modId xmlns:p14="http://schemas.microsoft.com/office/powerpoint/2010/main" val="366517462"/>
              </p:ext>
            </p:extLst>
          </p:nvPr>
        </p:nvGraphicFramePr>
        <p:xfrm>
          <a:off x="457200" y="1608138"/>
          <a:ext cx="14173200" cy="6528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419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B3EA9-2236-291B-A47A-9CF0D499A4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F4197BD-4D41-E70A-17DE-CCC1A1B08DB2}"/>
              </a:ext>
            </a:extLst>
          </p:cNvPr>
          <p:cNvSpPr>
            <a:spLocks noGrp="1"/>
          </p:cNvSpPr>
          <p:nvPr>
            <p:ph type="body" idx="16"/>
          </p:nvPr>
        </p:nvSpPr>
        <p:spPr>
          <a:xfrm>
            <a:off x="838200" y="1866900"/>
            <a:ext cx="16598236" cy="7309047"/>
          </a:xfrm>
        </p:spPr>
        <p:txBody>
          <a:bodyPr/>
          <a:lstStyle/>
          <a:p>
            <a:pPr marL="0" indent="0">
              <a:buNone/>
            </a:pPr>
            <a:r>
              <a:rPr lang="en-US" dirty="0" err="1"/>
              <a:t>GeoPose</a:t>
            </a:r>
            <a:r>
              <a:rPr lang="en-US" dirty="0"/>
              <a:t> arrived at OGC in 2021 with some design principles beyond simple computation-friendly representation:</a:t>
            </a:r>
          </a:p>
          <a:p>
            <a:pPr marL="0" indent="0">
              <a:buNone/>
            </a:pPr>
            <a:endParaRPr lang="en-US" dirty="0"/>
          </a:p>
          <a:p>
            <a:pPr marL="514350" indent="-514350">
              <a:buAutoNum type="arabicPeriod"/>
            </a:pPr>
            <a:r>
              <a:rPr lang="en-US" dirty="0"/>
              <a:t>The ability to attach to an Earth coordinate system compatible with mass market positioning and orientation sensors.</a:t>
            </a:r>
          </a:p>
          <a:p>
            <a:pPr marL="514350" indent="-514350">
              <a:buAutoNum type="arabicPeriod"/>
            </a:pPr>
            <a:r>
              <a:rPr lang="en-US" dirty="0"/>
              <a:t>The ability to support local idiomatic approaches to defining a coordinate system tied to some maintaining organization and expressed in a formal but perhaps domain-specific manner. Much inspiration came from the NASA Spice system.</a:t>
            </a:r>
          </a:p>
          <a:p>
            <a:pPr marL="514350" indent="-514350">
              <a:buAutoNum type="arabicPeriod"/>
            </a:pPr>
            <a:r>
              <a:rPr lang="en-US" dirty="0"/>
              <a:t>The desirability to have some expression in the serialized form that humans could read and interpret with their own brains.</a:t>
            </a:r>
          </a:p>
          <a:p>
            <a:pPr marL="514350" indent="-514350">
              <a:buAutoNum type="arabicPeriod"/>
            </a:pPr>
            <a:r>
              <a:rPr lang="en-US" dirty="0"/>
              <a:t>A key use case was the integration of content from multiple sources in an application’s single reference frame. Some sources might be sensed elements of the physical world and others might be virtual, positioned with respect to the physical world. In short, Augmented Reality.</a:t>
            </a:r>
          </a:p>
          <a:p>
            <a:pPr marL="514350" indent="-514350">
              <a:buAutoNum type="arabicPeriod"/>
            </a:pPr>
            <a:r>
              <a:rPr lang="en-US" dirty="0"/>
              <a:t>It’s a simple idea that gains value in enabling the interoperation of complex parts. </a:t>
            </a:r>
          </a:p>
        </p:txBody>
      </p:sp>
      <p:sp>
        <p:nvSpPr>
          <p:cNvPr id="3" name="Title 2">
            <a:extLst>
              <a:ext uri="{FF2B5EF4-FFF2-40B4-BE49-F238E27FC236}">
                <a16:creationId xmlns:a16="http://schemas.microsoft.com/office/drawing/2014/main" id="{905DC566-D87A-E966-D171-F19452F44A50}"/>
              </a:ext>
            </a:extLst>
          </p:cNvPr>
          <p:cNvSpPr>
            <a:spLocks noGrp="1"/>
          </p:cNvSpPr>
          <p:nvPr>
            <p:ph type="title"/>
          </p:nvPr>
        </p:nvSpPr>
        <p:spPr/>
        <p:txBody>
          <a:bodyPr/>
          <a:lstStyle/>
          <a:p>
            <a:r>
              <a:rPr lang="en-US" dirty="0"/>
              <a:t>Before We Start</a:t>
            </a:r>
          </a:p>
        </p:txBody>
      </p:sp>
    </p:spTree>
    <p:extLst>
      <p:ext uri="{BB962C8B-B14F-4D97-AF65-F5344CB8AC3E}">
        <p14:creationId xmlns:p14="http://schemas.microsoft.com/office/powerpoint/2010/main" val="1317121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75B5-95D3-DD0B-C107-91C02A7D206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CE8371-1BF3-64EB-8FA8-AE22EA3D0B38}"/>
              </a:ext>
            </a:extLst>
          </p:cNvPr>
          <p:cNvSpPr>
            <a:spLocks noGrp="1"/>
          </p:cNvSpPr>
          <p:nvPr>
            <p:ph type="body" idx="16"/>
          </p:nvPr>
        </p:nvSpPr>
        <p:spPr>
          <a:xfrm>
            <a:off x="838200" y="1866900"/>
            <a:ext cx="16598236" cy="7309047"/>
          </a:xfrm>
        </p:spPr>
        <p:txBody>
          <a:bodyPr/>
          <a:lstStyle/>
          <a:p>
            <a:pPr marL="0" indent="0">
              <a:buNone/>
            </a:pPr>
            <a:r>
              <a:rPr lang="en-US" dirty="0"/>
              <a:t>OGC </a:t>
            </a:r>
            <a:r>
              <a:rPr lang="en-US" dirty="0" err="1"/>
              <a:t>GeoPose</a:t>
            </a:r>
            <a:r>
              <a:rPr lang="en-US" dirty="0"/>
              <a:t> 1.0.</a:t>
            </a:r>
          </a:p>
          <a:p>
            <a:pPr marL="0" indent="0">
              <a:buNone/>
            </a:pPr>
            <a:endParaRPr lang="en-US" dirty="0"/>
          </a:p>
        </p:txBody>
      </p:sp>
      <p:sp>
        <p:nvSpPr>
          <p:cNvPr id="3" name="Title 2">
            <a:extLst>
              <a:ext uri="{FF2B5EF4-FFF2-40B4-BE49-F238E27FC236}">
                <a16:creationId xmlns:a16="http://schemas.microsoft.com/office/drawing/2014/main" id="{E3FF763D-3AFC-C43C-DCF3-0ECFD49300D9}"/>
              </a:ext>
            </a:extLst>
          </p:cNvPr>
          <p:cNvSpPr>
            <a:spLocks noGrp="1"/>
          </p:cNvSpPr>
          <p:nvPr>
            <p:ph type="title"/>
          </p:nvPr>
        </p:nvSpPr>
        <p:spPr/>
        <p:txBody>
          <a:bodyPr/>
          <a:lstStyle/>
          <a:p>
            <a:r>
              <a:rPr lang="en-US" dirty="0"/>
              <a:t>Where We Are</a:t>
            </a:r>
          </a:p>
        </p:txBody>
      </p:sp>
      <p:pic>
        <p:nvPicPr>
          <p:cNvPr id="1026" name="Picture 2">
            <a:extLst>
              <a:ext uri="{FF2B5EF4-FFF2-40B4-BE49-F238E27FC236}">
                <a16:creationId xmlns:a16="http://schemas.microsoft.com/office/drawing/2014/main" id="{B710DB61-0C5F-52AA-F751-7726921BA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080" y="2697541"/>
            <a:ext cx="14173200" cy="649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125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1CE8-BE27-42AC-72DA-5CBFFEE315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F8D823-DCB7-9AFD-B785-439128319CAE}"/>
              </a:ext>
            </a:extLst>
          </p:cNvPr>
          <p:cNvSpPr>
            <a:spLocks noGrp="1"/>
          </p:cNvSpPr>
          <p:nvPr>
            <p:ph type="body" idx="16"/>
          </p:nvPr>
        </p:nvSpPr>
        <p:spPr>
          <a:xfrm>
            <a:off x="838200" y="1866900"/>
            <a:ext cx="16598236" cy="7309047"/>
          </a:xfrm>
        </p:spPr>
        <p:txBody>
          <a:bodyPr/>
          <a:lstStyle/>
          <a:p>
            <a:pPr marL="0" indent="0">
              <a:buNone/>
            </a:pPr>
            <a:r>
              <a:rPr lang="en-US" dirty="0"/>
              <a:t> </a:t>
            </a:r>
          </a:p>
        </p:txBody>
      </p:sp>
      <p:sp>
        <p:nvSpPr>
          <p:cNvPr id="3" name="Title 2">
            <a:extLst>
              <a:ext uri="{FF2B5EF4-FFF2-40B4-BE49-F238E27FC236}">
                <a16:creationId xmlns:a16="http://schemas.microsoft.com/office/drawing/2014/main" id="{B4F910D2-FAF1-B810-BC98-41EFF21F2868}"/>
              </a:ext>
            </a:extLst>
          </p:cNvPr>
          <p:cNvSpPr>
            <a:spLocks noGrp="1"/>
          </p:cNvSpPr>
          <p:nvPr>
            <p:ph type="title"/>
          </p:nvPr>
        </p:nvSpPr>
        <p:spPr/>
        <p:txBody>
          <a:bodyPr/>
          <a:lstStyle/>
          <a:p>
            <a:r>
              <a:rPr lang="en-US" dirty="0"/>
              <a:t>What Comes Next</a:t>
            </a:r>
          </a:p>
        </p:txBody>
      </p:sp>
      <p:sp>
        <p:nvSpPr>
          <p:cNvPr id="4" name="TextBox 3">
            <a:extLst>
              <a:ext uri="{FF2B5EF4-FFF2-40B4-BE49-F238E27FC236}">
                <a16:creationId xmlns:a16="http://schemas.microsoft.com/office/drawing/2014/main" id="{89B0896C-100F-FB94-0568-9D2768973355}"/>
              </a:ext>
            </a:extLst>
          </p:cNvPr>
          <p:cNvSpPr txBox="1"/>
          <p:nvPr/>
        </p:nvSpPr>
        <p:spPr>
          <a:xfrm>
            <a:off x="1600200" y="2019300"/>
            <a:ext cx="13792200" cy="3046988"/>
          </a:xfrm>
          <a:prstGeom prst="rect">
            <a:avLst/>
          </a:prstGeom>
          <a:noFill/>
        </p:spPr>
        <p:txBody>
          <a:bodyPr wrap="square" rtlCol="0">
            <a:spAutoFit/>
          </a:bodyPr>
          <a:lstStyle/>
          <a:p>
            <a:r>
              <a:rPr lang="en-US" sz="3200" dirty="0" err="1"/>
              <a:t>GeoPose</a:t>
            </a:r>
            <a:r>
              <a:rPr lang="en-US" sz="3200" dirty="0"/>
              <a:t> 1.x addresses:</a:t>
            </a:r>
          </a:p>
          <a:p>
            <a:pPr marL="457200" indent="-457200">
              <a:buFont typeface="Arial" panose="020B0604020202020204" pitchFamily="34" charset="0"/>
              <a:buChar char="•"/>
            </a:pPr>
            <a:r>
              <a:rPr lang="en-US" sz="3200" dirty="0"/>
              <a:t>Things we learned in OGC Testbeds 19 and 20.</a:t>
            </a:r>
          </a:p>
          <a:p>
            <a:pPr marL="457200" indent="-457200">
              <a:buFont typeface="Arial" panose="020B0604020202020204" pitchFamily="34" charset="0"/>
              <a:buChar char="•"/>
            </a:pPr>
            <a:r>
              <a:rPr lang="en-US" sz="3200" dirty="0"/>
              <a:t>Feedback from developers and other SDOs.</a:t>
            </a:r>
          </a:p>
          <a:p>
            <a:pPr marL="457200" indent="-457200">
              <a:buFont typeface="Arial" panose="020B0604020202020204" pitchFamily="34" charset="0"/>
              <a:buChar char="•"/>
            </a:pPr>
            <a:r>
              <a:rPr lang="en-US" sz="3200" dirty="0"/>
              <a:t>Adding back in some things that were out of scope in v 1.0.</a:t>
            </a:r>
          </a:p>
          <a:p>
            <a:pPr marL="457200" indent="-457200">
              <a:buFont typeface="Arial" panose="020B0604020202020204" pitchFamily="34" charset="0"/>
              <a:buChar char="•"/>
            </a:pPr>
            <a:r>
              <a:rPr lang="en-US" sz="3200" dirty="0"/>
              <a:t>Adding support for visual positioning, and more broadly, machine visual perception – imaging sensor to 3D content creation</a:t>
            </a:r>
            <a:r>
              <a:rPr lang="en-US" sz="2800" dirty="0"/>
              <a:t>.</a:t>
            </a:r>
          </a:p>
        </p:txBody>
      </p:sp>
      <p:pic>
        <p:nvPicPr>
          <p:cNvPr id="9" name="Picture 8">
            <a:extLst>
              <a:ext uri="{FF2B5EF4-FFF2-40B4-BE49-F238E27FC236}">
                <a16:creationId xmlns:a16="http://schemas.microsoft.com/office/drawing/2014/main" id="{7DAB99F5-8159-3B9B-629C-F3470D452C93}"/>
              </a:ext>
            </a:extLst>
          </p:cNvPr>
          <p:cNvPicPr>
            <a:picLocks noChangeAspect="1"/>
          </p:cNvPicPr>
          <p:nvPr/>
        </p:nvPicPr>
        <p:blipFill>
          <a:blip r:embed="rId2"/>
          <a:stretch>
            <a:fillRect/>
          </a:stretch>
        </p:blipFill>
        <p:spPr>
          <a:xfrm>
            <a:off x="3733300" y="5218689"/>
            <a:ext cx="6242932" cy="4954012"/>
          </a:xfrm>
          <a:prstGeom prst="rect">
            <a:avLst/>
          </a:prstGeom>
        </p:spPr>
      </p:pic>
    </p:spTree>
    <p:extLst>
      <p:ext uri="{BB962C8B-B14F-4D97-AF65-F5344CB8AC3E}">
        <p14:creationId xmlns:p14="http://schemas.microsoft.com/office/powerpoint/2010/main" val="3901416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A4B77-BEEC-6233-CB58-4A26462617A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2FA163-59B7-0DBB-357A-27ECC3CD0680}"/>
              </a:ext>
            </a:extLst>
          </p:cNvPr>
          <p:cNvSpPr>
            <a:spLocks noGrp="1"/>
          </p:cNvSpPr>
          <p:nvPr>
            <p:ph type="body" idx="16"/>
          </p:nvPr>
        </p:nvSpPr>
        <p:spPr>
          <a:xfrm>
            <a:off x="838200" y="1866900"/>
            <a:ext cx="16598236" cy="7309047"/>
          </a:xfrm>
        </p:spPr>
        <p:txBody>
          <a:bodyPr/>
          <a:lstStyle/>
          <a:p>
            <a:pPr marL="514350" indent="-514350">
              <a:buFont typeface="+mj-lt"/>
              <a:buAutoNum type="arabicPeriod"/>
            </a:pPr>
            <a:r>
              <a:rPr lang="en-US" dirty="0" err="1"/>
              <a:t>GeoPose</a:t>
            </a:r>
            <a:r>
              <a:rPr lang="en-US" dirty="0"/>
              <a:t> is a standard way to reference elements of content in an interoperable spatial context.</a:t>
            </a:r>
          </a:p>
          <a:p>
            <a:pPr marL="514350" indent="-514350">
              <a:buFont typeface="+mj-lt"/>
              <a:buAutoNum type="arabicPeriod"/>
            </a:pPr>
            <a:r>
              <a:rPr lang="en-US" dirty="0"/>
              <a:t>It aligns with human visual perception </a:t>
            </a:r>
            <a:r>
              <a:rPr lang="en-US" u="sng" dirty="0"/>
              <a:t>and</a:t>
            </a:r>
            <a:r>
              <a:rPr lang="en-US" dirty="0"/>
              <a:t> the concept of a georeferenced pose from computer graphics.</a:t>
            </a:r>
          </a:p>
          <a:p>
            <a:pPr marL="514350" indent="-514350">
              <a:buFont typeface="+mj-lt"/>
              <a:buAutoNum type="arabicPeriod"/>
            </a:pPr>
            <a:r>
              <a:rPr lang="en-US" dirty="0"/>
              <a:t>The data model has a solid theoretical basis as a frame transformation paired with an orienting rotation. These two elements may be modelled in many compatible domain-specific ways.</a:t>
            </a:r>
          </a:p>
        </p:txBody>
      </p:sp>
      <p:sp>
        <p:nvSpPr>
          <p:cNvPr id="3" name="Title 2">
            <a:extLst>
              <a:ext uri="{FF2B5EF4-FFF2-40B4-BE49-F238E27FC236}">
                <a16:creationId xmlns:a16="http://schemas.microsoft.com/office/drawing/2014/main" id="{B8E667B3-BB3F-2574-1BCB-89835D4BD40A}"/>
              </a:ext>
            </a:extLst>
          </p:cNvPr>
          <p:cNvSpPr>
            <a:spLocks noGrp="1"/>
          </p:cNvSpPr>
          <p:nvPr>
            <p:ph type="title"/>
          </p:nvPr>
        </p:nvSpPr>
        <p:spPr/>
        <p:txBody>
          <a:bodyPr/>
          <a:lstStyle/>
          <a:p>
            <a:r>
              <a:rPr lang="en-US" dirty="0"/>
              <a:t>Three Things to Remember:</a:t>
            </a:r>
          </a:p>
        </p:txBody>
      </p:sp>
      <p:pic>
        <p:nvPicPr>
          <p:cNvPr id="6" name="Picture 5">
            <a:extLst>
              <a:ext uri="{FF2B5EF4-FFF2-40B4-BE49-F238E27FC236}">
                <a16:creationId xmlns:a16="http://schemas.microsoft.com/office/drawing/2014/main" id="{16D1895E-9EBC-D2E2-CDA3-417DA1AC911C}"/>
              </a:ext>
            </a:extLst>
          </p:cNvPr>
          <p:cNvPicPr>
            <a:picLocks noChangeAspect="1"/>
          </p:cNvPicPr>
          <p:nvPr/>
        </p:nvPicPr>
        <p:blipFill>
          <a:blip r:embed="rId2"/>
          <a:stretch>
            <a:fillRect/>
          </a:stretch>
        </p:blipFill>
        <p:spPr>
          <a:xfrm>
            <a:off x="1006473" y="5138530"/>
            <a:ext cx="14935657" cy="4195970"/>
          </a:xfrm>
          <a:prstGeom prst="rect">
            <a:avLst/>
          </a:prstGeom>
        </p:spPr>
      </p:pic>
    </p:spTree>
    <p:extLst>
      <p:ext uri="{BB962C8B-B14F-4D97-AF65-F5344CB8AC3E}">
        <p14:creationId xmlns:p14="http://schemas.microsoft.com/office/powerpoint/2010/main" val="836919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02F8C8-9474-DBA6-5C09-FB0084C560D1}"/>
              </a:ext>
            </a:extLst>
          </p:cNvPr>
          <p:cNvSpPr>
            <a:spLocks noGrp="1"/>
          </p:cNvSpPr>
          <p:nvPr>
            <p:ph type="body" sz="half" idx="2"/>
          </p:nvPr>
        </p:nvSpPr>
        <p:spPr>
          <a:xfrm>
            <a:off x="646282" y="9070960"/>
            <a:ext cx="6186805" cy="548831"/>
          </a:xfrm>
        </p:spPr>
        <p:txBody>
          <a:bodyPr vert="horz" lIns="91440" tIns="45720" rIns="91440" bIns="45720" rtlCol="0" anchor="t">
            <a:noAutofit/>
          </a:bodyPr>
          <a:lstStyle/>
          <a:p>
            <a:r>
              <a:rPr lang="en-US" dirty="0">
                <a:solidFill>
                  <a:schemeClr val="accent3">
                    <a:lumMod val="60000"/>
                    <a:lumOff val="40000"/>
                  </a:schemeClr>
                </a:solidFill>
                <a:latin typeface="Aptos SemiBold" panose="020B0004020202020204" pitchFamily="34" charset="0"/>
                <a:hlinkClick r:id="rId2"/>
              </a:rPr>
              <a:t>www.ogc.org</a:t>
            </a:r>
            <a:endParaRPr lang="en-US" dirty="0">
              <a:solidFill>
                <a:schemeClr val="accent3">
                  <a:lumMod val="60000"/>
                  <a:lumOff val="40000"/>
                </a:schemeClr>
              </a:solidFill>
              <a:latin typeface="Aptos SemiBold" panose="020B0004020202020204" pitchFamily="34" charset="0"/>
            </a:endParaRPr>
          </a:p>
        </p:txBody>
      </p:sp>
      <p:sp>
        <p:nvSpPr>
          <p:cNvPr id="4" name="Title 3">
            <a:extLst>
              <a:ext uri="{FF2B5EF4-FFF2-40B4-BE49-F238E27FC236}">
                <a16:creationId xmlns:a16="http://schemas.microsoft.com/office/drawing/2014/main" id="{74FC2607-90B6-1BE6-26DA-96BD3BC71DFB}"/>
              </a:ext>
            </a:extLst>
          </p:cNvPr>
          <p:cNvSpPr>
            <a:spLocks noGrp="1"/>
          </p:cNvSpPr>
          <p:nvPr>
            <p:ph type="title"/>
          </p:nvPr>
        </p:nvSpPr>
        <p:spPr/>
        <p:txBody>
          <a:bodyPr/>
          <a:lstStyle/>
          <a:p>
            <a:pPr>
              <a:lnSpc>
                <a:spcPts val="9800"/>
              </a:lnSpc>
            </a:pPr>
            <a:r>
              <a:rPr lang="en-US" sz="7200" dirty="0">
                <a:latin typeface="Aptos"/>
              </a:rPr>
              <a:t>THANK YOU</a:t>
            </a:r>
          </a:p>
        </p:txBody>
      </p:sp>
      <p:pic>
        <p:nvPicPr>
          <p:cNvPr id="14" name="Picture Placeholder 13">
            <a:extLst>
              <a:ext uri="{FF2B5EF4-FFF2-40B4-BE49-F238E27FC236}">
                <a16:creationId xmlns:a16="http://schemas.microsoft.com/office/drawing/2014/main" id="{99034441-C71F-F0B9-C2CF-43904F4FF5E0}"/>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l="47" r="47"/>
          <a:stretch/>
        </p:blipFill>
        <p:spPr/>
      </p:pic>
      <p:sp>
        <p:nvSpPr>
          <p:cNvPr id="3" name="Text Placeholder 3">
            <a:extLst>
              <a:ext uri="{FF2B5EF4-FFF2-40B4-BE49-F238E27FC236}">
                <a16:creationId xmlns:a16="http://schemas.microsoft.com/office/drawing/2014/main" id="{CF619F8C-77A6-26B9-3A3A-242225BC3AAB}"/>
              </a:ext>
            </a:extLst>
          </p:cNvPr>
          <p:cNvSpPr txBox="1">
            <a:spLocks/>
          </p:cNvSpPr>
          <p:nvPr/>
        </p:nvSpPr>
        <p:spPr>
          <a:xfrm>
            <a:off x="10348594" y="9076976"/>
            <a:ext cx="6186805" cy="548831"/>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b="1" i="0" kern="1200">
                <a:solidFill>
                  <a:schemeClr val="accent1">
                    <a:lumMod val="50000"/>
                  </a:schemeClr>
                </a:solidFill>
                <a:latin typeface="Aptos" panose="020B0004020202020204" pitchFamily="34" charset="0"/>
                <a:ea typeface="Noto Sans Medium" panose="020B0502040504020204" pitchFamily="34" charset="0"/>
                <a:cs typeface="Noto Sans Medium" panose="020B0502040504020204" pitchFamily="34" charset="0"/>
              </a:defRPr>
            </a:lvl1pPr>
            <a:lvl2pPr marL="457200" indent="0" algn="l" defTabSz="914400" rtl="0" eaLnBrk="1" latinLnBrk="0" hangingPunct="1">
              <a:spcBef>
                <a:spcPct val="20000"/>
              </a:spcBef>
              <a:buFont typeface="Arial" panose="020B0604020202020204" pitchFamily="34" charset="0"/>
              <a:buNone/>
              <a:defRPr sz="1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914400" indent="0" algn="l" defTabSz="914400" rtl="0" eaLnBrk="1" latinLnBrk="0" hangingPunct="1">
              <a:spcBef>
                <a:spcPct val="20000"/>
              </a:spcBef>
              <a:buFont typeface="Arial" panose="020B0604020202020204" pitchFamily="34" charset="0"/>
              <a:buNone/>
              <a:defRPr sz="1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anose="020B0604020202020204" pitchFamily="34" charset="0"/>
              <a:buNone/>
              <a:defRPr sz="9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anose="020B0604020202020204" pitchFamily="34" charset="0"/>
              <a:buNone/>
              <a:defRPr sz="9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9pPr>
          </a:lstStyle>
          <a:p>
            <a:r>
              <a:rPr lang="en-US"/>
              <a:t>https://metaverse-standards.org/</a:t>
            </a:r>
            <a:endParaRPr lang="en-US" dirty="0"/>
          </a:p>
        </p:txBody>
      </p:sp>
      <p:pic>
        <p:nvPicPr>
          <p:cNvPr id="5" name="Picture 4">
            <a:extLst>
              <a:ext uri="{FF2B5EF4-FFF2-40B4-BE49-F238E27FC236}">
                <a16:creationId xmlns:a16="http://schemas.microsoft.com/office/drawing/2014/main" id="{A57D8AE4-D8DE-8E5E-CB66-113B882722E9}"/>
              </a:ext>
            </a:extLst>
          </p:cNvPr>
          <p:cNvPicPr>
            <a:picLocks noChangeAspect="1"/>
          </p:cNvPicPr>
          <p:nvPr/>
        </p:nvPicPr>
        <p:blipFill>
          <a:blip r:embed="rId4"/>
          <a:stretch>
            <a:fillRect/>
          </a:stretch>
        </p:blipFill>
        <p:spPr>
          <a:xfrm>
            <a:off x="10972800" y="495300"/>
            <a:ext cx="4389500" cy="1219306"/>
          </a:xfrm>
          <a:prstGeom prst="rect">
            <a:avLst/>
          </a:prstGeom>
        </p:spPr>
      </p:pic>
    </p:spTree>
    <p:extLst>
      <p:ext uri="{BB962C8B-B14F-4D97-AF65-F5344CB8AC3E}">
        <p14:creationId xmlns:p14="http://schemas.microsoft.com/office/powerpoint/2010/main" val="3269384868"/>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esktop version - PPT MASTER" id="{7FEBD1E3-3883-9049-8AF0-44F39D7ACA2B}" vid="{45FF2EAE-8C52-A747-9309-B2C3AB4E5F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D6C5B1E4575B45A67252651D547745" ma:contentTypeVersion="5" ma:contentTypeDescription="Create a new document." ma:contentTypeScope="" ma:versionID="abcbbf97e778d2459eaf06a99253d27f">
  <xsd:schema xmlns:xsd="http://www.w3.org/2001/XMLSchema" xmlns:xs="http://www.w3.org/2001/XMLSchema" xmlns:p="http://schemas.microsoft.com/office/2006/metadata/properties" xmlns:ns3="c9d48118-3257-49e8-b197-f28d09ea93e0" targetNamespace="http://schemas.microsoft.com/office/2006/metadata/properties" ma:root="true" ma:fieldsID="4ab44e5032784fa9d2a4b9a076403eae" ns3:_="">
    <xsd:import namespace="c9d48118-3257-49e8-b197-f28d09ea93e0"/>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d48118-3257-49e8-b197-f28d09ea93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637B73-45C9-44F2-97E6-558EE7A2FC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d48118-3257-49e8-b197-f28d09ea93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28D80A-D8F1-4E9F-96FE-EDED6B38411B}">
  <ds:schemaRefs>
    <ds:schemaRef ds:uri="http://schemas.microsoft.com/sharepoint/v3/contenttype/forms"/>
  </ds:schemaRefs>
</ds:datastoreItem>
</file>

<file path=customXml/itemProps3.xml><?xml version="1.0" encoding="utf-8"?>
<ds:datastoreItem xmlns:ds="http://schemas.openxmlformats.org/officeDocument/2006/customXml" ds:itemID="{4B83FC41-384C-4416-9A4E-6653321403C3}">
  <ds:schemaRefs>
    <ds:schemaRef ds:uri="http://schemas.openxmlformats.org/package/2006/metadata/core-properties"/>
    <ds:schemaRef ds:uri="http://purl.org/dc/elements/1.1/"/>
    <ds:schemaRef ds:uri="http://purl.org/dc/terms/"/>
    <ds:schemaRef ds:uri="http://schemas.microsoft.com/office/infopath/2007/PartnerControls"/>
    <ds:schemaRef ds:uri="http://purl.org/dc/dcmitype/"/>
    <ds:schemaRef ds:uri="http://schemas.microsoft.com/office/2006/documentManagement/types"/>
    <ds:schemaRef ds:uri="c9d48118-3257-49e8-b197-f28d09ea93e0"/>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9430</TotalTime>
  <Words>335</Words>
  <Application>Microsoft Office PowerPoint</Application>
  <PresentationFormat>Custom</PresentationFormat>
  <Paragraphs>31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 SemiBold</vt:lpstr>
      <vt:lpstr>Aptos Display</vt:lpstr>
      <vt:lpstr>Calibri</vt:lpstr>
      <vt:lpstr>Arial</vt:lpstr>
      <vt:lpstr>Aptos</vt:lpstr>
      <vt:lpstr>Office Theme</vt:lpstr>
      <vt:lpstr>Steve Smyth GeoPose Summit 27 October 2025</vt:lpstr>
      <vt:lpstr>Some Context</vt:lpstr>
      <vt:lpstr>Before We Start</vt:lpstr>
      <vt:lpstr>Where We Are</vt:lpstr>
      <vt:lpstr>What Comes Next</vt:lpstr>
      <vt:lpstr>Three Things to Remember: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 Smyth| OpenSitePlan 09 June 2025</dc:title>
  <dc:creator>Scott Simmons</dc:creator>
  <cp:lastModifiedBy>Steve Smyth</cp:lastModifiedBy>
  <cp:revision>57</cp:revision>
  <dcterms:created xsi:type="dcterms:W3CDTF">2025-04-29T18:14:43Z</dcterms:created>
  <dcterms:modified xsi:type="dcterms:W3CDTF">2025-10-20T14:59:18Z</dcterms:modified>
  <dc:identifier>DAGYbemYEzg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0x01010043D6C5B1E4575B45A67252651D547745</vt:lpwstr>
  </property>
  <property fmtid="{D5CDD505-2E9C-101B-9397-08002B2CF9AE}" pid="3" name="MediaServiceImageTags">
    <vt:lpwstr/>
  </property>
</Properties>
</file>